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62" r:id="rId5"/>
    <p:sldId id="258" r:id="rId6"/>
    <p:sldId id="260" r:id="rId7"/>
    <p:sldId id="261" r:id="rId8"/>
    <p:sldId id="263" r:id="rId9"/>
    <p:sldId id="265" r:id="rId10"/>
    <p:sldId id="269" r:id="rId11"/>
    <p:sldId id="270" r:id="rId12"/>
    <p:sldId id="282" r:id="rId13"/>
    <p:sldId id="266" r:id="rId14"/>
    <p:sldId id="268" r:id="rId15"/>
    <p:sldId id="267" r:id="rId16"/>
    <p:sldId id="271" r:id="rId17"/>
    <p:sldId id="284" r:id="rId18"/>
    <p:sldId id="283" r:id="rId19"/>
    <p:sldId id="272" r:id="rId20"/>
    <p:sldId id="285" r:id="rId21"/>
    <p:sldId id="287" r:id="rId22"/>
    <p:sldId id="286" r:id="rId23"/>
    <p:sldId id="273" r:id="rId24"/>
    <p:sldId id="274" r:id="rId25"/>
    <p:sldId id="288" r:id="rId26"/>
    <p:sldId id="275" r:id="rId27"/>
    <p:sldId id="276" r:id="rId28"/>
    <p:sldId id="279" r:id="rId29"/>
    <p:sldId id="280" r:id="rId30"/>
    <p:sldId id="278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9822"/>
    <a:srgbClr val="E89D06"/>
    <a:srgbClr val="F6EB5C"/>
    <a:srgbClr val="E2A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59D6-14B0-D2D1-DA38-4163A781A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7351-5DB0-D206-C0BB-ADC45AC49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64693F-ED5B-0DC7-365A-984670223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571237-E33A-6AD2-0E42-A5DCC4517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E51F75-1AF7-8D3F-034A-0251B4CAA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5505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88DBA-77C6-4E1A-111A-EEF0229D2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A1999-752A-6366-9DAF-83AEB27EA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6977E4-A3D5-571C-8476-C2F3FCA60F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156F02-BCE1-28E2-DCE9-17FCBA044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65A05-759B-02AF-6A58-9D3FC6436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3843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FDB6F-FBCE-5480-1B0D-2D873E998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40AC6B-BCE0-023B-981A-133766E5B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AB08F-51CA-B3CC-B7FC-31B955B4F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65413A-C881-F6AE-DD17-85902A918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3EFC6-3A3A-FF13-1E46-9C8FBB23B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7239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91919-4DA1-316D-A72C-6795CC30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E266E-9AC9-BB4A-2AAF-C1AE70CB40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F5CE52-4927-43BE-ABED-230DF95296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2F45B4-C666-74C7-8F93-B0181DF785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1E8727-0A40-A557-D788-7B4DB12C7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67B88D-0486-58EF-B93A-F25A4C578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65845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C579E-A172-F04F-0856-6D6926C3D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93CD8B-DFD2-70BB-89F6-6F6ABD5F27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479B10-76A2-EFF6-5B09-DFF41BA0E1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0FBF68-23E6-C4F9-9885-2505813A7C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027CD-299A-D7C1-640B-FC28870E3D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31872C-DEFF-6EAE-E971-F0C0E1BC7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16E4334-AA10-AFBF-F597-E5707CDA3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4520A6-326B-2266-0985-54EFFBDF9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6181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8D031-ECDF-1B16-25A7-832532805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789146-56F5-81E3-17CC-020682416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2C4CB9-61BB-A63D-7997-975CB2FFA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850046-068E-4859-66E0-A60DC22E9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885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7CD8D6-B147-E63E-D347-C4727578A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711A88-ACBC-9117-69DF-EBF670F3A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2728C-1E71-814B-9575-BA487B431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0820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4341A-886E-E9BC-2C48-885CA562B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52CD-315D-1342-77B8-D4BB5EE69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E3333F-6BBB-1F91-3A2A-597934D76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33E985-138A-90D1-2291-561203B30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2158A5-C999-185A-A530-1803EB3D6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7447C4-1140-E4CC-D035-1EA816E8B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410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608EE-5C4F-1164-603D-04C99566F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F4A645-1923-99A1-59CF-BA2B3F041D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495B0E-2E9B-876C-E268-62FD088C06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68BDC9-979F-9E81-8C39-CA16891F2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E2C59C-3B2B-3532-BEE0-DAB1C1537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751753-E947-0BAC-AF85-D43052AAD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3810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A4550-6905-9CE9-B036-A1E1E9D67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378B56-50FA-A50B-AE4B-3EBFB22960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47CC30-4CC5-481E-AE50-AC41EE8C7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D09B4-F16F-AA99-D4F9-C4EB422A2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ABA5F8-F946-396D-C3CA-A7FC92B07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416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6057A3D-0705-C4C2-57B6-82244938A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80A7DE-6297-9ACB-A12E-4367021F71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F7BAB2-1B8F-07FC-8D18-217217294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AA0A9-0067-A13F-64D7-CDC0174DA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544BF-C2B4-3793-A006-C2CE8AA30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551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700634-B760-C95F-B92E-32F6A59C9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BAFFAF-D876-2245-653C-F94EF5F502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4B676-5690-746A-772F-4C615F048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C7F747-7299-4C92-9E5D-38C4C5A79C2C}" type="datetimeFigureOut">
              <a:rPr lang="en-IN" smtClean="0"/>
              <a:t>10-11-2025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EA67C-8436-957E-1DCE-3F9BF0A8E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6487E6-D9C3-718A-0C5C-CFB56B0629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CC023B-1867-41A5-9B88-D026629C69F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6561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A62D256-577F-FEE6-CCBD-29B936F00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57F16F-6701-B4FD-B78E-40EED3749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57200"/>
            <a:ext cx="9144000" cy="150876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Amazon Sales Dashboard –</a:t>
            </a:r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Power BI Project</a:t>
            </a:r>
            <a:endParaRPr lang="en-IN" sz="36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B41088-18BE-5D3C-1B7A-ED3D05CCDA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095232" y="6574536"/>
            <a:ext cx="3096768" cy="283464"/>
          </a:xfrm>
        </p:spPr>
        <p:txBody>
          <a:bodyPr>
            <a:normAutofit fontScale="85000" lnSpcReduction="10000"/>
          </a:bodyPr>
          <a:lstStyle/>
          <a:p>
            <a:pPr algn="r"/>
            <a:r>
              <a:rPr lang="en-IN" sz="1800" b="1" dirty="0">
                <a:solidFill>
                  <a:schemeClr val="bg1"/>
                </a:solidFill>
                <a:latin typeface="Book Antiqua" panose="02040602050305030304" pitchFamily="18" charset="0"/>
              </a:rPr>
              <a:t>Guided By: Abhishek </a:t>
            </a:r>
            <a:r>
              <a:rPr lang="en-IN" sz="1800" b="1" dirty="0" err="1">
                <a:solidFill>
                  <a:schemeClr val="bg1"/>
                </a:solidFill>
                <a:latin typeface="Book Antiqua" panose="02040602050305030304" pitchFamily="18" charset="0"/>
              </a:rPr>
              <a:t>Wahaval</a:t>
            </a:r>
            <a:endParaRPr lang="en-IN" sz="1800" b="1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870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B86986A-FBEE-87DB-FF12-E5EF9541EA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E76205-8F05-395F-A74B-C70F58E444C7}"/>
              </a:ext>
            </a:extLst>
          </p:cNvPr>
          <p:cNvSpPr txBox="1"/>
          <p:nvPr/>
        </p:nvSpPr>
        <p:spPr>
          <a:xfrm>
            <a:off x="3706749" y="118872"/>
            <a:ext cx="4778502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Introduction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77F230-8C14-89D3-748C-E57B9B8E29AF}"/>
              </a:ext>
            </a:extLst>
          </p:cNvPr>
          <p:cNvSpPr txBox="1"/>
          <p:nvPr/>
        </p:nvSpPr>
        <p:spPr>
          <a:xfrm>
            <a:off x="1879854" y="2252311"/>
            <a:ext cx="843229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Dashboard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is an interactive Power BI project designed to analyze and visualize e-commerce sales data.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businesses monitor key metrics like sales, orders, quantity, fulfilment, and promotions — all in one place.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With real-time insights, this dashboard supports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data-driven decision-making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improves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operational efficiency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and helps identify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growth opportunities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across regions and product categories.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487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857D8-5D8A-F39E-D08D-8EB371913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15D1B98-6665-88EA-65E7-B95FDA43C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B0CE583-AD27-1D54-5948-52801811B9B7}"/>
              </a:ext>
            </a:extLst>
          </p:cNvPr>
          <p:cNvSpPr txBox="1"/>
          <p:nvPr/>
        </p:nvSpPr>
        <p:spPr>
          <a:xfrm>
            <a:off x="4149089" y="137160"/>
            <a:ext cx="389382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Overview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C8BF2-63BA-8C06-2A0B-499CFBB6BE04}"/>
              </a:ext>
            </a:extLst>
          </p:cNvPr>
          <p:cNvSpPr txBox="1"/>
          <p:nvPr/>
        </p:nvSpPr>
        <p:spPr>
          <a:xfrm>
            <a:off x="722376" y="2350008"/>
            <a:ext cx="1048816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This project presents an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interactive Power BI dashboard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built to analyze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sales performance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across multiple dimensions such as product, region, fulfilment, and promotions.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provides a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centralized view of business metrics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, enabling quick insights into revenue trends, top-performing categories, and operational efficiency.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dashboard helps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stakeholders make data-driven decisions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through real-time filtering, dynamic visuals, and forecasting analytics.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6454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0CC2D1-926C-CBA7-65EC-C86CDCFD33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E61EBFC-D4B2-8F05-684E-66DE68B82C43}"/>
              </a:ext>
            </a:extLst>
          </p:cNvPr>
          <p:cNvSpPr txBox="1"/>
          <p:nvPr/>
        </p:nvSpPr>
        <p:spPr>
          <a:xfrm>
            <a:off x="2209800" y="155448"/>
            <a:ext cx="7772399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Problem Statement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616C76-CEBF-5A5C-74AD-2AF7AC921D05}"/>
              </a:ext>
            </a:extLst>
          </p:cNvPr>
          <p:cNvSpPr txBox="1"/>
          <p:nvPr/>
        </p:nvSpPr>
        <p:spPr>
          <a:xfrm>
            <a:off x="1846325" y="2249888"/>
            <a:ext cx="813587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Businesses often struggle to track and analyze large amounts of sales data across multiple parameters such as products, regions, fulfilment types, and promotions.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Manual reporting methods are slow and prone to errors, making it difficult to gain timely insights.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Due to the lack of an interactive and centralized dashboard, decision-makers face challenges in identifying trends, monitoring KPIs, and making accurate data-driven decisions.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83290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09165B-81E1-AF53-35CE-F1467128FC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3BDF596-8189-6BB0-CF7A-05546A79FBA7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Objective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C5655D1-F7B0-7941-9929-135E8F632F75}"/>
              </a:ext>
            </a:extLst>
          </p:cNvPr>
          <p:cNvGrpSpPr/>
          <p:nvPr/>
        </p:nvGrpSpPr>
        <p:grpSpPr>
          <a:xfrm>
            <a:off x="1714118" y="2406054"/>
            <a:ext cx="8763762" cy="3374674"/>
            <a:chOff x="1657350" y="2314614"/>
            <a:chExt cx="8763762" cy="337467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17AB53-626F-6485-DAD7-A4ACB1CBF20E}"/>
                </a:ext>
              </a:extLst>
            </p:cNvPr>
            <p:cNvSpPr txBox="1"/>
            <p:nvPr/>
          </p:nvSpPr>
          <p:spPr>
            <a:xfrm>
              <a:off x="1657350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400DAE-8B4C-A83A-3D5C-DBF6FD29769A}"/>
                </a:ext>
              </a:extLst>
            </p:cNvPr>
            <p:cNvSpPr txBox="1"/>
            <p:nvPr/>
          </p:nvSpPr>
          <p:spPr>
            <a:xfrm>
              <a:off x="6628638" y="2314614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Analyze Amazon sales data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across products, regions, fulfilment, and promotions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762F4E8-F958-4185-289C-2FA1168D55DC}"/>
                </a:ext>
              </a:extLst>
            </p:cNvPr>
            <p:cNvSpPr txBox="1"/>
            <p:nvPr/>
          </p:nvSpPr>
          <p:spPr>
            <a:xfrm>
              <a:off x="1657350" y="3648008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Track key KPIs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like Total Sales, Orders, Quantity Sold, and AOV.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96F758-BD79-FDE4-C3D2-AEC846746A93}"/>
                </a:ext>
              </a:extLst>
            </p:cNvPr>
            <p:cNvSpPr txBox="1"/>
            <p:nvPr/>
          </p:nvSpPr>
          <p:spPr>
            <a:xfrm>
              <a:off x="6628638" y="4673625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Identify top-performing products &amp; regions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for better business planning.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0459573-9842-614A-1B47-65FE85BF7256}"/>
                </a:ext>
              </a:extLst>
            </p:cNvPr>
            <p:cNvSpPr txBox="1"/>
            <p:nvPr/>
          </p:nvSpPr>
          <p:spPr>
            <a:xfrm>
              <a:off x="1657350" y="4673625"/>
              <a:ext cx="3792474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Evaluate fulfilment &amp; promotions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to measure operational efficiency.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126485-444F-9EB0-9BBB-B2ADD2506B7F}"/>
                </a:ext>
              </a:extLst>
            </p:cNvPr>
            <p:cNvSpPr txBox="1"/>
            <p:nvPr/>
          </p:nvSpPr>
          <p:spPr>
            <a:xfrm>
              <a:off x="6628638" y="3648008"/>
              <a:ext cx="3792474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Forecast future sales trends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for data-driven decision making.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267048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FD4DAF-BE0A-E43B-0B0C-07A75B68F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6A4E4F-190F-F3FC-8516-6FA52CEDDDBB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Project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Outcome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C111DBB-F4AF-4D24-B110-A0101C250F7A}"/>
              </a:ext>
            </a:extLst>
          </p:cNvPr>
          <p:cNvGrpSpPr/>
          <p:nvPr/>
        </p:nvGrpSpPr>
        <p:grpSpPr>
          <a:xfrm>
            <a:off x="1302638" y="2326067"/>
            <a:ext cx="9586722" cy="2587011"/>
            <a:chOff x="1533525" y="2079179"/>
            <a:chExt cx="9586722" cy="258701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CBF51A9-3173-FC7C-75BC-8A10B9D4BB1A}"/>
                </a:ext>
              </a:extLst>
            </p:cNvPr>
            <p:cNvSpPr txBox="1"/>
            <p:nvPr/>
          </p:nvSpPr>
          <p:spPr>
            <a:xfrm>
              <a:off x="1533525" y="2079180"/>
              <a:ext cx="412165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Gained </a:t>
              </a: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clear visibility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into overall Amazon sales performance across multiple dimensions.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78725D3-5426-8D7C-53D3-374C1C49F71A}"/>
                </a:ext>
              </a:extLst>
            </p:cNvPr>
            <p:cNvSpPr txBox="1"/>
            <p:nvPr/>
          </p:nvSpPr>
          <p:spPr>
            <a:xfrm>
              <a:off x="1533525" y="3650527"/>
              <a:ext cx="412165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Improved </a:t>
              </a: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marketing and inventory strategies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using promotional and category insights.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02977D3-C131-3DB8-8EFF-D760B5071197}"/>
                </a:ext>
              </a:extLst>
            </p:cNvPr>
            <p:cNvSpPr txBox="1"/>
            <p:nvPr/>
          </p:nvSpPr>
          <p:spPr>
            <a:xfrm>
              <a:off x="6998589" y="2079179"/>
              <a:ext cx="412165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Identified </a:t>
              </a: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top-performing products, regions, and fulfilment types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for better business planning.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C8D7BAD-326F-875E-1AF1-41FD155FEF09}"/>
                </a:ext>
              </a:extLst>
            </p:cNvPr>
            <p:cNvSpPr txBox="1"/>
            <p:nvPr/>
          </p:nvSpPr>
          <p:spPr>
            <a:xfrm>
              <a:off x="6998589" y="3650527"/>
              <a:ext cx="4121658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Delivered a </a:t>
              </a:r>
              <a:r>
                <a:rPr lang="en-US" sz="20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fully interactive Power BI dashboard</a:t>
              </a:r>
              <a:r>
                <a:rPr lang="en-US" sz="20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for faster and smarter decision-making.</a:t>
              </a:r>
              <a:endParaRPr lang="en-IN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48624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466A6-672B-EA6E-8976-458EC5E35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C17C16-9A53-4B89-9470-8C555EC1C5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C6A3CF1-BD11-356F-D360-056F93DC9C88}"/>
              </a:ext>
            </a:extLst>
          </p:cNvPr>
          <p:cNvSpPr txBox="1"/>
          <p:nvPr/>
        </p:nvSpPr>
        <p:spPr>
          <a:xfrm>
            <a:off x="4149089" y="140187"/>
            <a:ext cx="389382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Content</a:t>
            </a:r>
          </a:p>
          <a:p>
            <a:pPr algn="ctr"/>
            <a:r>
              <a:rPr lang="en-IN" sz="6000" b="1" dirty="0">
                <a:solidFill>
                  <a:schemeClr val="accent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Table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8697BA6-D058-D1B0-4A07-60347AF34083}"/>
              </a:ext>
            </a:extLst>
          </p:cNvPr>
          <p:cNvGrpSpPr/>
          <p:nvPr/>
        </p:nvGrpSpPr>
        <p:grpSpPr>
          <a:xfrm>
            <a:off x="1702688" y="2207195"/>
            <a:ext cx="8786622" cy="3683114"/>
            <a:chOff x="1307591" y="2079179"/>
            <a:chExt cx="8786622" cy="3683114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B27D6A9-E03D-B90F-7AEE-BD64AD1E60DB}"/>
                </a:ext>
              </a:extLst>
            </p:cNvPr>
            <p:cNvGrpSpPr/>
            <p:nvPr/>
          </p:nvGrpSpPr>
          <p:grpSpPr>
            <a:xfrm>
              <a:off x="2097785" y="2079179"/>
              <a:ext cx="7996428" cy="3051290"/>
              <a:chOff x="1577340" y="2181955"/>
              <a:chExt cx="9027333" cy="3051290"/>
            </a:xfrm>
          </p:grpSpPr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737DEA2-BDD9-AC11-172A-07A054154BDE}"/>
                  </a:ext>
                </a:extLst>
              </p:cNvPr>
              <p:cNvSpPr txBox="1"/>
              <p:nvPr/>
            </p:nvSpPr>
            <p:spPr>
              <a:xfrm>
                <a:off x="1577340" y="2183686"/>
                <a:ext cx="271576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dirty="0">
                    <a:solidFill>
                      <a:schemeClr val="bg1"/>
                    </a:solidFill>
                    <a:latin typeface="Book Antiqua" panose="02040602050305030304" pitchFamily="18" charset="0"/>
                  </a:rPr>
                  <a:t>Data Source &amp; Description</a:t>
                </a: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0BDB78-464A-21D0-6257-CE317B571ABE}"/>
                  </a:ext>
                </a:extLst>
              </p:cNvPr>
              <p:cNvSpPr txBox="1"/>
              <p:nvPr/>
            </p:nvSpPr>
            <p:spPr>
              <a:xfrm>
                <a:off x="1577340" y="4402248"/>
                <a:ext cx="251460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IN" sz="2400" dirty="0">
                    <a:solidFill>
                      <a:schemeClr val="bg1"/>
                    </a:solidFill>
                    <a:latin typeface="Book Antiqua" panose="02040602050305030304" pitchFamily="18" charset="0"/>
                  </a:rPr>
                  <a:t>Key Insights &amp; Findings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71DD1AA-C8CA-6090-C0B2-A43397EFFA98}"/>
                  </a:ext>
                </a:extLst>
              </p:cNvPr>
              <p:cNvSpPr txBox="1"/>
              <p:nvPr/>
            </p:nvSpPr>
            <p:spPr>
              <a:xfrm>
                <a:off x="6690360" y="3307027"/>
                <a:ext cx="3914313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>
                    <a:latin typeface="Book Antiqua" panose="02040602050305030304" pitchFamily="18" charset="0"/>
                  </a:rPr>
                  <a:t>Dashboard Design &amp; Visualization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C77E13-B460-465C-AB06-9A79A590C518}"/>
                  </a:ext>
                </a:extLst>
              </p:cNvPr>
              <p:cNvSpPr txBox="1"/>
              <p:nvPr/>
            </p:nvSpPr>
            <p:spPr>
              <a:xfrm>
                <a:off x="6690360" y="2181955"/>
                <a:ext cx="3550919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>
                    <a:latin typeface="Book Antiqua" panose="02040602050305030304" pitchFamily="18" charset="0"/>
                  </a:rPr>
                  <a:t>Data Cleaning &amp; Transformation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037660-0769-F723-553E-E084539B4D6B}"/>
                  </a:ext>
                </a:extLst>
              </p:cNvPr>
              <p:cNvSpPr txBox="1"/>
              <p:nvPr/>
            </p:nvSpPr>
            <p:spPr>
              <a:xfrm>
                <a:off x="1577340" y="3308758"/>
                <a:ext cx="3289132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>
                    <a:latin typeface="Book Antiqua" panose="02040602050305030304" pitchFamily="18" charset="0"/>
                  </a:rPr>
                  <a:t>Exploratory Data Analysis (EDA)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93EED0B-172D-0B52-11FA-671738C19475}"/>
                  </a:ext>
                </a:extLst>
              </p:cNvPr>
              <p:cNvSpPr txBox="1"/>
              <p:nvPr/>
            </p:nvSpPr>
            <p:spPr>
              <a:xfrm>
                <a:off x="6690360" y="4401383"/>
                <a:ext cx="355092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2800">
                    <a:solidFill>
                      <a:schemeClr val="bg1"/>
                    </a:solidFill>
                    <a:latin typeface="Bookman Old Style" panose="02050604050505020204" pitchFamily="18" charset="0"/>
                  </a:defRPr>
                </a:lvl1pPr>
              </a:lstStyle>
              <a:p>
                <a:r>
                  <a:rPr lang="en-IN" sz="2400" dirty="0">
                    <a:latin typeface="Book Antiqua" panose="02040602050305030304" pitchFamily="18" charset="0"/>
                  </a:rPr>
                  <a:t>Tools &amp; Technologies Used</a:t>
                </a:r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4F15FAF-3F37-9305-6AB8-7A9CE2E02C94}"/>
                </a:ext>
              </a:extLst>
            </p:cNvPr>
            <p:cNvSpPr txBox="1"/>
            <p:nvPr/>
          </p:nvSpPr>
          <p:spPr>
            <a:xfrm>
              <a:off x="1307591" y="226939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01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C020218-BE27-2699-0E7D-569866C3D149}"/>
                </a:ext>
              </a:extLst>
            </p:cNvPr>
            <p:cNvSpPr txBox="1"/>
            <p:nvPr/>
          </p:nvSpPr>
          <p:spPr>
            <a:xfrm>
              <a:off x="1307591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03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5C7745D-F54C-D471-9592-8A01921BECE5}"/>
                </a:ext>
              </a:extLst>
            </p:cNvPr>
            <p:cNvSpPr txBox="1"/>
            <p:nvPr/>
          </p:nvSpPr>
          <p:spPr>
            <a:xfrm>
              <a:off x="1307591" y="5300628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07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032CDF5-25D8-9EDA-3277-00CA94DC2BB5}"/>
                </a:ext>
              </a:extLst>
            </p:cNvPr>
            <p:cNvSpPr txBox="1"/>
            <p:nvPr/>
          </p:nvSpPr>
          <p:spPr>
            <a:xfrm>
              <a:off x="1307591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05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4E32ADA-8EBD-597A-CF29-D95671C5F7B1}"/>
                </a:ext>
              </a:extLst>
            </p:cNvPr>
            <p:cNvSpPr txBox="1"/>
            <p:nvPr/>
          </p:nvSpPr>
          <p:spPr>
            <a:xfrm>
              <a:off x="5836713" y="4508441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06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37565D-4DBD-EAB1-7170-F922331F0E83}"/>
                </a:ext>
              </a:extLst>
            </p:cNvPr>
            <p:cNvSpPr txBox="1"/>
            <p:nvPr/>
          </p:nvSpPr>
          <p:spPr>
            <a:xfrm>
              <a:off x="5836714" y="3388916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04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D9F7B88-4A97-95C5-0E56-022FE9A55B6D}"/>
                </a:ext>
              </a:extLst>
            </p:cNvPr>
            <p:cNvSpPr txBox="1"/>
            <p:nvPr/>
          </p:nvSpPr>
          <p:spPr>
            <a:xfrm>
              <a:off x="5836714" y="2287067"/>
              <a:ext cx="79019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400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02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7493B2B9-BED8-DC61-A72F-B53B8B2A5E7C}"/>
              </a:ext>
            </a:extLst>
          </p:cNvPr>
          <p:cNvSpPr txBox="1"/>
          <p:nvPr/>
        </p:nvSpPr>
        <p:spPr>
          <a:xfrm>
            <a:off x="2492882" y="5465787"/>
            <a:ext cx="22274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2800">
                <a:solidFill>
                  <a:schemeClr val="bg1"/>
                </a:solidFill>
                <a:latin typeface="Bookman Old Style" panose="02050604050505020204" pitchFamily="18" charset="0"/>
              </a:defRPr>
            </a:lvl1pPr>
          </a:lstStyle>
          <a:p>
            <a:r>
              <a:rPr lang="en-IN" sz="2400" dirty="0">
                <a:latin typeface="Book Antiqua" panose="02040602050305030304" pitchFamily="18" charset="0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7348238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3B53-7689-A7EA-122C-A0DB73F32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2E4952-92A7-9E95-5723-BDA774D5B7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4EA929-C825-AF7E-8E0B-723DC4A18666}"/>
              </a:ext>
            </a:extLst>
          </p:cNvPr>
          <p:cNvSpPr txBox="1"/>
          <p:nvPr/>
        </p:nvSpPr>
        <p:spPr>
          <a:xfrm>
            <a:off x="6096000" y="2459504"/>
            <a:ext cx="5916167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Data Source &amp; Description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FF533B4D-1568-EAC4-69A6-8967656B06F7}"/>
              </a:ext>
            </a:extLst>
          </p:cNvPr>
          <p:cNvSpPr/>
          <p:nvPr/>
        </p:nvSpPr>
        <p:spPr>
          <a:xfrm>
            <a:off x="8207764" y="1280401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31A25B-DFD9-A54C-1FC6-A1F7466FB5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837" y="934146"/>
            <a:ext cx="4989708" cy="4989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4976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E7AAC-F85C-ED65-57FA-40E2D1F93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E6D5147-C421-F000-8FDB-B0714E8805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BAE44CD-3726-E2AB-8AB1-CE57A691D8B9}"/>
              </a:ext>
            </a:extLst>
          </p:cNvPr>
          <p:cNvSpPr txBox="1"/>
          <p:nvPr/>
        </p:nvSpPr>
        <p:spPr>
          <a:xfrm>
            <a:off x="469392" y="920620"/>
            <a:ext cx="5626608" cy="409342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dataset used for this project is a Retail Sales (Amazon Orders) dataset.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It contains detailed information about customer orders, products, fulfilment types, cities, quantities, prices, and delivery status.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data was provided in CSV/Excel format and imported directly into Power BI Desktop.</a:t>
            </a:r>
          </a:p>
          <a:p>
            <a:pPr>
              <a:buClr>
                <a:srgbClr val="00B050"/>
              </a:buClr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Each record represents a single order item with attributes like Order ID, Date, Category, Size, Qty, Total Amount, City, and Status.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07A0F9-5A69-3E14-BAED-A57C9907F8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552" r="26147"/>
          <a:stretch>
            <a:fillRect/>
          </a:stretch>
        </p:blipFill>
        <p:spPr>
          <a:xfrm>
            <a:off x="7068312" y="1473707"/>
            <a:ext cx="3622179" cy="39105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584033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74E86-DBDB-127A-0BCE-B036AED9E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2D27382-C293-AF6B-97F1-7C9E4FFBED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3BB38B-68D9-AAF3-6DBC-5454B031426F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Data Cleaning &amp; Transformation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2780D173-A3D4-9BAF-8B9F-36656E12F418}"/>
              </a:ext>
            </a:extLst>
          </p:cNvPr>
          <p:cNvSpPr/>
          <p:nvPr/>
        </p:nvSpPr>
        <p:spPr>
          <a:xfrm>
            <a:off x="7768852" y="1224792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8161A4-DC5E-14EA-69C5-80ACA57E7E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35133" y="2189527"/>
            <a:ext cx="3719747" cy="2478946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chemeClr val="bg1">
                <a:lumMod val="95000"/>
              </a:schemeClr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64719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E2B8DF-5074-C0AA-0770-79D8A67119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767478F-4CFE-ED12-CB18-53805324BB7B}"/>
              </a:ext>
            </a:extLst>
          </p:cNvPr>
          <p:cNvSpPr txBox="1"/>
          <p:nvPr/>
        </p:nvSpPr>
        <p:spPr>
          <a:xfrm>
            <a:off x="498348" y="751011"/>
            <a:ext cx="1119530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The raw Amazon sales dataset underwent multiple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cleaning and transformation steps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in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Power Query Editor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to ensure data accuracy, consistency, and readiness for analysis.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Each step was carefully applied to remove unnecessary data, fix quality issues, and enhance analytical usability.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0777C2-E910-F809-26CF-DF6A0F7FB250}"/>
              </a:ext>
            </a:extLst>
          </p:cNvPr>
          <p:cNvSpPr txBox="1"/>
          <p:nvPr/>
        </p:nvSpPr>
        <p:spPr>
          <a:xfrm>
            <a:off x="498348" y="2670298"/>
            <a:ext cx="36621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bg1"/>
                </a:solidFill>
                <a:latin typeface="Book Antiqua" panose="02040602050305030304" pitchFamily="18" charset="0"/>
              </a:rPr>
              <a:t>Key Cleaning Steps: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B3E613-BB1C-B99D-0131-9C9AD2D9EE0E}"/>
              </a:ext>
            </a:extLst>
          </p:cNvPr>
          <p:cNvSpPr txBox="1"/>
          <p:nvPr/>
        </p:nvSpPr>
        <p:spPr>
          <a:xfrm>
            <a:off x="1520190" y="3282696"/>
            <a:ext cx="578586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Loaded Raw Data:</a:t>
            </a:r>
          </a:p>
          <a:p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Imported the CSV file containing 1,28,975 rows and 24 columns.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065F09-B4B6-D396-59AC-F3501250DA37}"/>
              </a:ext>
            </a:extLst>
          </p:cNvPr>
          <p:cNvSpPr txBox="1"/>
          <p:nvPr/>
        </p:nvSpPr>
        <p:spPr>
          <a:xfrm>
            <a:off x="1520190" y="4468082"/>
            <a:ext cx="6094476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Removed Unnecessary Columns:</a:t>
            </a:r>
            <a:br>
              <a:rPr lang="en-US" sz="2000" dirty="0">
                <a:solidFill>
                  <a:srgbClr val="E89D06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Dropped irrelevant fields such as index, Style, ASIN, ship-postal-code, Unnamed: 22, Sales Channel, Currency, and Country to keep only relevant business attributes.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9C0A64-CF67-F558-A1AB-B8600F77826B}"/>
              </a:ext>
            </a:extLst>
          </p:cNvPr>
          <p:cNvSpPr txBox="1"/>
          <p:nvPr/>
        </p:nvSpPr>
        <p:spPr>
          <a:xfrm>
            <a:off x="905256" y="3279542"/>
            <a:ext cx="59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01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CF6001-64FF-A88E-FF5E-C4A4945EAA96}"/>
              </a:ext>
            </a:extLst>
          </p:cNvPr>
          <p:cNvSpPr txBox="1"/>
          <p:nvPr/>
        </p:nvSpPr>
        <p:spPr>
          <a:xfrm>
            <a:off x="905256" y="4473184"/>
            <a:ext cx="59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02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996FF04-35C5-B818-A24A-E69F2F5195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7087" y="3279542"/>
            <a:ext cx="3723882" cy="250426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241745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000A30-AB3E-923D-1E99-3866455C6A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B6B05D3-91C1-4BAA-937A-DF1256F8E2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813" y="2921227"/>
            <a:ext cx="5041392" cy="3603859"/>
          </a:xfrm>
          <a:prstGeom prst="rect">
            <a:avLst/>
          </a:prstGeom>
          <a:effectLst>
            <a:softEdge rad="635000"/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85FFCDB9-90CD-E141-7FE6-1C3890937AC7}"/>
              </a:ext>
            </a:extLst>
          </p:cNvPr>
          <p:cNvGrpSpPr/>
          <p:nvPr/>
        </p:nvGrpSpPr>
        <p:grpSpPr>
          <a:xfrm>
            <a:off x="763643" y="1987387"/>
            <a:ext cx="5059261" cy="1938992"/>
            <a:chOff x="931651" y="3429000"/>
            <a:chExt cx="5501704" cy="193899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C607A2C-BE22-4DEB-29B7-A56FB7F1AF80}"/>
                </a:ext>
              </a:extLst>
            </p:cNvPr>
            <p:cNvSpPr txBox="1"/>
            <p:nvPr/>
          </p:nvSpPr>
          <p:spPr>
            <a:xfrm>
              <a:off x="1575054" y="3429000"/>
              <a:ext cx="4858301" cy="19389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rgbClr val="FFC000"/>
                  </a:solidFill>
                  <a:latin typeface="Book Antiqua" panose="02040602050305030304" pitchFamily="18" charset="0"/>
                </a:rPr>
                <a:t>Quantity &amp; Amount Handling: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Managed rows with missing or zero Qty values and recalculated totals.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Added a new calculated column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Total Amount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(Qty * Item Price).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Removed null and zero-value errors, resulting in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1,13,698 clean records.</a:t>
              </a:r>
              <a:endParaRPr lang="en-US" sz="16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A23DDF9-FE5F-6731-F9FB-8EE3DDB5B00D}"/>
                </a:ext>
              </a:extLst>
            </p:cNvPr>
            <p:cNvSpPr txBox="1"/>
            <p:nvPr/>
          </p:nvSpPr>
          <p:spPr>
            <a:xfrm>
              <a:off x="931651" y="3474157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FFC000"/>
                  </a:solidFill>
                  <a:latin typeface="Book Antiqua" panose="02040602050305030304" pitchFamily="18" charset="0"/>
                </a:rPr>
                <a:t>04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2EFDFC8-DBE4-1283-D1E1-E3DA3D1258C6}"/>
              </a:ext>
            </a:extLst>
          </p:cNvPr>
          <p:cNvGrpSpPr/>
          <p:nvPr/>
        </p:nvGrpSpPr>
        <p:grpSpPr>
          <a:xfrm>
            <a:off x="763643" y="491889"/>
            <a:ext cx="4913376" cy="1384995"/>
            <a:chOff x="929640" y="490425"/>
            <a:chExt cx="4913376" cy="138499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476F605-90EB-BEF4-186C-1108530E20B0}"/>
                </a:ext>
              </a:extLst>
            </p:cNvPr>
            <p:cNvSpPr txBox="1"/>
            <p:nvPr/>
          </p:nvSpPr>
          <p:spPr>
            <a:xfrm>
              <a:off x="1374763" y="490425"/>
              <a:ext cx="4468253" cy="138499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2000" b="1" dirty="0">
                  <a:solidFill>
                    <a:srgbClr val="FFC000"/>
                  </a:solidFill>
                  <a:latin typeface="Book Antiqua" panose="02040602050305030304" pitchFamily="18" charset="0"/>
                </a:rPr>
                <a:t>Error &amp; Blank Handling: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Removed error values, blank rows, and duplicates to ensure data quality.</a:t>
              </a: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Duplicates removed: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6 rows</a:t>
              </a:r>
              <a:endParaRPr lang="en-US" sz="16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  <a:p>
              <a:pPr marL="342900" indent="-342900">
                <a:buClr>
                  <a:schemeClr val="accent4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Total rows after cleanup: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1,16,165</a:t>
              </a:r>
              <a:endParaRPr lang="en-US" sz="16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74ED2F7-D443-F17E-7238-927F451B0850}"/>
                </a:ext>
              </a:extLst>
            </p:cNvPr>
            <p:cNvSpPr txBox="1"/>
            <p:nvPr/>
          </p:nvSpPr>
          <p:spPr>
            <a:xfrm>
              <a:off x="929640" y="490425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rgbClr val="FFC000"/>
                  </a:solidFill>
                  <a:latin typeface="Book Antiqua" panose="02040602050305030304" pitchFamily="18" charset="0"/>
                </a:rPr>
                <a:t>03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28E106C-45C0-897C-FBFB-97615813DCB9}"/>
              </a:ext>
            </a:extLst>
          </p:cNvPr>
          <p:cNvGrpSpPr/>
          <p:nvPr/>
        </p:nvGrpSpPr>
        <p:grpSpPr>
          <a:xfrm>
            <a:off x="6096000" y="492239"/>
            <a:ext cx="5332036" cy="892552"/>
            <a:chOff x="6207929" y="4130868"/>
            <a:chExt cx="6015429" cy="89255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1B53517-3257-FD8F-09CC-0AC5CE75675E}"/>
                </a:ext>
              </a:extLst>
            </p:cNvPr>
            <p:cNvSpPr txBox="1"/>
            <p:nvPr/>
          </p:nvSpPr>
          <p:spPr>
            <a:xfrm>
              <a:off x="6823358" y="4130868"/>
              <a:ext cx="5400000" cy="8925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Date-Based Columns Added:</a:t>
              </a:r>
              <a:br>
                <a:rPr lang="en-US" sz="24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</a:b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Extracted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Year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,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Month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, and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Week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from order date for time-series analysis.</a:t>
              </a:r>
              <a:endParaRPr lang="en-US" sz="2000" dirty="0">
                <a:solidFill>
                  <a:schemeClr val="bg1"/>
                </a:solidFill>
                <a:latin typeface="Book Antiqua" panose="02040602050305030304" pitchFamily="18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17BA2-1A6D-176A-F9D1-402324F90DF6}"/>
                </a:ext>
              </a:extLst>
            </p:cNvPr>
            <p:cNvSpPr txBox="1"/>
            <p:nvPr/>
          </p:nvSpPr>
          <p:spPr>
            <a:xfrm>
              <a:off x="6207929" y="4151493"/>
              <a:ext cx="61733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06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332CFC9-8CA4-8E76-CD74-58F444AC93DD}"/>
              </a:ext>
            </a:extLst>
          </p:cNvPr>
          <p:cNvGrpSpPr/>
          <p:nvPr/>
        </p:nvGrpSpPr>
        <p:grpSpPr>
          <a:xfrm>
            <a:off x="763643" y="3960815"/>
            <a:ext cx="4913376" cy="1877437"/>
            <a:chOff x="929640" y="3734917"/>
            <a:chExt cx="4913376" cy="187743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4554DDB-17FD-66D6-01A5-E35185126867}"/>
                </a:ext>
              </a:extLst>
            </p:cNvPr>
            <p:cNvSpPr txBox="1"/>
            <p:nvPr/>
          </p:nvSpPr>
          <p:spPr>
            <a:xfrm>
              <a:off x="929640" y="3734917"/>
              <a:ext cx="59321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sz="2000" b="1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05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2ACAD1-E7CD-0D49-AC71-DB806BF10718}"/>
                </a:ext>
              </a:extLst>
            </p:cNvPr>
            <p:cNvSpPr txBox="1"/>
            <p:nvPr/>
          </p:nvSpPr>
          <p:spPr>
            <a:xfrm>
              <a:off x="1374763" y="3734917"/>
              <a:ext cx="4468253" cy="187743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accent4"/>
                  </a:solidFill>
                  <a:latin typeface="Book Antiqua" panose="02040602050305030304" pitchFamily="18" charset="0"/>
                </a:rPr>
                <a:t>Categorization Columns Created: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Added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Order Type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(Amazon vs Merchant) for fulfilment classification.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Created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Order Status Group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to group order outcomes (Shipped, Cancelled, Returned).</a:t>
              </a:r>
            </a:p>
            <a:p>
              <a:pPr marL="285750" indent="-285750">
                <a:buClr>
                  <a:srgbClr val="FFC000"/>
                </a:buClr>
                <a:buFont typeface="Bookman Old Style" panose="02050604050505020204" pitchFamily="18" charset="0"/>
                <a:buChar char="→"/>
              </a:pP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Added </a:t>
              </a:r>
              <a:r>
                <a:rPr lang="en-US" sz="1600" b="1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Promotion Type</a:t>
              </a:r>
              <a:r>
                <a:rPr lang="en-US" sz="1600" dirty="0">
                  <a:solidFill>
                    <a:schemeClr val="bg1"/>
                  </a:solidFill>
                  <a:latin typeface="Book Antiqua" panose="02040602050305030304" pitchFamily="18" charset="0"/>
                </a:rPr>
                <a:t> to differentiate promotional vs non-promotional sales.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A55F5EE-AFEC-FB01-9CB1-8F4C7834A82A}"/>
              </a:ext>
            </a:extLst>
          </p:cNvPr>
          <p:cNvSpPr txBox="1"/>
          <p:nvPr/>
        </p:nvSpPr>
        <p:spPr>
          <a:xfrm>
            <a:off x="6641512" y="1693990"/>
            <a:ext cx="50413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69822"/>
              </a:buClr>
              <a:buFont typeface="Wingdings" panose="05000000000000000000" pitchFamily="2" charset="2"/>
              <a:buChar char="ü"/>
            </a:pPr>
            <a:r>
              <a:rPr lang="en-US" sz="1600" i="1" dirty="0">
                <a:solidFill>
                  <a:schemeClr val="bg1"/>
                </a:solidFill>
                <a:latin typeface="Book Antiqua" panose="02040602050305030304" pitchFamily="18" charset="0"/>
              </a:rPr>
              <a:t>Final dataset is fully structured, clean, and optimized for Power BI reporting — supporting accurate KPI calculations, visualizations, and forecasting analysis</a:t>
            </a:r>
            <a:r>
              <a:rPr lang="en-US" sz="1600" i="1" dirty="0">
                <a:solidFill>
                  <a:srgbClr val="069822"/>
                </a:solidFill>
                <a:latin typeface="Book Antiqua" panose="02040602050305030304" pitchFamily="18" charset="0"/>
              </a:rPr>
              <a:t>.</a:t>
            </a:r>
            <a:endParaRPr lang="en-IN" sz="1600" i="1" dirty="0">
              <a:solidFill>
                <a:srgbClr val="069822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620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F9B61-0403-6A12-5DDD-0610BA4CA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D4575D-812C-AB9E-FAC6-B52E608134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9F38AD9-1B22-A88A-3377-DCF974FE80C8}"/>
              </a:ext>
            </a:extLst>
          </p:cNvPr>
          <p:cNvSpPr txBox="1"/>
          <p:nvPr/>
        </p:nvSpPr>
        <p:spPr>
          <a:xfrm>
            <a:off x="6096000" y="1929152"/>
            <a:ext cx="5916167" cy="286232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Exploratory Data Analysis (EDA)</a:t>
            </a:r>
          </a:p>
        </p:txBody>
      </p:sp>
      <p:sp>
        <p:nvSpPr>
          <p:cNvPr id="7" name="Flowchart: Connector 6">
            <a:extLst>
              <a:ext uri="{FF2B5EF4-FFF2-40B4-BE49-F238E27FC236}">
                <a16:creationId xmlns:a16="http://schemas.microsoft.com/office/drawing/2014/main" id="{4B65826D-14B7-716A-DE19-0CE800D9F167}"/>
              </a:ext>
            </a:extLst>
          </p:cNvPr>
          <p:cNvSpPr/>
          <p:nvPr/>
        </p:nvSpPr>
        <p:spPr>
          <a:xfrm>
            <a:off x="8207764" y="795769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D49623C-80C3-F518-8288-EAFAF3709D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0522" y="1247758"/>
            <a:ext cx="4362483" cy="4362483"/>
          </a:xfrm>
          <a:prstGeom prst="roundRect">
            <a:avLst>
              <a:gd name="adj" fmla="val 16667"/>
            </a:avLst>
          </a:prstGeom>
          <a:ln>
            <a:solidFill>
              <a:schemeClr val="accent4"/>
            </a:solidFill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36346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B5CDD-5DCF-C5FE-2E73-549DC3C49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C6C067-8CE0-A59C-0957-03D1774F26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2"/>
          <a:stretch>
            <a:fillRect/>
          </a:stretch>
        </p:blipFill>
        <p:spPr>
          <a:xfrm>
            <a:off x="5769864" y="155448"/>
            <a:ext cx="6245352" cy="6528816"/>
          </a:xfrm>
          <a:prstGeom prst="rect">
            <a:avLst/>
          </a:prstGeom>
          <a:noFill/>
          <a:effectLst>
            <a:softEdge rad="127000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DF103C-A860-2366-D5E7-19006505EB89}"/>
              </a:ext>
            </a:extLst>
          </p:cNvPr>
          <p:cNvSpPr txBox="1"/>
          <p:nvPr/>
        </p:nvSpPr>
        <p:spPr>
          <a:xfrm>
            <a:off x="348234" y="780961"/>
            <a:ext cx="624535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After cleaning the dataset, Exploratory Data Analysis was performed to understand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sales patterns, customer behavior, and key business insights.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This step helped in identifying the most important trends and performance indicators before visualization.</a:t>
            </a:r>
          </a:p>
          <a:p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Key analysis performed: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43DE3D-EFC0-BE6A-2343-0EF193CC68ED}"/>
              </a:ext>
            </a:extLst>
          </p:cNvPr>
          <p:cNvSpPr txBox="1"/>
          <p:nvPr/>
        </p:nvSpPr>
        <p:spPr>
          <a:xfrm>
            <a:off x="642366" y="3417802"/>
            <a:ext cx="545363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Sales Distribution Analysis:</a:t>
            </a:r>
            <a:r>
              <a:rPr lang="en-US" sz="2000" dirty="0">
                <a:solidFill>
                  <a:schemeClr val="accent4"/>
                </a:solidFill>
                <a:latin typeface="Book Antiqua" panose="020406020503050303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Checked total sales, average order value, and quantity sold to understand overall business performance.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Category-Level Analysis:</a:t>
            </a:r>
            <a:r>
              <a:rPr lang="en-US" sz="2000" dirty="0">
                <a:solidFill>
                  <a:schemeClr val="accent4"/>
                </a:solidFill>
                <a:latin typeface="Book Antiqua" panose="020406020503050303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Examined which product categories drive maximum revenue and orders.</a:t>
            </a:r>
          </a:p>
        </p:txBody>
      </p:sp>
    </p:spTree>
    <p:extLst>
      <p:ext uri="{BB962C8B-B14F-4D97-AF65-F5344CB8AC3E}">
        <p14:creationId xmlns:p14="http://schemas.microsoft.com/office/powerpoint/2010/main" val="28370480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8D9DD3-9AD0-7ABD-4166-B64AF6065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038E35C-6E79-35DA-E71D-5BE4419B1A39}"/>
              </a:ext>
            </a:extLst>
          </p:cNvPr>
          <p:cNvSpPr txBox="1"/>
          <p:nvPr/>
        </p:nvSpPr>
        <p:spPr>
          <a:xfrm>
            <a:off x="5895012" y="612842"/>
            <a:ext cx="575194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Fulfilment Comparison:</a:t>
            </a:r>
            <a:r>
              <a:rPr lang="en-US" sz="2000" dirty="0">
                <a:solidFill>
                  <a:schemeClr val="accent4"/>
                </a:solidFill>
                <a:latin typeface="Book Antiqua" panose="02040602050305030304" pitchFamily="18" charset="0"/>
              </a:rPr>
              <a:t>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Compared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(FBA)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vs </a:t>
            </a: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Merchant (FBM)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 fulfilment to find which performs better.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Regional Insights: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Explored state-wise and city-wise sales to identify top and low-performing regions.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Time Trend Analysis: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Studied month-wise and seasonal patterns to detect high-demand periods.</a:t>
            </a: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4"/>
              </a:buClr>
              <a:buFont typeface="Wingdings" panose="05000000000000000000" pitchFamily="2" charset="2"/>
              <a:buChar char="v"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Customer Segment Study: </a:t>
            </a:r>
            <a: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  <a:t>Analyzed B2B vs B2C contribution to total revenue.</a:t>
            </a:r>
          </a:p>
          <a:p>
            <a:pPr>
              <a:buClr>
                <a:schemeClr val="bg1"/>
              </a:buClr>
            </a:pPr>
            <a:endParaRPr lang="en-US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342900" indent="-342900">
              <a:buClr>
                <a:schemeClr val="accent6"/>
              </a:buClr>
              <a:buFont typeface="Wingdings" panose="05000000000000000000" pitchFamily="2" charset="2"/>
              <a:buChar char="ü"/>
            </a:pPr>
            <a:r>
              <a:rPr lang="en-US" sz="2000" i="1" dirty="0">
                <a:solidFill>
                  <a:schemeClr val="bg1"/>
                </a:solidFill>
                <a:latin typeface="Book Antiqua" panose="02040602050305030304" pitchFamily="18" charset="0"/>
              </a:rPr>
              <a:t>These findings laid the foundation for creating meaningful and insight-driven Power BI dashboards.</a:t>
            </a:r>
            <a:endParaRPr lang="en-IN" sz="2000" i="1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D1A66-ECF6-81C6-2ECC-C85194A991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381"/>
          <a:stretch>
            <a:fillRect/>
          </a:stretch>
        </p:blipFill>
        <p:spPr>
          <a:xfrm>
            <a:off x="771525" y="1404936"/>
            <a:ext cx="4578446" cy="40481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3265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B7336-B8EC-0FEC-C582-4102CBC47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B8E0D5-7B93-9963-C55F-30E1129E1E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23CBEA-A11C-95DF-09DB-92A97F6AD91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519" y="119062"/>
            <a:ext cx="11943656" cy="66198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933D58-6360-F66B-A3B3-A6F2B7E2BD23}"/>
              </a:ext>
            </a:extLst>
          </p:cNvPr>
          <p:cNvSpPr txBox="1"/>
          <p:nvPr/>
        </p:nvSpPr>
        <p:spPr>
          <a:xfrm>
            <a:off x="5962650" y="2459504"/>
            <a:ext cx="5942838" cy="286232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Dashboard Design &amp; Visualization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63B5D596-1F52-6A34-9D12-CE45CEECF4C2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25E852D-9581-E0D1-E702-C5E497E3C9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512" y="2411074"/>
            <a:ext cx="5219461" cy="29591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74043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298FB-2435-9F69-547E-9353217C2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0D417F4-12C8-F30D-5C6B-15215B9BE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9AD370-FA41-F895-9BEA-1A25EE3814A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400" y="152401"/>
            <a:ext cx="11887200" cy="6553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C4680B-57BD-4336-9C20-B10034FA6F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5868" y="2658503"/>
            <a:ext cx="5400000" cy="3061025"/>
          </a:xfrm>
          <a:prstGeom prst="roundRect">
            <a:avLst>
              <a:gd name="adj" fmla="val 6088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4175F66-299D-7255-73D6-61406E8F6659}"/>
              </a:ext>
            </a:extLst>
          </p:cNvPr>
          <p:cNvSpPr txBox="1"/>
          <p:nvPr/>
        </p:nvSpPr>
        <p:spPr>
          <a:xfrm>
            <a:off x="468788" y="665887"/>
            <a:ext cx="11254424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Overview: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Overview Page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provides a complete summary of overall Amazon sales performance.</a:t>
            </a:r>
            <a:b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 quickly identify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key business trends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, monitor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sales performance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, and find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growth opportunities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at a glance.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458EFA-946A-3F5D-589D-598F51E95632}"/>
              </a:ext>
            </a:extLst>
          </p:cNvPr>
          <p:cNvSpPr txBox="1"/>
          <p:nvPr/>
        </p:nvSpPr>
        <p:spPr>
          <a:xfrm>
            <a:off x="2017984" y="5273252"/>
            <a:ext cx="2977548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Monthly Sales Trend</a:t>
            </a:r>
          </a:p>
          <a:p>
            <a:pPr>
              <a:buNone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month-wise sales growth and seasonality.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6A0644-896F-65D7-00C4-020B8E08B579}"/>
              </a:ext>
            </a:extLst>
          </p:cNvPr>
          <p:cNvSpPr txBox="1"/>
          <p:nvPr/>
        </p:nvSpPr>
        <p:spPr>
          <a:xfrm>
            <a:off x="4148745" y="2002282"/>
            <a:ext cx="236416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5 Category by Total Sales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best-performing categories based on revenue.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4FACC4-1617-4E93-DDB6-B237FCF2FACA}"/>
              </a:ext>
            </a:extLst>
          </p:cNvPr>
          <p:cNvSpPr txBox="1"/>
          <p:nvPr/>
        </p:nvSpPr>
        <p:spPr>
          <a:xfrm>
            <a:off x="835900" y="2051840"/>
            <a:ext cx="236416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Fulfilment by Total Sales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Amazon (FBA) vs Merchant (FBM) contribution.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ECE93-877A-212B-671A-7CA162372AE4}"/>
              </a:ext>
            </a:extLst>
          </p:cNvPr>
          <p:cNvSpPr txBox="1"/>
          <p:nvPr/>
        </p:nvSpPr>
        <p:spPr>
          <a:xfrm>
            <a:off x="835900" y="3655445"/>
            <a:ext cx="215187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State Wise Total Sales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Geographical map showing regional sales performance.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CA8386-B8D5-A4C9-11A3-954F3C63D735}"/>
              </a:ext>
            </a:extLst>
          </p:cNvPr>
          <p:cNvSpPr txBox="1"/>
          <p:nvPr/>
        </p:nvSpPr>
        <p:spPr>
          <a:xfrm>
            <a:off x="4148745" y="3625903"/>
            <a:ext cx="24598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Promotion Type by Total Sales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how promotions impact total revenue.</a:t>
            </a:r>
          </a:p>
        </p:txBody>
      </p:sp>
    </p:spTree>
    <p:extLst>
      <p:ext uri="{BB962C8B-B14F-4D97-AF65-F5344CB8AC3E}">
        <p14:creationId xmlns:p14="http://schemas.microsoft.com/office/powerpoint/2010/main" val="18371595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178A5-3354-C6C9-19A9-E2F6A86E2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2FD868-0538-E569-19D9-44E4F63695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A25742-140E-123B-42B7-86E4E4C789F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855" y="145648"/>
            <a:ext cx="11852290" cy="655042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150C573-020C-451A-E056-A3F60FAFFE1F}"/>
              </a:ext>
            </a:extLst>
          </p:cNvPr>
          <p:cNvSpPr txBox="1"/>
          <p:nvPr/>
        </p:nvSpPr>
        <p:spPr>
          <a:xfrm>
            <a:off x="528637" y="694462"/>
            <a:ext cx="11134726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Product:</a:t>
            </a:r>
            <a:br>
              <a:rPr lang="en-US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Product Page provides a detailed view of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product-level performance and demand trends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 identify top-selling categories, SKUs, and sizes — enabling smarter decisions in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inventory planning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,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marketing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, and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sales strategy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4018B0D-DEE1-0BBB-3531-1D916A9DDF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431" y="2383209"/>
            <a:ext cx="5400000" cy="3058202"/>
          </a:xfrm>
          <a:prstGeom prst="roundRect">
            <a:avLst>
              <a:gd name="adj" fmla="val 5143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A529C7E-9E32-81C7-9DAD-241B612D95A1}"/>
              </a:ext>
            </a:extLst>
          </p:cNvPr>
          <p:cNvSpPr txBox="1"/>
          <p:nvPr/>
        </p:nvSpPr>
        <p:spPr>
          <a:xfrm>
            <a:off x="760669" y="3324860"/>
            <a:ext cx="242470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3 SKU by Total Sales 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SKUs generating the highest revenue</a:t>
            </a:r>
            <a:r>
              <a:rPr lang="en-US" sz="18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3372E8-0A96-1AE4-B673-663CCDD9E576}"/>
              </a:ext>
            </a:extLst>
          </p:cNvPr>
          <p:cNvSpPr txBox="1"/>
          <p:nvPr/>
        </p:nvSpPr>
        <p:spPr>
          <a:xfrm>
            <a:off x="760669" y="1978883"/>
            <a:ext cx="23987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3 SKU by Total Quantity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most sold SKUs by volume.</a:t>
            </a:r>
            <a:endParaRPr lang="en-US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F373E0-5D11-1CEA-10ED-35AEAAB7ACAC}"/>
              </a:ext>
            </a:extLst>
          </p:cNvPr>
          <p:cNvSpPr txBox="1"/>
          <p:nvPr/>
        </p:nvSpPr>
        <p:spPr>
          <a:xfrm>
            <a:off x="760669" y="4947836"/>
            <a:ext cx="2398704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Total Sales by Size  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which size variants contribute most to total sales.</a:t>
            </a:r>
            <a:endParaRPr lang="en-US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638E53-BD18-1D5F-99A6-36AEB5B50544}"/>
              </a:ext>
            </a:extLst>
          </p:cNvPr>
          <p:cNvSpPr txBox="1"/>
          <p:nvPr/>
        </p:nvSpPr>
        <p:spPr>
          <a:xfrm>
            <a:off x="3905636" y="1982450"/>
            <a:ext cx="265975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Quantity by Month &amp; Category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monthly demand fluctuations across categories.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F963D1-4CC3-DF1E-C29C-8C0C26C7C99A}"/>
              </a:ext>
            </a:extLst>
          </p:cNvPr>
          <p:cNvSpPr txBox="1"/>
          <p:nvPr/>
        </p:nvSpPr>
        <p:spPr>
          <a:xfrm>
            <a:off x="3905635" y="3574648"/>
            <a:ext cx="265975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buNone/>
              <a:defRPr b="1">
                <a:solidFill>
                  <a:schemeClr val="accent4"/>
                </a:solidFill>
                <a:latin typeface="Bookman Old Style" panose="02050604050505020204" pitchFamily="18" charset="0"/>
              </a:defRPr>
            </a:lvl1pPr>
          </a:lstStyle>
          <a:p>
            <a:pPr>
              <a:buClr>
                <a:schemeClr val="accent4"/>
              </a:buClr>
            </a:pPr>
            <a:r>
              <a:rPr lang="en-US" sz="2000" dirty="0">
                <a:latin typeface="Book Antiqua" panose="02040602050305030304" pitchFamily="18" charset="0"/>
              </a:rPr>
              <a:t>Total Sales by Category  </a:t>
            </a:r>
            <a:r>
              <a:rPr lang="en-US" sz="1600" b="0" dirty="0">
                <a:solidFill>
                  <a:schemeClr val="bg1"/>
                </a:solidFill>
                <a:latin typeface="Book Antiqua" panose="02040602050305030304" pitchFamily="18" charset="0"/>
              </a:rPr>
              <a:t>Compares category-wise revenue performance to find top contributors.</a:t>
            </a:r>
            <a:endParaRPr lang="en-US" sz="1400" b="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03318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FC0AB-144D-BA5A-E91C-897BCC1E1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8942E7-F9D5-E172-6FDA-B98CD4E60B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BAD5032-4F16-FD25-339D-166F6142EA7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3" y="0"/>
            <a:ext cx="12081094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CDB34D-D682-4F9A-E591-D913EFEA63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963" y="2523176"/>
            <a:ext cx="5400000" cy="3065385"/>
          </a:xfrm>
          <a:prstGeom prst="roundRect">
            <a:avLst>
              <a:gd name="adj" fmla="val 4350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F0317E-6992-4984-C53C-10DD21F88331}"/>
              </a:ext>
            </a:extLst>
          </p:cNvPr>
          <p:cNvSpPr txBox="1"/>
          <p:nvPr/>
        </p:nvSpPr>
        <p:spPr>
          <a:xfrm>
            <a:off x="666749" y="646035"/>
            <a:ext cx="10858501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Fulfilment:</a:t>
            </a:r>
            <a:br>
              <a:rPr lang="en-IN" dirty="0">
                <a:latin typeface="Book Antiqua" panose="02040602050305030304" pitchFamily="18" charset="0"/>
              </a:rPr>
            </a:b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Fulfilment Page provides insights into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delivery performance and operational efficiency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 compare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(FBA)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and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Merchant (FBM)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fulfilment models to identify performance gaps, monitor delivery success, and improve logistics strategy.</a:t>
            </a:r>
            <a:endParaRPr lang="en-IN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E37389-6736-431E-43B1-5E95920FF097}"/>
              </a:ext>
            </a:extLst>
          </p:cNvPr>
          <p:cNvSpPr txBox="1"/>
          <p:nvPr/>
        </p:nvSpPr>
        <p:spPr>
          <a:xfrm>
            <a:off x="6125424" y="2101511"/>
            <a:ext cx="252090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FBA &amp; FBM Share %</a:t>
            </a:r>
          </a:p>
          <a:p>
            <a:pPr>
              <a:buClr>
                <a:schemeClr val="accent4"/>
              </a:buClr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Amazon’s &amp; Merchant contribution to total sales.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72DF5-8875-BC9D-63AB-30CDBFAEE983}"/>
              </a:ext>
            </a:extLst>
          </p:cNvPr>
          <p:cNvSpPr txBox="1"/>
          <p:nvPr/>
        </p:nvSpPr>
        <p:spPr>
          <a:xfrm>
            <a:off x="9262828" y="3735735"/>
            <a:ext cx="243234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Quantity by Fulfilment</a:t>
            </a:r>
            <a:r>
              <a:rPr lang="en-IN" sz="2000" dirty="0">
                <a:solidFill>
                  <a:schemeClr val="accent4"/>
                </a:solidFill>
                <a:latin typeface="Book Antiqua" panose="020406020503050303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total quantity handled by FBA and FBM.</a:t>
            </a:r>
            <a:endParaRPr lang="en-IN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63780F-217F-7F27-7CFE-278EC948C379}"/>
              </a:ext>
            </a:extLst>
          </p:cNvPr>
          <p:cNvSpPr txBox="1"/>
          <p:nvPr/>
        </p:nvSpPr>
        <p:spPr>
          <a:xfrm>
            <a:off x="6859009" y="5410853"/>
            <a:ext cx="433893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Average Delivery by Fulfilment </a:t>
            </a:r>
          </a:p>
          <a:p>
            <a:pPr>
              <a:buClr>
                <a:schemeClr val="accent4"/>
              </a:buClr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which fulfilment model achieves higher average order value.</a:t>
            </a:r>
            <a:endParaRPr lang="en-IN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60D7EC-89E6-D016-AE2E-FBFBAD034613}"/>
              </a:ext>
            </a:extLst>
          </p:cNvPr>
          <p:cNvSpPr txBox="1"/>
          <p:nvPr/>
        </p:nvSpPr>
        <p:spPr>
          <a:xfrm>
            <a:off x="6125424" y="3735735"/>
            <a:ext cx="253136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Delivered Orders % by Month</a:t>
            </a:r>
          </a:p>
          <a:p>
            <a:pPr>
              <a:buClr>
                <a:schemeClr val="accent4"/>
              </a:buClr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monthly delivery success rates and efficiency trends.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BCC064-1A4E-58CE-CFAE-BFDC4D52FDB6}"/>
              </a:ext>
            </a:extLst>
          </p:cNvPr>
          <p:cNvSpPr txBox="1"/>
          <p:nvPr/>
        </p:nvSpPr>
        <p:spPr>
          <a:xfrm>
            <a:off x="9262829" y="2073890"/>
            <a:ext cx="243234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Quantity by City &amp; Fulfilment</a:t>
            </a:r>
            <a:r>
              <a:rPr lang="en-IN" sz="2000" b="1" dirty="0">
                <a:solidFill>
                  <a:schemeClr val="bg1"/>
                </a:solidFill>
                <a:latin typeface="Book Antiqua" panose="02040602050305030304" pitchFamily="18" charset="0"/>
              </a:rPr>
              <a:t> 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city-wise fulfilment volume for operational planning.</a:t>
            </a:r>
            <a:endParaRPr lang="en-IN" sz="18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3959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03832-DBC8-1FA4-FDBF-EA909FB59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18DD4C-5159-8C20-431C-537F69313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65CE38D-4C72-545E-8C27-3B77DD53430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81" y="95250"/>
            <a:ext cx="12059437" cy="66675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B151D4-A9A6-F35F-C0D5-45662AAE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14" y="2431587"/>
            <a:ext cx="5400000" cy="3070899"/>
          </a:xfrm>
          <a:prstGeom prst="roundRect">
            <a:avLst>
              <a:gd name="adj" fmla="val 6802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F7C8B0-15DE-05EA-8C8D-9187698FD5FC}"/>
              </a:ext>
            </a:extLst>
          </p:cNvPr>
          <p:cNvSpPr txBox="1"/>
          <p:nvPr/>
        </p:nvSpPr>
        <p:spPr>
          <a:xfrm>
            <a:off x="481011" y="340937"/>
            <a:ext cx="11229975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Regional:</a:t>
            </a:r>
            <a:br>
              <a:rPr lang="en-IN" sz="20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Delivery page focuses on </a:t>
            </a:r>
            <a:r>
              <a:rPr lang="en-IN" sz="1600" dirty="0" err="1">
                <a:solidFill>
                  <a:schemeClr val="bg1"/>
                </a:solidFill>
                <a:latin typeface="Book Antiqua" panose="02040602050305030304" pitchFamily="18" charset="0"/>
              </a:rPr>
              <a:t>analyzing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shipment performance and fulfilment efficiency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stakeholders:</a:t>
            </a:r>
            <a:endParaRPr lang="en-IN" sz="20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A67FC9-80C1-D323-EE56-89A7F231E650}"/>
              </a:ext>
            </a:extLst>
          </p:cNvPr>
          <p:cNvSpPr txBox="1"/>
          <p:nvPr/>
        </p:nvSpPr>
        <p:spPr>
          <a:xfrm>
            <a:off x="950121" y="1203434"/>
            <a:ext cx="1001110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Amazon (FBA)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and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Merchant (FBM)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delivery effectiveness</a:t>
            </a:r>
          </a:p>
          <a:p>
            <a:pPr marL="285750" indent="-285750"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Identify </a:t>
            </a:r>
            <a:r>
              <a:rPr lang="en-IN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operational bottlenecks</a:t>
            </a: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 and improve customer experience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7E38D0-023F-4F1A-7D28-4A722927632F}"/>
              </a:ext>
            </a:extLst>
          </p:cNvPr>
          <p:cNvSpPr txBox="1"/>
          <p:nvPr/>
        </p:nvSpPr>
        <p:spPr>
          <a:xfrm>
            <a:off x="6097519" y="1959226"/>
            <a:ext cx="268388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Delivery Efficiency Table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order-wise delivery details for performance monitoring.</a:t>
            </a:r>
            <a:endParaRPr lang="en-US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0C9D4F-3D71-E3E9-ABB3-CFEE42D07719}"/>
              </a:ext>
            </a:extLst>
          </p:cNvPr>
          <p:cNvSpPr txBox="1"/>
          <p:nvPr/>
        </p:nvSpPr>
        <p:spPr>
          <a:xfrm>
            <a:off x="6095998" y="3747246"/>
            <a:ext cx="268540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Delivery Status Overview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the proportion of delivered, returned, and pending orders.</a:t>
            </a:r>
            <a:endParaRPr lang="en-US" sz="1600" dirty="0">
              <a:solidFill>
                <a:schemeClr val="accent4"/>
              </a:solidFill>
              <a:latin typeface="Book Antiqua" panose="0204060205030503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F31128-9E0C-F65B-A207-F57AB8B758CE}"/>
              </a:ext>
            </a:extLst>
          </p:cNvPr>
          <p:cNvSpPr txBox="1"/>
          <p:nvPr/>
        </p:nvSpPr>
        <p:spPr>
          <a:xfrm>
            <a:off x="9287334" y="1957767"/>
            <a:ext cx="250155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Monthly Delivery Trend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delivery performance and timeliness over time</a:t>
            </a:r>
            <a:r>
              <a:rPr lang="en-US" sz="18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20AB82-7C38-C710-E2E1-2E7E5964A9D0}"/>
              </a:ext>
            </a:extLst>
          </p:cNvPr>
          <p:cNvSpPr txBox="1"/>
          <p:nvPr/>
        </p:nvSpPr>
        <p:spPr>
          <a:xfrm>
            <a:off x="6751560" y="5531997"/>
            <a:ext cx="463854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Avg Delivery Time by Fulfilment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average delivery duration between FBA and FBM.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B1C782D-DDD1-5673-5641-CE41334D7DD7}"/>
              </a:ext>
            </a:extLst>
          </p:cNvPr>
          <p:cNvSpPr txBox="1"/>
          <p:nvPr/>
        </p:nvSpPr>
        <p:spPr>
          <a:xfrm>
            <a:off x="9287334" y="3747246"/>
            <a:ext cx="250155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5 States by Delivery Count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states with the highest delivery volumes.</a:t>
            </a:r>
          </a:p>
        </p:txBody>
      </p:sp>
    </p:spTree>
    <p:extLst>
      <p:ext uri="{BB962C8B-B14F-4D97-AF65-F5344CB8AC3E}">
        <p14:creationId xmlns:p14="http://schemas.microsoft.com/office/powerpoint/2010/main" val="1501584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BE2A5-6713-58DD-D123-E7F7AA1DB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701443-4248-5D90-2EC2-8273C08FD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5AFAA0-11A8-835D-4467-9FA58A24325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98" y="57150"/>
            <a:ext cx="12076604" cy="67246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D8ECFA-BC20-322D-6C83-0F18B6533F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235" y="2765868"/>
            <a:ext cx="5400000" cy="3066534"/>
          </a:xfrm>
          <a:prstGeom prst="roundRect">
            <a:avLst>
              <a:gd name="adj" fmla="val 7649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BA8B703-015E-4E11-1B5E-9CD05BEB163D}"/>
              </a:ext>
            </a:extLst>
          </p:cNvPr>
          <p:cNvSpPr txBox="1"/>
          <p:nvPr/>
        </p:nvSpPr>
        <p:spPr>
          <a:xfrm>
            <a:off x="640552" y="495211"/>
            <a:ext cx="1126979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Promotion:</a:t>
            </a:r>
            <a:br>
              <a:rPr lang="en-US" dirty="0"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Promotion page focuses on evaluating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sales performance influenced by promotional offers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stakeholders:</a:t>
            </a:r>
            <a:endParaRPr lang="en-IN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A4846A-CFAA-F9DF-87DC-06B5215F4688}"/>
              </a:ext>
            </a:extLst>
          </p:cNvPr>
          <p:cNvSpPr txBox="1"/>
          <p:nvPr/>
        </p:nvSpPr>
        <p:spPr>
          <a:xfrm>
            <a:off x="1035922" y="1405833"/>
            <a:ext cx="89993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Identify top-performing promotions and their contribution to revenue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 organic vs promotional sales to assess marketing effectiveness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84CAB0-F6ED-6D27-DEB4-36B95E2CDCCD}"/>
              </a:ext>
            </a:extLst>
          </p:cNvPr>
          <p:cNvSpPr txBox="1"/>
          <p:nvPr/>
        </p:nvSpPr>
        <p:spPr>
          <a:xfrm>
            <a:off x="640552" y="2129108"/>
            <a:ext cx="242049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Promotion Type % by Qty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the share of orders made with and without promotions.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5D1E5D-2B4F-1E76-AF66-8CEA0225FA83}"/>
              </a:ext>
            </a:extLst>
          </p:cNvPr>
          <p:cNvSpPr txBox="1"/>
          <p:nvPr/>
        </p:nvSpPr>
        <p:spPr>
          <a:xfrm>
            <a:off x="1428375" y="5635905"/>
            <a:ext cx="4414391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Total Sales by Promotion Type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total revenue generated under each promotion type.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FFB202-6E87-E9B0-8682-61067AFB086A}"/>
              </a:ext>
            </a:extLst>
          </p:cNvPr>
          <p:cNvSpPr txBox="1"/>
          <p:nvPr/>
        </p:nvSpPr>
        <p:spPr>
          <a:xfrm>
            <a:off x="3952562" y="3754112"/>
            <a:ext cx="2550704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Top 5 Promotion IDs by Qty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the best-performing promotions by order volume.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F51B65-3581-A8DE-AEBA-2C9FF04A8E5D}"/>
              </a:ext>
            </a:extLst>
          </p:cNvPr>
          <p:cNvSpPr txBox="1"/>
          <p:nvPr/>
        </p:nvSpPr>
        <p:spPr>
          <a:xfrm>
            <a:off x="703444" y="3759396"/>
            <a:ext cx="2420493" cy="16927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Sales by Size &amp; Qty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how sales vary across product sizes during promotional periods.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598DD3-39DE-AD05-328A-E46E2D8B2909}"/>
              </a:ext>
            </a:extLst>
          </p:cNvPr>
          <p:cNvSpPr txBox="1"/>
          <p:nvPr/>
        </p:nvSpPr>
        <p:spPr>
          <a:xfrm>
            <a:off x="3958359" y="2129108"/>
            <a:ext cx="2499971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lr>
                <a:schemeClr val="accent4"/>
              </a:buClr>
            </a:pPr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Sales by Month &amp; Promotion Type</a:t>
            </a:r>
          </a:p>
          <a:p>
            <a:pPr>
              <a:buClr>
                <a:schemeClr val="accent4"/>
              </a:buClr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Tracks monthly trends for promotional vs non-promotional sales.</a:t>
            </a:r>
          </a:p>
        </p:txBody>
      </p:sp>
    </p:spTree>
    <p:extLst>
      <p:ext uri="{BB962C8B-B14F-4D97-AF65-F5344CB8AC3E}">
        <p14:creationId xmlns:p14="http://schemas.microsoft.com/office/powerpoint/2010/main" val="41742101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B06F7-474E-50F2-0B22-5A8CBFD1E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A139C7B-AA3E-E731-5236-85E9399BD4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6BEF7A6-C689-5EE2-356E-8497802FB6C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46" y="231647"/>
            <a:ext cx="12106908" cy="673417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1570507-C8C5-77BC-A049-A04E96CA6E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4757" y="2726503"/>
            <a:ext cx="5400000" cy="3058848"/>
          </a:xfrm>
          <a:prstGeom prst="roundRect">
            <a:avLst>
              <a:gd name="adj" fmla="val 7585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B6C8FA-8187-EE5D-1330-66DBEDB8F465}"/>
              </a:ext>
            </a:extLst>
          </p:cNvPr>
          <p:cNvSpPr txBox="1"/>
          <p:nvPr/>
        </p:nvSpPr>
        <p:spPr>
          <a:xfrm>
            <a:off x="651558" y="401046"/>
            <a:ext cx="1088888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Purpose:</a:t>
            </a:r>
            <a:br>
              <a:rPr lang="en-US" sz="1600" dirty="0"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The Forecasting page focuses on analyzing </a:t>
            </a:r>
            <a:r>
              <a:rPr lang="en-US" sz="1600" b="1" dirty="0">
                <a:solidFill>
                  <a:schemeClr val="bg1"/>
                </a:solidFill>
                <a:latin typeface="Book Antiqua" panose="02040602050305030304" pitchFamily="18" charset="0"/>
              </a:rPr>
              <a:t>historical sales trends and predicting future performance</a:t>
            </a: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.</a:t>
            </a:r>
            <a:b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</a:b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It helps stakeholders:</a:t>
            </a:r>
            <a:endParaRPr lang="en-IN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900E26-E61B-CFDD-802B-543FCDF2C8E6}"/>
              </a:ext>
            </a:extLst>
          </p:cNvPr>
          <p:cNvSpPr txBox="1"/>
          <p:nvPr/>
        </p:nvSpPr>
        <p:spPr>
          <a:xfrm>
            <a:off x="912519" y="1267501"/>
            <a:ext cx="63112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Understand past sales patterns and seasonality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Identify peak and low-demand months</a:t>
            </a: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§"/>
            </a:pPr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Plan inventory, marketing, and operational strategies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FCEEA5-EC95-CC33-983D-ED77CE531C64}"/>
              </a:ext>
            </a:extLst>
          </p:cNvPr>
          <p:cNvSpPr txBox="1"/>
          <p:nvPr/>
        </p:nvSpPr>
        <p:spPr>
          <a:xfrm>
            <a:off x="651558" y="2423891"/>
            <a:ext cx="274086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Sales by Shipping Type &amp; Month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Displays monthly sales distribution by shipping type to optimize delivery.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64533B-65A7-07F8-B5E9-814D51281B96}"/>
              </a:ext>
            </a:extLst>
          </p:cNvPr>
          <p:cNvSpPr txBox="1"/>
          <p:nvPr/>
        </p:nvSpPr>
        <p:spPr>
          <a:xfrm>
            <a:off x="3897384" y="2418078"/>
            <a:ext cx="274086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Category Wise Monthly Trend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Highlights monthly sales of each product category to spot seasonal demand.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2D0B7A-7B83-27C7-3711-22B1412F9622}"/>
              </a:ext>
            </a:extLst>
          </p:cNvPr>
          <p:cNvSpPr txBox="1"/>
          <p:nvPr/>
        </p:nvSpPr>
        <p:spPr>
          <a:xfrm>
            <a:off x="3897385" y="4235389"/>
            <a:ext cx="274086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Fulfilment Type Trend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Compares FBA vs FBM sales per month to assess operational efficiency.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DE8F78-5A85-52A7-DD9B-8FFDDE046483}"/>
              </a:ext>
            </a:extLst>
          </p:cNvPr>
          <p:cNvSpPr txBox="1"/>
          <p:nvPr/>
        </p:nvSpPr>
        <p:spPr>
          <a:xfrm>
            <a:off x="651559" y="4239622"/>
            <a:ext cx="274086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chemeClr val="accent4"/>
                </a:solidFill>
                <a:latin typeface="Book Antiqua" panose="02040602050305030304" pitchFamily="18" charset="0"/>
              </a:rPr>
              <a:t>Business To Business Trend</a:t>
            </a:r>
          </a:p>
          <a:p>
            <a:r>
              <a:rPr lang="en-US" sz="1600" dirty="0">
                <a:solidFill>
                  <a:schemeClr val="bg1"/>
                </a:solidFill>
                <a:latin typeface="Book Antiqua" panose="02040602050305030304" pitchFamily="18" charset="0"/>
              </a:rPr>
              <a:t>Shows revenue contribution from B2B vs B2C orders for segment planning.</a:t>
            </a:r>
          </a:p>
        </p:txBody>
      </p:sp>
    </p:spTree>
    <p:extLst>
      <p:ext uri="{BB962C8B-B14F-4D97-AF65-F5344CB8AC3E}">
        <p14:creationId xmlns:p14="http://schemas.microsoft.com/office/powerpoint/2010/main" val="18374214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4FF13-A281-2D32-6962-A7D06630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F61AB8-4F67-AA2F-E9A2-FDAA0EA80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8F10DCE-971B-BC1C-1DA8-B04641021FC1}"/>
              </a:ext>
            </a:extLst>
          </p:cNvPr>
          <p:cNvSpPr txBox="1"/>
          <p:nvPr/>
        </p:nvSpPr>
        <p:spPr>
          <a:xfrm>
            <a:off x="5286447" y="2459504"/>
            <a:ext cx="6619041" cy="1938992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Key Insights &amp; Findings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E9FC07DD-8E27-EBC5-2BC3-8F66E97BD75B}"/>
              </a:ext>
            </a:extLst>
          </p:cNvPr>
          <p:cNvSpPr/>
          <p:nvPr/>
        </p:nvSpPr>
        <p:spPr>
          <a:xfrm>
            <a:off x="7777996" y="1224792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18036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76B65-3565-5843-5FAA-4DD0549C0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12D6E3-20BE-3532-99A4-F76EBD8893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A907C41-1CAA-87CA-5FF4-BDEE4C8DDC8E}"/>
              </a:ext>
            </a:extLst>
          </p:cNvPr>
          <p:cNvSpPr txBox="1"/>
          <p:nvPr/>
        </p:nvSpPr>
        <p:spPr>
          <a:xfrm>
            <a:off x="880110" y="1536174"/>
            <a:ext cx="609447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Overall Performance: Quick access to total sales, orders, quantity sold, and average order value for a complete business snapshot. (Home Page)</a:t>
            </a:r>
          </a:p>
          <a:p>
            <a:pPr>
              <a:buClr>
                <a:schemeClr val="accent4"/>
              </a:buClr>
            </a:pPr>
            <a:endParaRPr lang="en-IN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Top Product Categories &amp; SKUs: Identify best-selling categories and SKUs to focus on revenue-driving products. (Overview &amp; Product Pages)</a:t>
            </a:r>
          </a:p>
          <a:p>
            <a:pPr>
              <a:buClr>
                <a:schemeClr val="accent4"/>
              </a:buClr>
            </a:pPr>
            <a:endParaRPr lang="en-IN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Fulfilment Efficiency: Understand FBA vs FBM contribution, delivered order percentages, and city-wise fulfilment distribution. (Fulfilment Page)</a:t>
            </a:r>
          </a:p>
          <a:p>
            <a:pPr>
              <a:buClr>
                <a:schemeClr val="accent4"/>
              </a:buClr>
            </a:pPr>
            <a:endParaRPr lang="en-IN" sz="1600" dirty="0">
              <a:solidFill>
                <a:schemeClr val="bg1"/>
              </a:solidFill>
              <a:latin typeface="Book Antiqua" panose="02040602050305030304" pitchFamily="18" charset="0"/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</a:pPr>
            <a:r>
              <a:rPr lang="en-IN" sz="1600" dirty="0">
                <a:solidFill>
                  <a:schemeClr val="bg1"/>
                </a:solidFill>
                <a:latin typeface="Book Antiqua" panose="02040602050305030304" pitchFamily="18" charset="0"/>
              </a:rPr>
              <a:t>Regional Insights: Detect high-performing and underperforming states/cities for targeted marketing, inventory, and logistics planning. (Region Page)</a:t>
            </a:r>
          </a:p>
        </p:txBody>
      </p:sp>
    </p:spTree>
    <p:extLst>
      <p:ext uri="{BB962C8B-B14F-4D97-AF65-F5344CB8AC3E}">
        <p14:creationId xmlns:p14="http://schemas.microsoft.com/office/powerpoint/2010/main" val="3178024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87BA6-FEEA-01C2-26AD-C03BBA655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87DAE1-FED0-4111-15D5-DECC38A8F6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366EA25-5CA3-94DB-AC5C-F3EDDBD7632D}"/>
              </a:ext>
            </a:extLst>
          </p:cNvPr>
          <p:cNvSpPr txBox="1"/>
          <p:nvPr/>
        </p:nvSpPr>
        <p:spPr>
          <a:xfrm>
            <a:off x="852678" y="1659285"/>
            <a:ext cx="609447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buClr>
                <a:schemeClr val="accent4"/>
              </a:buClr>
              <a:buFont typeface="Wingdings" panose="05000000000000000000" pitchFamily="2" charset="2"/>
              <a:buChar char="ü"/>
              <a:defRPr sz="1600">
                <a:solidFill>
                  <a:schemeClr val="bg1"/>
                </a:solidFill>
                <a:latin typeface="Book Antiqua" panose="02040602050305030304" pitchFamily="18" charset="0"/>
              </a:defRPr>
            </a:lvl1pPr>
          </a:lstStyle>
          <a:p>
            <a:r>
              <a:rPr lang="en-US" dirty="0"/>
              <a:t>Promotion Impact: Evaluate organic vs promotional sales and determine top-performing promotions. (Promotion Page)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Sales Trends &amp; Seasonality: Track monthly sales growth, peaks, and dips to anticipate demand. (Overview &amp; Forecasting Pages)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Category &amp; Size Trends: Analyze size-specific and category-specific demand patterns to optimize production and inventory. (Product &amp; Promotion Pages)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Forecasting &amp; Planning: Leverage historical trends and predicted sales to plan marketing, stock, logistics, and operational strategies. (Forecasting Page)</a:t>
            </a:r>
          </a:p>
        </p:txBody>
      </p:sp>
    </p:spTree>
    <p:extLst>
      <p:ext uri="{BB962C8B-B14F-4D97-AF65-F5344CB8AC3E}">
        <p14:creationId xmlns:p14="http://schemas.microsoft.com/office/powerpoint/2010/main" val="3515567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880B8-3D42-B523-C0F5-E4DA1A56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0E622A-1412-CB91-236F-6FB894189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4C2F60-C38A-EAD9-54CA-BA822FEE44BA}"/>
              </a:ext>
            </a:extLst>
          </p:cNvPr>
          <p:cNvSpPr txBox="1"/>
          <p:nvPr/>
        </p:nvSpPr>
        <p:spPr>
          <a:xfrm>
            <a:off x="5001769" y="2459504"/>
            <a:ext cx="689457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Tools &amp; Technologies Used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B9EB6B21-BE5D-EC3D-495B-4124D5D990EF}"/>
              </a:ext>
            </a:extLst>
          </p:cNvPr>
          <p:cNvSpPr/>
          <p:nvPr/>
        </p:nvSpPr>
        <p:spPr>
          <a:xfrm>
            <a:off x="7909057" y="1179072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861874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7483-F312-7C73-57AC-33D66AF63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5BC302-F552-280C-CF6F-AD15936F35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" y="-9144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25385A5-6169-4D84-F4EE-5325C3A19509}"/>
              </a:ext>
            </a:extLst>
          </p:cNvPr>
          <p:cNvSpPr txBox="1"/>
          <p:nvPr/>
        </p:nvSpPr>
        <p:spPr>
          <a:xfrm>
            <a:off x="880110" y="1859339"/>
            <a:ext cx="6094476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chemeClr val="bg1"/>
                </a:solidFill>
              </a:rPr>
              <a:t>Microsoft Power BI Desktop – </a:t>
            </a:r>
            <a:r>
              <a:rPr lang="en-IN" dirty="0">
                <a:solidFill>
                  <a:schemeClr val="bg1"/>
                </a:solidFill>
              </a:rPr>
              <a:t>To design and build interactive reports and dashboards.</a:t>
            </a:r>
          </a:p>
          <a:p>
            <a:pPr>
              <a:buClr>
                <a:schemeClr val="accent4"/>
              </a:buClr>
            </a:pPr>
            <a:endParaRPr lang="en-IN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chemeClr val="bg1"/>
                </a:solidFill>
              </a:rPr>
              <a:t>Power Query Editor – </a:t>
            </a:r>
            <a:r>
              <a:rPr lang="en-IN" dirty="0">
                <a:solidFill>
                  <a:schemeClr val="bg1"/>
                </a:solidFill>
              </a:rPr>
              <a:t>For data cleaning, transformation, and shaping before analysis.</a:t>
            </a:r>
          </a:p>
          <a:p>
            <a:pPr>
              <a:buClr>
                <a:schemeClr val="accent4"/>
              </a:buClr>
            </a:pPr>
            <a:endParaRPr lang="en-IN" b="1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chemeClr val="bg1"/>
                </a:solidFill>
              </a:rPr>
              <a:t>DAX (Data Analysis Expressions) – </a:t>
            </a:r>
            <a:r>
              <a:rPr lang="en-IN" dirty="0">
                <a:solidFill>
                  <a:schemeClr val="bg1"/>
                </a:solidFill>
              </a:rPr>
              <a:t>To calculate KPIs, percentages, and trends for insightful visualizations.</a:t>
            </a:r>
          </a:p>
          <a:p>
            <a:pPr>
              <a:buClr>
                <a:schemeClr val="accent4"/>
              </a:buClr>
            </a:pPr>
            <a:endParaRPr lang="en-IN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accent4"/>
              </a:buClr>
              <a:buFont typeface="Wingdings" panose="05000000000000000000" pitchFamily="2" charset="2"/>
              <a:buChar char="q"/>
            </a:pPr>
            <a:r>
              <a:rPr lang="en-IN" b="1" dirty="0">
                <a:solidFill>
                  <a:schemeClr val="bg1"/>
                </a:solidFill>
              </a:rPr>
              <a:t>Excel / CSV Dataset – </a:t>
            </a:r>
            <a:r>
              <a:rPr lang="en-IN" dirty="0">
                <a:solidFill>
                  <a:schemeClr val="bg1"/>
                </a:solidFill>
              </a:rPr>
              <a:t>Source of Amazon sales data for analysis and reporting.</a:t>
            </a:r>
          </a:p>
        </p:txBody>
      </p:sp>
    </p:spTree>
    <p:extLst>
      <p:ext uri="{BB962C8B-B14F-4D97-AF65-F5344CB8AC3E}">
        <p14:creationId xmlns:p14="http://schemas.microsoft.com/office/powerpoint/2010/main" val="25176033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ED073-6E6F-257F-B9D4-98DB583D1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0523D1-D0A1-BCEB-63DE-7E4A361DEB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AC89C10-75BE-938B-5DA9-AD026AB79BBC}"/>
              </a:ext>
            </a:extLst>
          </p:cNvPr>
          <p:cNvSpPr txBox="1"/>
          <p:nvPr/>
        </p:nvSpPr>
        <p:spPr>
          <a:xfrm>
            <a:off x="6309361" y="2921168"/>
            <a:ext cx="4269898" cy="101566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IN" sz="60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Conclusion</a:t>
            </a:r>
          </a:p>
        </p:txBody>
      </p:sp>
      <p:sp>
        <p:nvSpPr>
          <p:cNvPr id="4" name="Flowchart: Connector 3">
            <a:extLst>
              <a:ext uri="{FF2B5EF4-FFF2-40B4-BE49-F238E27FC236}">
                <a16:creationId xmlns:a16="http://schemas.microsoft.com/office/drawing/2014/main" id="{30119855-C3F2-140A-F86D-A3B12B8B0E08}"/>
              </a:ext>
            </a:extLst>
          </p:cNvPr>
          <p:cNvSpPr/>
          <p:nvPr/>
        </p:nvSpPr>
        <p:spPr>
          <a:xfrm>
            <a:off x="7732275" y="1727712"/>
            <a:ext cx="1080000" cy="1080000"/>
          </a:xfrm>
          <a:prstGeom prst="flowChartConnector">
            <a:avLst/>
          </a:prstGeom>
          <a:noFill/>
          <a:ln w="28575">
            <a:solidFill>
              <a:schemeClr val="accent4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3600" b="1" dirty="0">
                <a:solidFill>
                  <a:schemeClr val="accent4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ook Antiqua" panose="02040602050305030304" pitchFamily="18" charset="0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2779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E4991-7D9B-1741-4130-A4297AD80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E7F428B-3A37-7553-AE95-536C077259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522F6B8-9829-4BC5-1E41-97FEA86825B7}"/>
              </a:ext>
            </a:extLst>
          </p:cNvPr>
          <p:cNvSpPr txBox="1"/>
          <p:nvPr/>
        </p:nvSpPr>
        <p:spPr>
          <a:xfrm>
            <a:off x="1316736" y="889843"/>
            <a:ext cx="932688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The </a:t>
            </a:r>
            <a:r>
              <a:rPr lang="en-US" b="1" dirty="0"/>
              <a:t>Amazon Sales Dashboard</a:t>
            </a:r>
            <a:r>
              <a:rPr lang="en-US" dirty="0"/>
              <a:t> provides a comprehensive, interactive, and visually intuitive way to analyze Amazon sales data. It enables stakeholders to: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Quickly understand </a:t>
            </a:r>
            <a:r>
              <a:rPr lang="en-US" b="1" dirty="0"/>
              <a:t>overall sales performance</a:t>
            </a:r>
            <a:r>
              <a:rPr lang="en-US" dirty="0"/>
              <a:t> through high-level KPIs and monthly trends.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Identify </a:t>
            </a:r>
            <a:r>
              <a:rPr lang="en-US" b="1" dirty="0"/>
              <a:t>top-performing product categories, SKUs, and sizes</a:t>
            </a:r>
            <a:r>
              <a:rPr lang="en-US" dirty="0"/>
              <a:t>, aiding inventory, marketing, and sales planning.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Evaluate </a:t>
            </a:r>
            <a:r>
              <a:rPr lang="en-US" b="1" dirty="0"/>
              <a:t>fulfilment efficiency</a:t>
            </a:r>
            <a:r>
              <a:rPr lang="en-US" dirty="0"/>
              <a:t> by comparing Amazon FBA vs Merchant FBM operations, delivery success rates, and city-wise performance.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Analyze </a:t>
            </a:r>
            <a:r>
              <a:rPr lang="en-US" b="1" dirty="0"/>
              <a:t>regional sales trends</a:t>
            </a:r>
            <a:r>
              <a:rPr lang="en-US" dirty="0"/>
              <a:t>, highlighting high-performing and underperforming states and cities for data-driven strategy.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Measure the </a:t>
            </a:r>
            <a:r>
              <a:rPr lang="en-US" b="1" dirty="0"/>
              <a:t>impact of promotions</a:t>
            </a:r>
            <a:r>
              <a:rPr lang="en-US" dirty="0"/>
              <a:t>, distinguishing organic vs promotional sales and identifying effective campaigns.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Forecast </a:t>
            </a:r>
            <a:r>
              <a:rPr lang="en-US" b="1" dirty="0"/>
              <a:t>future sales patterns</a:t>
            </a:r>
            <a:r>
              <a:rPr lang="en-US" dirty="0"/>
              <a:t> using historical trends, enabling stakeholders to plan marketing, inventory, and logistics proactively.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Leverage </a:t>
            </a:r>
            <a:r>
              <a:rPr lang="en-US" b="1" dirty="0"/>
              <a:t>interactive filters and slicers</a:t>
            </a:r>
            <a:r>
              <a:rPr lang="en-US" dirty="0"/>
              <a:t> (Category, Date, City, Month, Status, Size, Order Status Group, B2B) for customized insights in real-time.</a:t>
            </a:r>
          </a:p>
          <a:p>
            <a:pPr>
              <a:buNone/>
            </a:pPr>
            <a:r>
              <a:rPr lang="en-US" dirty="0"/>
              <a:t>Overall, the dashboard empowers </a:t>
            </a:r>
            <a:r>
              <a:rPr lang="en-US" b="1" dirty="0"/>
              <a:t>data-driven decision-making</a:t>
            </a:r>
            <a:r>
              <a:rPr lang="en-US" dirty="0"/>
              <a:t>, improves operational efficiency, supports strategic planning, and provides actionable insights to maximize revenue and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998394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DDD13-7266-6749-65BD-F83E56713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2BBC62-B2A2-5678-45FC-B05CF30525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0731244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2007</Words>
  <Application>Microsoft Office PowerPoint</Application>
  <PresentationFormat>Widescreen</PresentationFormat>
  <Paragraphs>198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Book Antiqua</vt:lpstr>
      <vt:lpstr>Bookman Old Style</vt:lpstr>
      <vt:lpstr>Calibri</vt:lpstr>
      <vt:lpstr>Calibri Light</vt:lpstr>
      <vt:lpstr>Wingdings</vt:lpstr>
      <vt:lpstr>Office Theme</vt:lpstr>
      <vt:lpstr>Amazon Sales Dashboard – Power BI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Prafull Wahatule</dc:creator>
  <cp:lastModifiedBy>Prafull Wahatule</cp:lastModifiedBy>
  <cp:revision>165</cp:revision>
  <dcterms:created xsi:type="dcterms:W3CDTF">2025-11-08T08:24:55Z</dcterms:created>
  <dcterms:modified xsi:type="dcterms:W3CDTF">2025-11-10T04:36:05Z</dcterms:modified>
</cp:coreProperties>
</file>