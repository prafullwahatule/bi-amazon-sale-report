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2" r:id="rId5"/>
    <p:sldId id="258" r:id="rId6"/>
    <p:sldId id="260" r:id="rId7"/>
    <p:sldId id="261" r:id="rId8"/>
    <p:sldId id="263" r:id="rId9"/>
    <p:sldId id="265" r:id="rId10"/>
    <p:sldId id="269" r:id="rId11"/>
    <p:sldId id="270" r:id="rId12"/>
    <p:sldId id="282" r:id="rId13"/>
    <p:sldId id="266" r:id="rId14"/>
    <p:sldId id="268" r:id="rId15"/>
    <p:sldId id="267" r:id="rId16"/>
    <p:sldId id="271" r:id="rId17"/>
    <p:sldId id="284" r:id="rId18"/>
    <p:sldId id="283" r:id="rId19"/>
    <p:sldId id="272" r:id="rId20"/>
    <p:sldId id="285" r:id="rId21"/>
    <p:sldId id="287" r:id="rId22"/>
    <p:sldId id="286" r:id="rId23"/>
    <p:sldId id="273" r:id="rId24"/>
    <p:sldId id="274" r:id="rId25"/>
    <p:sldId id="288" r:id="rId26"/>
    <p:sldId id="275" r:id="rId27"/>
    <p:sldId id="276" r:id="rId28"/>
    <p:sldId id="279" r:id="rId29"/>
    <p:sldId id="280" r:id="rId30"/>
    <p:sldId id="278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9822"/>
    <a:srgbClr val="E89D06"/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09-11-2025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Amazon Sales Dashboard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– </a:t>
            </a:r>
            <a:r>
              <a:rPr lang="en-US" sz="3600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anose="0205060405050502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1088-18BE-5D3C-1B7A-ED3D05CCDA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5232" y="6574536"/>
            <a:ext cx="3096768" cy="283464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IN" sz="1800" dirty="0">
                <a:solidFill>
                  <a:schemeClr val="bg1"/>
                </a:solidFill>
                <a:latin typeface="Bookman Old Style" panose="02050604050505020204" pitchFamily="18" charset="0"/>
              </a:rPr>
              <a:t>Guided By: Abhishek </a:t>
            </a:r>
            <a:r>
              <a:rPr lang="en-IN" sz="1800" dirty="0" err="1">
                <a:solidFill>
                  <a:schemeClr val="bg1"/>
                </a:solidFill>
                <a:latin typeface="Bookman Old Style" panose="02050604050505020204" pitchFamily="18" charset="0"/>
              </a:rPr>
              <a:t>Wahaval</a:t>
            </a:r>
            <a:endParaRPr lang="en-IN" sz="1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Project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894787"/>
            <a:chOff x="1533525" y="2079179"/>
            <a:chExt cx="9586722" cy="289478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Content</a:t>
            </a:r>
          </a:p>
          <a:p>
            <a:pPr algn="ctr"/>
            <a:r>
              <a:rPr lang="en-IN" sz="6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683114"/>
            <a:chOff x="1307591" y="2079179"/>
            <a:chExt cx="8786622" cy="368311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5" y="2079179"/>
              <a:ext cx="7996428" cy="3051290"/>
              <a:chOff x="1577340" y="2181955"/>
              <a:chExt cx="9027333" cy="3051290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man Old Style" panose="020506040505050202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1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Data Cleaning &amp; Transformation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Exploratory Data Analysis (EDA)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/>
                  <a:t>Tools &amp; Technologies Used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1" y="22693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36713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36714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36714" y="2287067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02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493B2B9-BED8-DC61-A72F-B53B8B2A5E7C}"/>
              </a:ext>
            </a:extLst>
          </p:cNvPr>
          <p:cNvSpPr txBox="1"/>
          <p:nvPr/>
        </p:nvSpPr>
        <p:spPr>
          <a:xfrm>
            <a:off x="2492882" y="5465787"/>
            <a:ext cx="2227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solidFill>
                  <a:schemeClr val="bg1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IN" sz="24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920620"/>
            <a:ext cx="5626608" cy="501675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68312" y="1473707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4E86-DBDB-127A-0BCE-B036AED9E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27382-C293-AF6B-97F1-7C9E4FFBE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BB38B-68D9-AAF3-6DBC-5454B031426F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Data Cleaning &amp; Transformation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2780D173-A3D4-9BAF-8B9F-36656E12F418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161A4-DC5E-14EA-69C5-80ACA57E7E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5133" y="2189527"/>
            <a:ext cx="3719747" cy="247894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>
                <a:lumMod val="95000"/>
              </a:schemeClr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6471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2B8DF-5074-C0AA-0770-79D8A6711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67478F-4CFE-ED12-CB18-53805324BB7B}"/>
              </a:ext>
            </a:extLst>
          </p:cNvPr>
          <p:cNvSpPr txBox="1"/>
          <p:nvPr/>
        </p:nvSpPr>
        <p:spPr>
          <a:xfrm>
            <a:off x="498348" y="751011"/>
            <a:ext cx="1119530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raw Amazon sales dataset underwent multiple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cleaning and transformation steps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in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Power Query Editor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to ensure data accuracy, consistency, and readiness for analysis.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Each step was carefully applied to remove unnecessary data, fix quality issues, and enhance analytical usability.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777C2-E910-F809-26CF-DF6A0F7FB250}"/>
              </a:ext>
            </a:extLst>
          </p:cNvPr>
          <p:cNvSpPr txBox="1"/>
          <p:nvPr/>
        </p:nvSpPr>
        <p:spPr>
          <a:xfrm>
            <a:off x="498348" y="2670298"/>
            <a:ext cx="36621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Key Cleaning Steps: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3E613-BB1C-B99D-0131-9C9AD2D9EE0E}"/>
              </a:ext>
            </a:extLst>
          </p:cNvPr>
          <p:cNvSpPr txBox="1"/>
          <p:nvPr/>
        </p:nvSpPr>
        <p:spPr>
          <a:xfrm>
            <a:off x="1520190" y="3282696"/>
            <a:ext cx="578586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Loaded Raw Data:</a:t>
            </a:r>
          </a:p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Imported the CSV file containing 1,28,975 rows and 24 columns.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65F09-B4B6-D396-59AC-F3501250DA37}"/>
              </a:ext>
            </a:extLst>
          </p:cNvPr>
          <p:cNvSpPr txBox="1"/>
          <p:nvPr/>
        </p:nvSpPr>
        <p:spPr>
          <a:xfrm>
            <a:off x="1520190" y="4468082"/>
            <a:ext cx="6094476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Removed Unnecessary Columns:</a:t>
            </a:r>
            <a:br>
              <a:rPr lang="en-US" sz="2000" dirty="0">
                <a:solidFill>
                  <a:srgbClr val="E89D06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Dropped irrelevant fields such as index, Style, ASIN, ship-postal-code, Unnamed: 22, Sales Channel, Currency, and Country to keep only relevant business attributes.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9C0A64-CF67-F558-A1AB-B8600F77826B}"/>
              </a:ext>
            </a:extLst>
          </p:cNvPr>
          <p:cNvSpPr txBox="1"/>
          <p:nvPr/>
        </p:nvSpPr>
        <p:spPr>
          <a:xfrm>
            <a:off x="905256" y="3279542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CF6001-64FF-A88E-FF5E-C4A4945EAA96}"/>
              </a:ext>
            </a:extLst>
          </p:cNvPr>
          <p:cNvSpPr txBox="1"/>
          <p:nvPr/>
        </p:nvSpPr>
        <p:spPr>
          <a:xfrm>
            <a:off x="905256" y="4473184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02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996FF04-35C5-B818-A24A-E69F2F5195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87" y="3279542"/>
            <a:ext cx="3723882" cy="25042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4174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00A30-AB3E-923D-1E99-3866455C6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B6B05D3-91C1-4BAA-937A-DF1256F8E2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813" y="2921227"/>
            <a:ext cx="5041392" cy="3603859"/>
          </a:xfrm>
          <a:prstGeom prst="rect">
            <a:avLst/>
          </a:prstGeom>
          <a:effectLst>
            <a:softEdge rad="635000"/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5FFCDB9-90CD-E141-7FE6-1C3890937AC7}"/>
              </a:ext>
            </a:extLst>
          </p:cNvPr>
          <p:cNvGrpSpPr/>
          <p:nvPr/>
        </p:nvGrpSpPr>
        <p:grpSpPr>
          <a:xfrm>
            <a:off x="763643" y="1987387"/>
            <a:ext cx="5059261" cy="1938992"/>
            <a:chOff x="931651" y="3429000"/>
            <a:chExt cx="5501704" cy="19389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607A2C-BE22-4DEB-29B7-A56FB7F1AF80}"/>
                </a:ext>
              </a:extLst>
            </p:cNvPr>
            <p:cNvSpPr txBox="1"/>
            <p:nvPr/>
          </p:nvSpPr>
          <p:spPr>
            <a:xfrm>
              <a:off x="1575054" y="3429000"/>
              <a:ext cx="4858301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Quantity &amp; Amount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Managed rows with missing or zero Qty values and recalculated totals.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a new calculated column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Total Amount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(Qty * Item Price).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Removed null and zero-value errors, resulting in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1,13,698 clean records.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23DDF9-FE5F-6731-F9FB-8EE3DDB5B00D}"/>
                </a:ext>
              </a:extLst>
            </p:cNvPr>
            <p:cNvSpPr txBox="1"/>
            <p:nvPr/>
          </p:nvSpPr>
          <p:spPr>
            <a:xfrm>
              <a:off x="931651" y="347415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04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EFDFC8-DBE4-1283-D1E1-E3DA3D1258C6}"/>
              </a:ext>
            </a:extLst>
          </p:cNvPr>
          <p:cNvGrpSpPr/>
          <p:nvPr/>
        </p:nvGrpSpPr>
        <p:grpSpPr>
          <a:xfrm>
            <a:off x="763643" y="491889"/>
            <a:ext cx="4913376" cy="1384995"/>
            <a:chOff x="929640" y="490425"/>
            <a:chExt cx="4913376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476F605-90EB-BEF4-186C-1108530E20B0}"/>
                </a:ext>
              </a:extLst>
            </p:cNvPr>
            <p:cNvSpPr txBox="1"/>
            <p:nvPr/>
          </p:nvSpPr>
          <p:spPr>
            <a:xfrm>
              <a:off x="1374763" y="490425"/>
              <a:ext cx="4468253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Error &amp; Blank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Removed error values, blank rows, and duplicates to ensure data quality.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Duplicates removed: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6 rows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Total rows after cleanup: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1,16,165</a:t>
              </a:r>
              <a:endParaRPr lang="en-US" sz="16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4ED2F7-D443-F17E-7238-927F451B0850}"/>
                </a:ext>
              </a:extLst>
            </p:cNvPr>
            <p:cNvSpPr txBox="1"/>
            <p:nvPr/>
          </p:nvSpPr>
          <p:spPr>
            <a:xfrm>
              <a:off x="929640" y="490425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man Old Style" panose="02050604050505020204" pitchFamily="18" charset="0"/>
                </a:rPr>
                <a:t>03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28E106C-45C0-897C-FBFB-97615813DCB9}"/>
              </a:ext>
            </a:extLst>
          </p:cNvPr>
          <p:cNvGrpSpPr/>
          <p:nvPr/>
        </p:nvGrpSpPr>
        <p:grpSpPr>
          <a:xfrm>
            <a:off x="6096000" y="492239"/>
            <a:ext cx="5332036" cy="892552"/>
            <a:chOff x="6207929" y="4130868"/>
            <a:chExt cx="6015429" cy="8925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B53517-3257-FD8F-09CC-0AC5CE75675E}"/>
                </a:ext>
              </a:extLst>
            </p:cNvPr>
            <p:cNvSpPr txBox="1"/>
            <p:nvPr/>
          </p:nvSpPr>
          <p:spPr>
            <a:xfrm>
              <a:off x="6823358" y="4130868"/>
              <a:ext cx="5400000" cy="892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Date-Based Columns Added:</a:t>
              </a:r>
              <a:br>
                <a:rPr lang="en-US" sz="24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</a:b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Extracted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Year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,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Month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, and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Week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from order date for time-series analysis.</a:t>
              </a:r>
              <a:endParaRPr lang="en-US" sz="2000" dirty="0">
                <a:solidFill>
                  <a:schemeClr val="bg1"/>
                </a:solidFill>
                <a:latin typeface="Bookman Old Style" panose="02050604050505020204" pitchFamily="18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17BA2-1A6D-176A-F9D1-402324F90DF6}"/>
                </a:ext>
              </a:extLst>
            </p:cNvPr>
            <p:cNvSpPr txBox="1"/>
            <p:nvPr/>
          </p:nvSpPr>
          <p:spPr>
            <a:xfrm>
              <a:off x="6207929" y="4151493"/>
              <a:ext cx="6173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06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332CFC9-8CA4-8E76-CD74-58F444AC93DD}"/>
              </a:ext>
            </a:extLst>
          </p:cNvPr>
          <p:cNvGrpSpPr/>
          <p:nvPr/>
        </p:nvGrpSpPr>
        <p:grpSpPr>
          <a:xfrm>
            <a:off x="763643" y="3960815"/>
            <a:ext cx="4913376" cy="2431435"/>
            <a:chOff x="929640" y="3734917"/>
            <a:chExt cx="4913376" cy="243143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554DDB-17FD-66D6-01A5-E35185126867}"/>
                </a:ext>
              </a:extLst>
            </p:cNvPr>
            <p:cNvSpPr txBox="1"/>
            <p:nvPr/>
          </p:nvSpPr>
          <p:spPr>
            <a:xfrm>
              <a:off x="929640" y="373491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05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2ACAD1-E7CD-0D49-AC71-DB806BF10718}"/>
                </a:ext>
              </a:extLst>
            </p:cNvPr>
            <p:cNvSpPr txBox="1"/>
            <p:nvPr/>
          </p:nvSpPr>
          <p:spPr>
            <a:xfrm>
              <a:off x="1374763" y="3734917"/>
              <a:ext cx="4468253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man Old Style" panose="02050604050505020204" pitchFamily="18" charset="0"/>
                </a:rPr>
                <a:t>Categorization Columns Created: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Order Type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(Amazon vs Merchant) for fulfilment classification.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Created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Order Status Group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to group order outcomes (Shipped, Cancelled, Returned).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Promotion Type</a:t>
              </a:r>
              <a:r>
                <a:rPr lang="en-US" sz="1600" dirty="0">
                  <a:solidFill>
                    <a:schemeClr val="bg1"/>
                  </a:solidFill>
                  <a:latin typeface="Bookman Old Style" panose="02050604050505020204" pitchFamily="18" charset="0"/>
                </a:rPr>
                <a:t> to differentiate promotional vs non-promotional sales.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A55F5EE-AFEC-FB01-9CB1-8F4C7834A82A}"/>
              </a:ext>
            </a:extLst>
          </p:cNvPr>
          <p:cNvSpPr txBox="1"/>
          <p:nvPr/>
        </p:nvSpPr>
        <p:spPr>
          <a:xfrm>
            <a:off x="6641512" y="1693990"/>
            <a:ext cx="50413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ü"/>
            </a:pPr>
            <a:r>
              <a:rPr lang="en-US" sz="1600" i="1" dirty="0">
                <a:solidFill>
                  <a:schemeClr val="bg1"/>
                </a:solidFill>
                <a:latin typeface="Bookman Old Style" panose="02050604050505020204" pitchFamily="18" charset="0"/>
              </a:rPr>
              <a:t>Final dataset is fully structured, clean, and optimized for Power BI reporting — supporting accurate KPI calculations, visualizations, and forecasting analysis</a:t>
            </a:r>
            <a:r>
              <a:rPr lang="en-US" sz="1600" i="1" dirty="0">
                <a:solidFill>
                  <a:srgbClr val="069822"/>
                </a:solidFill>
                <a:latin typeface="Bookman Old Style" panose="02050604050505020204" pitchFamily="18" charset="0"/>
              </a:rPr>
              <a:t>.</a:t>
            </a:r>
            <a:endParaRPr lang="en-IN" sz="1600" i="1" dirty="0">
              <a:solidFill>
                <a:srgbClr val="0698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62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After cleaning the dataset, Exploratory Data Analysis was performed to understand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patterns, customer behavior, and key business insights.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This step helped in identifying the most important trends and performance indicators before visualization.</a:t>
            </a:r>
          </a:p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analysis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642366" y="3417802"/>
            <a:ext cx="545363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Sales Distribution Analysis: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Checked total sales, average order value, and quantity sold to understand overall business performance.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Category-Level Analysis: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Examined which product categories drive maximum revenue and orders.</a:t>
            </a: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895012" y="612842"/>
            <a:ext cx="575194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Fulfilment Comparison:</a:t>
            </a:r>
            <a:r>
              <a:rPr lang="en-US" sz="20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Compared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(FBA)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vs </a:t>
            </a: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Merchant (FBM)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fulfilment to find which performs better.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Regional Insights: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Explored state-wise and city-wise sales to identify top and low-performing regions.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Time Trend Analysis: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Studied month-wise and seasonal patterns to detect high-demand periods.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Customer Segment Study: 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Analyzed B2B vs B2C contribution to total revenue.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These findings laid the foundation for creating meaningful and insight-driven Power BI dashboards.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7336-B8EC-0FEC-C582-4102CBC4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B8E0D5-7B93-9963-C55F-30E1129E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23CBEA-A11C-95DF-09DB-92A97F6AD9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519" y="119062"/>
            <a:ext cx="11943656" cy="6619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933D58-6360-F66B-A3B3-A6F2B7E2BD23}"/>
              </a:ext>
            </a:extLst>
          </p:cNvPr>
          <p:cNvSpPr txBox="1"/>
          <p:nvPr/>
        </p:nvSpPr>
        <p:spPr>
          <a:xfrm>
            <a:off x="5962650" y="2459504"/>
            <a:ext cx="59428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Dashboard Design &amp; Visualization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63B5D596-1F52-6A34-9D12-CE45CEECF4C2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E852D-9581-E0D1-E702-C5E497E3C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2" y="2411074"/>
            <a:ext cx="5219461" cy="2959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7404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298FB-2435-9F69-547E-9353217C2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D417F4-12C8-F30D-5C6B-15215B9B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9AD370-FA41-F895-9BEA-1A25EE3814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" y="152401"/>
            <a:ext cx="11887200" cy="6553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C4680B-57BD-4336-9C20-B10034FA6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5868" y="2658503"/>
            <a:ext cx="5400000" cy="3061025"/>
          </a:xfrm>
          <a:prstGeom prst="roundRect">
            <a:avLst>
              <a:gd name="adj" fmla="val 6088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175F66-299D-7255-73D6-61406E8F6659}"/>
              </a:ext>
            </a:extLst>
          </p:cNvPr>
          <p:cNvSpPr txBox="1"/>
          <p:nvPr/>
        </p:nvSpPr>
        <p:spPr>
          <a:xfrm>
            <a:off x="468788" y="665887"/>
            <a:ext cx="11254424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Overview: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The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Overview Page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 provides a complete summary of overall Amazon sales performance.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 quickly identify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key business trends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monitor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performance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find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growth opportunities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 at a glance.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58EFA-946A-3F5D-589D-598F51E95632}"/>
              </a:ext>
            </a:extLst>
          </p:cNvPr>
          <p:cNvSpPr txBox="1"/>
          <p:nvPr/>
        </p:nvSpPr>
        <p:spPr>
          <a:xfrm>
            <a:off x="857257" y="2094102"/>
            <a:ext cx="575721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  <a:endParaRPr lang="en-US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Top 5 Category by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best-performing categories based on revenue.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Fulfilment by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Amazon (FBA) vs Merchant (FBM) contribution.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State Wise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Geographical map showing regional sales performance.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Promotion Type by Total Sales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how promotions impact total revenue.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Monthly Sales Trend</a:t>
            </a:r>
            <a:r>
              <a:rPr lang="en-US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month-wise sales growth and seasonality.</a:t>
            </a:r>
          </a:p>
        </p:txBody>
      </p:sp>
    </p:spTree>
    <p:extLst>
      <p:ext uri="{BB962C8B-B14F-4D97-AF65-F5344CB8AC3E}">
        <p14:creationId xmlns:p14="http://schemas.microsoft.com/office/powerpoint/2010/main" val="1837159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178A5-3354-C6C9-19A9-E2F6A86E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2FD868-0538-E569-19D9-44E4F636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A25742-140E-123B-42B7-86E4E4C789F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55" y="145648"/>
            <a:ext cx="11852290" cy="65504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0C573-020C-451A-E056-A3F60FAFFE1F}"/>
              </a:ext>
            </a:extLst>
          </p:cNvPr>
          <p:cNvSpPr txBox="1"/>
          <p:nvPr/>
        </p:nvSpPr>
        <p:spPr>
          <a:xfrm>
            <a:off x="528637" y="694462"/>
            <a:ext cx="11134726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Product: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The Product Page provides a detailed view of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product-level performance and demand trends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 identify top-selling categories, SKUs, and sizes — enabling smarter decisions in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inventory planning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marketing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, and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strategy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F963D1-4CC3-DF1E-C29C-8C0C26C7C99A}"/>
              </a:ext>
            </a:extLst>
          </p:cNvPr>
          <p:cNvSpPr txBox="1"/>
          <p:nvPr/>
        </p:nvSpPr>
        <p:spPr>
          <a:xfrm>
            <a:off x="942976" y="2150592"/>
            <a:ext cx="5562600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b="1">
                <a:solidFill>
                  <a:schemeClr val="accent4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US" dirty="0"/>
              <a:t>Key Visuals: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Top 3 SKU by Total Sales → </a:t>
            </a:r>
            <a:r>
              <a:rPr lang="en-US" sz="1600" dirty="0">
                <a:solidFill>
                  <a:schemeClr val="bg1"/>
                </a:solidFill>
              </a:rPr>
              <a:t>Displays SKUs generating the highest revenue.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Top 3 SKU by Total Quantity → </a:t>
            </a:r>
            <a:r>
              <a:rPr lang="en-US" sz="1600" dirty="0">
                <a:solidFill>
                  <a:schemeClr val="bg1"/>
                </a:solidFill>
              </a:rPr>
              <a:t>Highlights most sold SKUs by volume.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Total Sales by Size → </a:t>
            </a:r>
            <a:r>
              <a:rPr lang="en-US" sz="1600" dirty="0">
                <a:solidFill>
                  <a:schemeClr val="bg1"/>
                </a:solidFill>
              </a:rPr>
              <a:t>Shows which size variants contribute most to total sales.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Quantity by Month &amp; Category → </a:t>
            </a:r>
            <a:r>
              <a:rPr lang="en-US" sz="1600" dirty="0">
                <a:solidFill>
                  <a:schemeClr val="bg1"/>
                </a:solidFill>
              </a:rPr>
              <a:t>Tracks monthly demand fluctuations across categories.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dirty="0"/>
              <a:t>Total Sales by Category → </a:t>
            </a:r>
            <a:r>
              <a:rPr lang="en-US" sz="1600" dirty="0">
                <a:solidFill>
                  <a:schemeClr val="bg1"/>
                </a:solidFill>
              </a:rPr>
              <a:t>Compares category-wise revenue performance to find top contributors.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018B0D-DEE1-0BBB-3531-1D916A9DD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431" y="2383209"/>
            <a:ext cx="5400000" cy="3058202"/>
          </a:xfrm>
          <a:prstGeom prst="roundRect">
            <a:avLst>
              <a:gd name="adj" fmla="val 5143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0331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FC0AB-144D-BA5A-E91C-897BCC1E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8942E7-F9D5-E172-6FDA-B98CD4E6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AD5032-4F16-FD25-339D-166F6142EA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" y="0"/>
            <a:ext cx="12081094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CDB34D-D682-4F9A-E591-D913EFEA6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963" y="2523176"/>
            <a:ext cx="5400000" cy="3065385"/>
          </a:xfrm>
          <a:prstGeom prst="roundRect">
            <a:avLst>
              <a:gd name="adj" fmla="val 4350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F0317E-6992-4984-C53C-10DD21F88331}"/>
              </a:ext>
            </a:extLst>
          </p:cNvPr>
          <p:cNvSpPr txBox="1"/>
          <p:nvPr/>
        </p:nvSpPr>
        <p:spPr>
          <a:xfrm>
            <a:off x="666749" y="646035"/>
            <a:ext cx="10858501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Fulfilment:</a:t>
            </a:r>
            <a:br>
              <a:rPr lang="en-IN" dirty="0"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The Fulfilment Page provides insights into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delivery performance and operational efficiency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 compare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(FBA)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and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Merchant (FBM)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fulfilment models to identify performance gaps, monitor delivery success, and improve logistics strategy.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E37389-6736-431E-43B1-5E95920FF097}"/>
              </a:ext>
            </a:extLst>
          </p:cNvPr>
          <p:cNvSpPr txBox="1"/>
          <p:nvPr/>
        </p:nvSpPr>
        <p:spPr>
          <a:xfrm>
            <a:off x="6202472" y="1979293"/>
            <a:ext cx="532277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  <a:endParaRPr lang="en-IN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Quantity by Fulfilment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total quantity handled by FBA and FBM.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 err="1">
                <a:solidFill>
                  <a:schemeClr val="accent4"/>
                </a:solidFill>
                <a:latin typeface="Bookman Old Style" panose="02050604050505020204" pitchFamily="18" charset="0"/>
              </a:rPr>
              <a:t>Avg</a:t>
            </a: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 Delivery Value by Fulfilment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which fulfilment model achieves higher average order value.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Delivered Orders % by Month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monthly delivery success rates and efficiency trends.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Quantity by City &amp; Fulfilment </a:t>
            </a:r>
            <a:r>
              <a:rPr lang="en-IN" sz="1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→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 Highlights city-wise fulfilment volume for operational planning.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FBA Share %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Amazon’s contribution to total sales.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IN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FBM Share % →</a:t>
            </a:r>
            <a:r>
              <a:rPr lang="en-IN" sz="1600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merchant-driven fulfilment share and performance.</a:t>
            </a:r>
          </a:p>
        </p:txBody>
      </p:sp>
    </p:spTree>
    <p:extLst>
      <p:ext uri="{BB962C8B-B14F-4D97-AF65-F5344CB8AC3E}">
        <p14:creationId xmlns:p14="http://schemas.microsoft.com/office/powerpoint/2010/main" val="3393959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03832-DBC8-1FA4-FDBF-EA909FB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8DD4C-5159-8C20-431C-537F69313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5CE38D-4C72-545E-8C27-3B77DD5343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1" y="95250"/>
            <a:ext cx="12059437" cy="66675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B151D4-A9A6-F35F-C0D5-45662AAE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14" y="2678475"/>
            <a:ext cx="5400000" cy="3070899"/>
          </a:xfrm>
          <a:prstGeom prst="roundRect">
            <a:avLst>
              <a:gd name="adj" fmla="val 6802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7C8B0-15DE-05EA-8C8D-9187698FD5FC}"/>
              </a:ext>
            </a:extLst>
          </p:cNvPr>
          <p:cNvSpPr txBox="1"/>
          <p:nvPr/>
        </p:nvSpPr>
        <p:spPr>
          <a:xfrm>
            <a:off x="481011" y="340937"/>
            <a:ext cx="1122997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Regional:</a:t>
            </a:r>
            <a:br>
              <a:rPr lang="en-IN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The Delivery page focuses on </a:t>
            </a:r>
            <a:r>
              <a:rPr lang="en-IN" dirty="0" err="1">
                <a:solidFill>
                  <a:schemeClr val="bg1"/>
                </a:solidFill>
                <a:latin typeface="Bookman Old Style" panose="02050604050505020204" pitchFamily="18" charset="0"/>
              </a:rPr>
              <a:t>analyzing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shipment performance and fulfilment efficiency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stakeholders:</a:t>
            </a:r>
            <a:endParaRPr lang="en-IN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67FC9-80C1-D323-EE56-89A7F231E650}"/>
              </a:ext>
            </a:extLst>
          </p:cNvPr>
          <p:cNvSpPr txBox="1"/>
          <p:nvPr/>
        </p:nvSpPr>
        <p:spPr>
          <a:xfrm>
            <a:off x="950121" y="1203434"/>
            <a:ext cx="10011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Track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on-time vs delayed deliveries</a:t>
            </a:r>
            <a:endParaRPr lang="en-IN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Amazon (FBA)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and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Merchant (FBM)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delivery effectiveness</a:t>
            </a:r>
          </a:p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Identify </a:t>
            </a:r>
            <a:r>
              <a:rPr lang="en-IN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bottlenecks</a:t>
            </a:r>
            <a:r>
              <a:rPr lang="en-IN" dirty="0">
                <a:solidFill>
                  <a:schemeClr val="bg1"/>
                </a:solidFill>
                <a:latin typeface="Bookman Old Style" panose="02050604050505020204" pitchFamily="18" charset="0"/>
              </a:rPr>
              <a:t> and improve customer experience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E38D0-023F-4F1A-7D28-4A722927632F}"/>
              </a:ext>
            </a:extLst>
          </p:cNvPr>
          <p:cNvSpPr txBox="1"/>
          <p:nvPr/>
        </p:nvSpPr>
        <p:spPr>
          <a:xfrm>
            <a:off x="6323351" y="2473242"/>
            <a:ext cx="580236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Delivery Status Overview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the proportion of delivered, returned, and pending orders.</a:t>
            </a:r>
            <a:endParaRPr lang="en-US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Monthly Delivery Trend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delivery performance and timeliness over time.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Avg Delivery Time by Fulfilment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average delivery duration between FBA and FBM.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Top 5 States by Delivery Count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Highlights states with the highest delivery volumes.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Delivery Efficiency Table →</a:t>
            </a:r>
            <a:r>
              <a:rPr lang="en-US" dirty="0">
                <a:solidFill>
                  <a:schemeClr val="accent4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order-wise delivery details for performance monitoring.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D52BDE-044E-3B93-1030-10E5B04584A2}"/>
              </a:ext>
            </a:extLst>
          </p:cNvPr>
          <p:cNvSpPr txBox="1"/>
          <p:nvPr/>
        </p:nvSpPr>
        <p:spPr>
          <a:xfrm>
            <a:off x="5826195" y="2153226"/>
            <a:ext cx="24149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  <a:endParaRPr lang="en-US" sz="2000" dirty="0">
              <a:solidFill>
                <a:schemeClr val="accent4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584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E2A5-6713-58DD-D123-E7F7AA1D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701443-4248-5D90-2EC2-8273C08F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5AFAA0-11A8-835D-4467-9FA58A24325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8" y="57150"/>
            <a:ext cx="12076604" cy="67246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D8ECFA-BC20-322D-6C83-0F18B6533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235" y="2765868"/>
            <a:ext cx="5400000" cy="3066534"/>
          </a:xfrm>
          <a:prstGeom prst="roundRect">
            <a:avLst>
              <a:gd name="adj" fmla="val 7649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A8B703-015E-4E11-1B5E-9CD05BEB163D}"/>
              </a:ext>
            </a:extLst>
          </p:cNvPr>
          <p:cNvSpPr txBox="1"/>
          <p:nvPr/>
        </p:nvSpPr>
        <p:spPr>
          <a:xfrm>
            <a:off x="640552" y="495211"/>
            <a:ext cx="1126979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Promotion:</a:t>
            </a:r>
            <a:br>
              <a:rPr lang="en-US" dirty="0"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The Promotion page focuses on evaluating </a:t>
            </a:r>
            <a:r>
              <a:rPr lang="en-US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performance influenced by promotional offers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It helps stakeholders:</a:t>
            </a:r>
            <a:endParaRPr lang="en-IN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4846A-CFAA-F9DF-87DC-06B5215F4688}"/>
              </a:ext>
            </a:extLst>
          </p:cNvPr>
          <p:cNvSpPr txBox="1"/>
          <p:nvPr/>
        </p:nvSpPr>
        <p:spPr>
          <a:xfrm>
            <a:off x="1035922" y="1405833"/>
            <a:ext cx="89993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Measure the impact of discounts and campaigns on overall sales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Identify top-performing promotions and their contribution to revenue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 organic vs promotional sales to assess marketing effectiveness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4CAB0-F6ED-6D27-DEB4-36B95E2CDCCD}"/>
              </a:ext>
            </a:extLst>
          </p:cNvPr>
          <p:cNvSpPr txBox="1"/>
          <p:nvPr/>
        </p:nvSpPr>
        <p:spPr>
          <a:xfrm>
            <a:off x="1035922" y="2761043"/>
            <a:ext cx="580470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Promotion Type % by Qty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Shows the share of orders made with and without promotions.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Sales by Month &amp; Promotion Type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Tracks monthly trends for promotional vs non-promotional sales.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Sales by Size &amp; Qty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Displays how sales vary across product sizes during promotional periods.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Top 5 Promotion IDs by Qty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Highlights the best-performing promotions by order volume.</a:t>
            </a:r>
          </a:p>
          <a:p>
            <a:pPr>
              <a:buClr>
                <a:schemeClr val="accent4"/>
              </a:buClr>
            </a:pP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Total Sales by Promotion Type → 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Compares total revenue generated under each promotion type.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D5641F-FDD9-E7A2-422E-973F456A178C}"/>
              </a:ext>
            </a:extLst>
          </p:cNvPr>
          <p:cNvSpPr txBox="1"/>
          <p:nvPr/>
        </p:nvSpPr>
        <p:spPr>
          <a:xfrm>
            <a:off x="640552" y="2385560"/>
            <a:ext cx="22415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4"/>
                </a:solidFill>
                <a:latin typeface="Bookman Old Style" panose="02050604050505020204" pitchFamily="18" charset="0"/>
              </a:rPr>
              <a:t>Key Visuals:</a:t>
            </a:r>
          </a:p>
        </p:txBody>
      </p:sp>
    </p:spTree>
    <p:extLst>
      <p:ext uri="{BB962C8B-B14F-4D97-AF65-F5344CB8AC3E}">
        <p14:creationId xmlns:p14="http://schemas.microsoft.com/office/powerpoint/2010/main" val="4174210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B06F7-474E-50F2-0B22-5A8CBFD1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139C7B-AA3E-E731-5236-85E9399BD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BEF7A6-C689-5EE2-356E-8497802FB6C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6" y="76199"/>
            <a:ext cx="12106908" cy="67341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570507-C8C5-77BC-A049-A04E96CA6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757" y="2726503"/>
            <a:ext cx="5400000" cy="3058848"/>
          </a:xfrm>
          <a:prstGeom prst="roundRect">
            <a:avLst>
              <a:gd name="adj" fmla="val 7585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B6C8FA-8187-EE5D-1330-66DBEDB8F465}"/>
              </a:ext>
            </a:extLst>
          </p:cNvPr>
          <p:cNvSpPr txBox="1"/>
          <p:nvPr/>
        </p:nvSpPr>
        <p:spPr>
          <a:xfrm>
            <a:off x="651558" y="401046"/>
            <a:ext cx="108888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Bookman Old Style" panose="02050604050505020204" pitchFamily="18" charset="0"/>
              </a:rPr>
              <a:t>Purpose:</a:t>
            </a:r>
            <a:br>
              <a:rPr lang="en-US" dirty="0">
                <a:latin typeface="Bookman Old Style" panose="02050604050505020204" pitchFamily="18" charset="0"/>
              </a:rPr>
            </a:br>
            <a:r>
              <a:rPr lang="en-US" dirty="0">
                <a:latin typeface="Bookman Old Style" panose="02050604050505020204" pitchFamily="18" charset="0"/>
              </a:rPr>
              <a:t>The Forecasting page focuses on analyzing </a:t>
            </a:r>
            <a:r>
              <a:rPr lang="en-US" b="1" dirty="0">
                <a:latin typeface="Bookman Old Style" panose="02050604050505020204" pitchFamily="18" charset="0"/>
              </a:rPr>
              <a:t>historical sales trends and predicting future performance</a:t>
            </a:r>
            <a:r>
              <a:rPr lang="en-US" dirty="0">
                <a:latin typeface="Bookman Old Style" panose="02050604050505020204" pitchFamily="18" charset="0"/>
              </a:rPr>
              <a:t>.</a:t>
            </a:r>
            <a:br>
              <a:rPr lang="en-US" dirty="0">
                <a:latin typeface="Bookman Old Style" panose="02050604050505020204" pitchFamily="18" charset="0"/>
              </a:rPr>
            </a:br>
            <a:r>
              <a:rPr lang="en-US" dirty="0">
                <a:latin typeface="Bookman Old Style" panose="02050604050505020204" pitchFamily="18" charset="0"/>
              </a:rPr>
              <a:t>It helps stakeholders:</a:t>
            </a:r>
            <a:endParaRPr lang="en-IN" dirty="0"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00E26-E61B-CFDD-802B-543FCDF2C8E6}"/>
              </a:ext>
            </a:extLst>
          </p:cNvPr>
          <p:cNvSpPr txBox="1"/>
          <p:nvPr/>
        </p:nvSpPr>
        <p:spPr>
          <a:xfrm>
            <a:off x="1067967" y="1526174"/>
            <a:ext cx="77752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Understand past sales patterns and seasonality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Identify peak and low-demand months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Plan inventory, marketing, and operational strategies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man Old Style" panose="02050604050505020204" pitchFamily="18" charset="0"/>
              </a:rPr>
              <a:t>Make data-driven sales forecasts for upcoming periods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CEEA5-EC95-CC33-983D-ED77CE531C64}"/>
              </a:ext>
            </a:extLst>
          </p:cNvPr>
          <p:cNvSpPr txBox="1"/>
          <p:nvPr/>
        </p:nvSpPr>
        <p:spPr>
          <a:xfrm>
            <a:off x="1029183" y="3095835"/>
            <a:ext cx="554523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Category Wise Monthly Trend →</a:t>
            </a:r>
            <a:r>
              <a:rPr lang="en-US" dirty="0">
                <a:latin typeface="Bookman Old Style" panose="02050604050505020204" pitchFamily="18" charset="0"/>
              </a:rPr>
              <a:t> Highlights monthly sales of each product category to spot seasonal demand.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Fulfilment Type Trend →</a:t>
            </a:r>
            <a:r>
              <a:rPr lang="en-US" dirty="0">
                <a:latin typeface="Bookman Old Style" panose="02050604050505020204" pitchFamily="18" charset="0"/>
              </a:rPr>
              <a:t> Compares FBA vs FBM sales per month to assess operational efficiency.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Business To Business Trend →</a:t>
            </a:r>
            <a:r>
              <a:rPr lang="en-US" dirty="0">
                <a:latin typeface="Bookman Old Style" panose="02050604050505020204" pitchFamily="18" charset="0"/>
              </a:rPr>
              <a:t> Shows revenue contribution from B2B vs B2C orders for segment planning.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Bookman Old Style" panose="02050604050505020204" pitchFamily="18" charset="0"/>
              </a:rPr>
              <a:t>Sales by Shipping Type &amp; Month →</a:t>
            </a:r>
            <a:r>
              <a:rPr lang="en-US" dirty="0">
                <a:latin typeface="Bookman Old Style" panose="02050604050505020204" pitchFamily="18" charset="0"/>
              </a:rPr>
              <a:t> Displays monthly sales distribution by shipping type to optimize delivery.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8E8F88-A030-83BE-744E-FF9392D5729A}"/>
              </a:ext>
            </a:extLst>
          </p:cNvPr>
          <p:cNvSpPr txBox="1"/>
          <p:nvPr/>
        </p:nvSpPr>
        <p:spPr>
          <a:xfrm>
            <a:off x="651558" y="2726503"/>
            <a:ext cx="1860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Bookman Old Style" panose="02050604050505020204" pitchFamily="18" charset="0"/>
              </a:rPr>
              <a:t>Key Visuals:</a:t>
            </a:r>
            <a:endParaRPr lang="en-US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421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FF13-A281-2D32-6962-A7D06630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F61AB8-4F67-AA2F-E9A2-FDAA0EA80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F10DCE-971B-BC1C-1DA8-B04641021FC1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  <a:latin typeface="Bookman Old Style" panose="02050604050505020204" pitchFamily="18" charset="0"/>
              </a:rPr>
              <a:t>Key Insights &amp; Findings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9FC07DD-8E27-EBC5-2BC3-8F66E97BD75B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803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6B65-3565-5843-5FAA-4DD0549C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2D6E3-20BE-3532-99A4-F76EBD889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907C41-1CAA-87CA-5FF4-BDEE4C8DDC8E}"/>
              </a:ext>
            </a:extLst>
          </p:cNvPr>
          <p:cNvSpPr txBox="1"/>
          <p:nvPr/>
        </p:nvSpPr>
        <p:spPr>
          <a:xfrm>
            <a:off x="3047238" y="1720840"/>
            <a:ext cx="60944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Overall Performance: Quick access to total sales, orders, quantity sold, and average order value for a complete business snapshot. (Home Page)</a:t>
            </a:r>
          </a:p>
          <a:p>
            <a:pPr>
              <a:buNone/>
            </a:pPr>
            <a:r>
              <a:rPr lang="en-IN" dirty="0"/>
              <a:t>Top Product Categories &amp; SKUs: Identify best-selling categories and SKUs to focus on revenue-driving products. (Overview &amp; Product Pages)</a:t>
            </a:r>
          </a:p>
          <a:p>
            <a:pPr>
              <a:buNone/>
            </a:pPr>
            <a:r>
              <a:rPr lang="en-IN" dirty="0"/>
              <a:t>Fulfilment Efficiency: Understand FBA vs FBM contribution, delivered order percentages, and city-wise fulfilment distribution. (Fulfilment Page)</a:t>
            </a:r>
          </a:p>
          <a:p>
            <a:pPr>
              <a:buNone/>
            </a:pPr>
            <a:r>
              <a:rPr lang="en-IN" dirty="0"/>
              <a:t>Regional Insights: Detect high-performing and underperforming states/cities for targeted marketing, inventory, and logistics planning. (Region Page)</a:t>
            </a:r>
          </a:p>
        </p:txBody>
      </p:sp>
    </p:spTree>
    <p:extLst>
      <p:ext uri="{BB962C8B-B14F-4D97-AF65-F5344CB8AC3E}">
        <p14:creationId xmlns:p14="http://schemas.microsoft.com/office/powerpoint/2010/main" val="317802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7BA6-FEEA-01C2-26AD-C03BBA655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87DAE1-FED0-4111-15D5-DECC38A8F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66EA25-5CA3-94DB-AC5C-F3EDDBD7632D}"/>
              </a:ext>
            </a:extLst>
          </p:cNvPr>
          <p:cNvSpPr txBox="1"/>
          <p:nvPr/>
        </p:nvSpPr>
        <p:spPr>
          <a:xfrm>
            <a:off x="3047238" y="1997839"/>
            <a:ext cx="609447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Promotion Impact: Evaluate organic vs promotional sales and determine top-performing promotions. (Promotion Page)</a:t>
            </a:r>
          </a:p>
          <a:p>
            <a:pPr>
              <a:buNone/>
            </a:pPr>
            <a:r>
              <a:rPr lang="en-US" dirty="0"/>
              <a:t>Sales Trends &amp; Seasonality: Track monthly sales growth, peaks, and dips to anticipate demand. (Overview &amp; Forecasting Pages)</a:t>
            </a:r>
          </a:p>
          <a:p>
            <a:pPr>
              <a:buNone/>
            </a:pPr>
            <a:r>
              <a:rPr lang="en-US" dirty="0"/>
              <a:t>Category &amp; Size Trends: Analyze size-specific and category-specific demand patterns to optimize production and inventory. (Product &amp; Promotion Pages)</a:t>
            </a:r>
          </a:p>
          <a:p>
            <a:pPr>
              <a:buNone/>
            </a:pPr>
            <a:r>
              <a:rPr lang="en-US" dirty="0"/>
              <a:t>Forecasting &amp; Planning: Leverage historical trends and predicted sales to plan marketing, stock, logistics, and operational strategies. (Forecasting Page)</a:t>
            </a:r>
          </a:p>
        </p:txBody>
      </p:sp>
    </p:spTree>
    <p:extLst>
      <p:ext uri="{BB962C8B-B14F-4D97-AF65-F5344CB8AC3E}">
        <p14:creationId xmlns:p14="http://schemas.microsoft.com/office/powerpoint/2010/main" val="351556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880B8-3D42-B523-C0F5-E4DA1A56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0E622A-1412-CB91-236F-6FB894189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4C2F60-C38A-EAD9-54CA-BA822FEE44BA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Tools &amp; Technologies Used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9EB6B21-BE5D-EC3D-495B-4124D5D990EF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86187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7483-F312-7C73-57AC-33D66AF63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5BC302-F552-280C-CF6F-AD15936F3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5385A5-6169-4D84-F4EE-5325C3A19509}"/>
              </a:ext>
            </a:extLst>
          </p:cNvPr>
          <p:cNvSpPr txBox="1"/>
          <p:nvPr/>
        </p:nvSpPr>
        <p:spPr>
          <a:xfrm>
            <a:off x="3047238" y="2274838"/>
            <a:ext cx="60944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Microsoft Power BI Desktop – To design and build interactive reports and dashboards.</a:t>
            </a:r>
          </a:p>
          <a:p>
            <a:pPr>
              <a:buNone/>
            </a:pPr>
            <a:r>
              <a:rPr lang="en-IN" dirty="0"/>
              <a:t>Power Query Editor – For data cleaning, transformation, and shaping before analysis.</a:t>
            </a:r>
          </a:p>
          <a:p>
            <a:pPr>
              <a:buNone/>
            </a:pPr>
            <a:r>
              <a:rPr lang="en-IN" dirty="0"/>
              <a:t>DAX (Data Analysis Expressions) – To calculate KPIs, percentages, and trends for insightful visualizations.</a:t>
            </a:r>
          </a:p>
          <a:p>
            <a:pPr>
              <a:buNone/>
            </a:pPr>
            <a:r>
              <a:rPr lang="en-IN" dirty="0"/>
              <a:t>Excel / CSV Dataset – Source of Amazon sales data for analysis and reporting.</a:t>
            </a:r>
          </a:p>
        </p:txBody>
      </p:sp>
    </p:spTree>
    <p:extLst>
      <p:ext uri="{BB962C8B-B14F-4D97-AF65-F5344CB8AC3E}">
        <p14:creationId xmlns:p14="http://schemas.microsoft.com/office/powerpoint/2010/main" val="2517603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ED073-6E6F-257F-B9D4-98DB583D1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0523D1-D0A1-BCEB-63DE-7E4A361DE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89C10-75BE-938B-5DA9-AD026AB79BBC}"/>
              </a:ext>
            </a:extLst>
          </p:cNvPr>
          <p:cNvSpPr txBox="1"/>
          <p:nvPr/>
        </p:nvSpPr>
        <p:spPr>
          <a:xfrm>
            <a:off x="6532221" y="2921168"/>
            <a:ext cx="35715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30119855-C3F2-140A-F86D-A3B12B8B0E08}"/>
              </a:ext>
            </a:extLst>
          </p:cNvPr>
          <p:cNvSpPr/>
          <p:nvPr/>
        </p:nvSpPr>
        <p:spPr>
          <a:xfrm>
            <a:off x="7777995" y="1736856"/>
            <a:ext cx="1080000" cy="1080000"/>
          </a:xfrm>
          <a:prstGeom prst="flowChartConnector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man Old Style" panose="02050604050505020204" pitchFamily="18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2779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4991-7D9B-1741-4130-A4297AD80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7F428B-3A37-7553-AE95-536C07725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22F6B8-9829-4BC5-1E41-97FEA86825B7}"/>
              </a:ext>
            </a:extLst>
          </p:cNvPr>
          <p:cNvSpPr txBox="1"/>
          <p:nvPr/>
        </p:nvSpPr>
        <p:spPr>
          <a:xfrm>
            <a:off x="1316736" y="889843"/>
            <a:ext cx="932688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The </a:t>
            </a:r>
            <a:r>
              <a:rPr lang="en-US" b="1" dirty="0"/>
              <a:t>Amazon Sales Dashboard</a:t>
            </a:r>
            <a:r>
              <a:rPr lang="en-US" dirty="0"/>
              <a:t> provides a comprehensive, interactive, and visually intuitive way to analyze Amazon sales data. It enables stakeholders 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Quickly understand </a:t>
            </a:r>
            <a:r>
              <a:rPr lang="en-US" b="1" dirty="0"/>
              <a:t>overall sales performance</a:t>
            </a:r>
            <a:r>
              <a:rPr lang="en-US" dirty="0"/>
              <a:t> through high-level KPIs and monthly trends.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Identify </a:t>
            </a:r>
            <a:r>
              <a:rPr lang="en-US" b="1" dirty="0"/>
              <a:t>top-performing product categories, SKUs, and sizes</a:t>
            </a:r>
            <a:r>
              <a:rPr lang="en-US" dirty="0"/>
              <a:t>, aiding inventory, marketing, and sales planning.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 </a:t>
            </a:r>
            <a:r>
              <a:rPr lang="en-US" b="1" dirty="0"/>
              <a:t>fulfilment efficiency</a:t>
            </a:r>
            <a:r>
              <a:rPr lang="en-US" dirty="0"/>
              <a:t> by comparing Amazon FBA vs Merchant FBM operations, delivery success rates, and city-wise performance.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Analyze </a:t>
            </a:r>
            <a:r>
              <a:rPr lang="en-US" b="1" dirty="0"/>
              <a:t>regional sales trends</a:t>
            </a:r>
            <a:r>
              <a:rPr lang="en-US" dirty="0"/>
              <a:t>, highlighting high-performing and underperforming states and cities for data-driven strategy.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Measure the </a:t>
            </a:r>
            <a:r>
              <a:rPr lang="en-US" b="1" dirty="0"/>
              <a:t>impact of promotions</a:t>
            </a:r>
            <a:r>
              <a:rPr lang="en-US" dirty="0"/>
              <a:t>, distinguishing organic vs promotional sales and identifying effective campaigns.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Forecast </a:t>
            </a:r>
            <a:r>
              <a:rPr lang="en-US" b="1" dirty="0"/>
              <a:t>future sales patterns</a:t>
            </a:r>
            <a:r>
              <a:rPr lang="en-US" dirty="0"/>
              <a:t> using historical trends, enabling stakeholders to plan marketing, inventory, and logistics proactively.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Leverage </a:t>
            </a:r>
            <a:r>
              <a:rPr lang="en-US" b="1" dirty="0"/>
              <a:t>interactive filters and slicers</a:t>
            </a:r>
            <a:r>
              <a:rPr lang="en-US" dirty="0"/>
              <a:t> (Category, Date, City, Month, Status, Size, Order Status Group, B2B) for customized insights in real-time.</a:t>
            </a:r>
          </a:p>
          <a:p>
            <a:pPr>
              <a:buNone/>
            </a:pPr>
            <a:r>
              <a:rPr lang="en-US" dirty="0"/>
              <a:t>Overall, the dashboard empowers </a:t>
            </a:r>
            <a:r>
              <a:rPr lang="en-US" b="1" dirty="0"/>
              <a:t>data-driven decision-making</a:t>
            </a:r>
            <a:r>
              <a:rPr lang="en-US" dirty="0"/>
              <a:t>, improves operational efficiency, supports strategic planning, and provides actionable insights to maximize revenue and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998394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DDD13-7266-6749-65BD-F83E5671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2BBC62-B2A2-5678-45FC-B05CF3052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073124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702</TotalTime>
  <Words>2084</Words>
  <Application>Microsoft Office PowerPoint</Application>
  <PresentationFormat>Widescreen</PresentationFormat>
  <Paragraphs>186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138</cp:revision>
  <dcterms:created xsi:type="dcterms:W3CDTF">2025-11-08T08:24:55Z</dcterms:created>
  <dcterms:modified xsi:type="dcterms:W3CDTF">2025-11-09T14:30:29Z</dcterms:modified>
</cp:coreProperties>
</file>