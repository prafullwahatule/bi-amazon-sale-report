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2" r:id="rId5"/>
    <p:sldId id="258" r:id="rId6"/>
    <p:sldId id="260" r:id="rId7"/>
    <p:sldId id="261" r:id="rId8"/>
    <p:sldId id="263" r:id="rId9"/>
    <p:sldId id="265" r:id="rId10"/>
    <p:sldId id="269" r:id="rId11"/>
    <p:sldId id="270" r:id="rId12"/>
    <p:sldId id="282" r:id="rId13"/>
    <p:sldId id="266" r:id="rId14"/>
    <p:sldId id="268" r:id="rId15"/>
    <p:sldId id="267" r:id="rId16"/>
    <p:sldId id="283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9822"/>
    <a:srgbClr val="E89D06"/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Amazon Sales Dashboard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– </a:t>
            </a:r>
            <a:r>
              <a:rPr lang="en-US" sz="3600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anose="0205060405050502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1088-18BE-5D3C-1B7A-ED3D05CCDA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5232" y="6574536"/>
            <a:ext cx="3096768" cy="283464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IN" sz="1800" dirty="0">
                <a:solidFill>
                  <a:schemeClr val="bg1"/>
                </a:solidFill>
                <a:latin typeface="Bookman Old Style" panose="02050604050505020204" pitchFamily="18" charset="0"/>
              </a:rPr>
              <a:t>Guided By: Abhishek </a:t>
            </a:r>
            <a:r>
              <a:rPr lang="en-IN" sz="1800" dirty="0" err="1">
                <a:solidFill>
                  <a:schemeClr val="bg1"/>
                </a:solidFill>
                <a:latin typeface="Bookman Old Style" panose="02050604050505020204" pitchFamily="18" charset="0"/>
              </a:rPr>
              <a:t>Wahaval</a:t>
            </a:r>
            <a:endParaRPr lang="en-IN" sz="1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894787"/>
            <a:chOff x="1533525" y="2079179"/>
            <a:chExt cx="9586722" cy="289478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Content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683115"/>
            <a:chOff x="1307591" y="2079179"/>
            <a:chExt cx="8786622" cy="3683115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4" y="2079179"/>
              <a:ext cx="7996429" cy="3683114"/>
              <a:chOff x="1577339" y="2181955"/>
              <a:chExt cx="9027334" cy="368311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1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Data Cleaning &amp; Transformation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Exploratory Data Analysis (EDA)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Tools &amp; Technologies Used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D6B1B7-2601-9E4F-0C43-FBB88CD76FDA}"/>
                  </a:ext>
                </a:extLst>
              </p:cNvPr>
              <p:cNvSpPr txBox="1"/>
              <p:nvPr/>
            </p:nvSpPr>
            <p:spPr>
              <a:xfrm>
                <a:off x="1577339" y="5403404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Future Scope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493B2B9-BED8-DC61-A72F-B53B8B2A5E7C}"/>
                  </a:ext>
                </a:extLst>
              </p:cNvPr>
              <p:cNvSpPr txBox="1"/>
              <p:nvPr/>
            </p:nvSpPr>
            <p:spPr>
              <a:xfrm>
                <a:off x="6690360" y="5403404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Conclusion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1" y="22693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9F74634-2905-CC99-8914-A4EEF44EC1F8}"/>
                </a:ext>
              </a:extLst>
            </p:cNvPr>
            <p:cNvSpPr txBox="1"/>
            <p:nvPr/>
          </p:nvSpPr>
          <p:spPr>
            <a:xfrm>
              <a:off x="5827015" y="5300629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08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36713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36714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36714" y="2287067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920620"/>
            <a:ext cx="5626608" cy="501675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68312" y="1473707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4E86-DBDB-127A-0BCE-B036AED9E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27382-C293-AF6B-97F1-7C9E4FFBE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BB38B-68D9-AAF3-6DBC-5454B031426F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Cleaning &amp; Transformation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2780D173-A3D4-9BAF-8B9F-36656E12F418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161A4-DC5E-14EA-69C5-80ACA57E7E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5133" y="2189527"/>
            <a:ext cx="3719747" cy="247894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>
                <a:lumMod val="95000"/>
              </a:schemeClr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6471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2B8DF-5074-C0AA-0770-79D8A6711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67478F-4CFE-ED12-CB18-53805324BB7B}"/>
              </a:ext>
            </a:extLst>
          </p:cNvPr>
          <p:cNvSpPr txBox="1"/>
          <p:nvPr/>
        </p:nvSpPr>
        <p:spPr>
          <a:xfrm>
            <a:off x="498348" y="751011"/>
            <a:ext cx="1119530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raw Amazon sales dataset underwent multiple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cleaning and transformation steps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in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Query Editor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to ensure data accuracy, consistency, and readiness for analysis.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step was carefully applied to remove unnecessary data, fix quality issues, and enhance analytical usability.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777C2-E910-F809-26CF-DF6A0F7FB250}"/>
              </a:ext>
            </a:extLst>
          </p:cNvPr>
          <p:cNvSpPr txBox="1"/>
          <p:nvPr/>
        </p:nvSpPr>
        <p:spPr>
          <a:xfrm>
            <a:off x="498348" y="2670298"/>
            <a:ext cx="36621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Key Cleaning Steps: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3E613-BB1C-B99D-0131-9C9AD2D9EE0E}"/>
              </a:ext>
            </a:extLst>
          </p:cNvPr>
          <p:cNvSpPr txBox="1"/>
          <p:nvPr/>
        </p:nvSpPr>
        <p:spPr>
          <a:xfrm>
            <a:off x="1520190" y="3282696"/>
            <a:ext cx="578586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Loaded Raw Data:</a:t>
            </a:r>
          </a:p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Imported the CSV file containing 1,28,975 rows and 24 columns.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65F09-B4B6-D396-59AC-F3501250DA37}"/>
              </a:ext>
            </a:extLst>
          </p:cNvPr>
          <p:cNvSpPr txBox="1"/>
          <p:nvPr/>
        </p:nvSpPr>
        <p:spPr>
          <a:xfrm>
            <a:off x="1520190" y="4468082"/>
            <a:ext cx="6094476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Removed Unnecessary Columns:</a:t>
            </a:r>
            <a:br>
              <a:rPr lang="en-US" sz="2000" dirty="0">
                <a:solidFill>
                  <a:srgbClr val="E89D06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Dropped irrelevant fields such as index, Style, ASIN, ship-postal-code, Unnamed: 22, Sales Channel, Currency, and Country to keep only relevant business attributes.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9C0A64-CF67-F558-A1AB-B8600F77826B}"/>
              </a:ext>
            </a:extLst>
          </p:cNvPr>
          <p:cNvSpPr txBox="1"/>
          <p:nvPr/>
        </p:nvSpPr>
        <p:spPr>
          <a:xfrm>
            <a:off x="905256" y="3279542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CF6001-64FF-A88E-FF5E-C4A4945EAA96}"/>
              </a:ext>
            </a:extLst>
          </p:cNvPr>
          <p:cNvSpPr txBox="1"/>
          <p:nvPr/>
        </p:nvSpPr>
        <p:spPr>
          <a:xfrm>
            <a:off x="905256" y="4473184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996FF04-35C5-B818-A24A-E69F2F5195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87" y="3279542"/>
            <a:ext cx="3723882" cy="25042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4174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00A30-AB3E-923D-1E99-3866455C6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B6B05D3-91C1-4BAA-937A-DF1256F8E2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813" y="2921227"/>
            <a:ext cx="5041392" cy="3603859"/>
          </a:xfrm>
          <a:prstGeom prst="rect">
            <a:avLst/>
          </a:prstGeom>
          <a:effectLst>
            <a:softEdge rad="635000"/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5FFCDB9-90CD-E141-7FE6-1C3890937AC7}"/>
              </a:ext>
            </a:extLst>
          </p:cNvPr>
          <p:cNvGrpSpPr/>
          <p:nvPr/>
        </p:nvGrpSpPr>
        <p:grpSpPr>
          <a:xfrm>
            <a:off x="763643" y="1987387"/>
            <a:ext cx="5059261" cy="1938992"/>
            <a:chOff x="931651" y="3429000"/>
            <a:chExt cx="5501704" cy="19389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607A2C-BE22-4DEB-29B7-A56FB7F1AF80}"/>
                </a:ext>
              </a:extLst>
            </p:cNvPr>
            <p:cNvSpPr txBox="1"/>
            <p:nvPr/>
          </p:nvSpPr>
          <p:spPr>
            <a:xfrm>
              <a:off x="1575054" y="3429000"/>
              <a:ext cx="4858301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Quantity &amp; Amount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Managed rows with missing or zero Qty values and recalculated totals.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a new calculated column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Total Amount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(Qty * Item Price).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Removed null and zero-value errors, resulting in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1,13,698 clean records.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23DDF9-FE5F-6731-F9FB-8EE3DDB5B00D}"/>
                </a:ext>
              </a:extLst>
            </p:cNvPr>
            <p:cNvSpPr txBox="1"/>
            <p:nvPr/>
          </p:nvSpPr>
          <p:spPr>
            <a:xfrm>
              <a:off x="931651" y="347415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EFDFC8-DBE4-1283-D1E1-E3DA3D1258C6}"/>
              </a:ext>
            </a:extLst>
          </p:cNvPr>
          <p:cNvGrpSpPr/>
          <p:nvPr/>
        </p:nvGrpSpPr>
        <p:grpSpPr>
          <a:xfrm>
            <a:off x="763643" y="491889"/>
            <a:ext cx="4913376" cy="1384995"/>
            <a:chOff x="929640" y="490425"/>
            <a:chExt cx="4913376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476F605-90EB-BEF4-186C-1108530E20B0}"/>
                </a:ext>
              </a:extLst>
            </p:cNvPr>
            <p:cNvSpPr txBox="1"/>
            <p:nvPr/>
          </p:nvSpPr>
          <p:spPr>
            <a:xfrm>
              <a:off x="1374763" y="490425"/>
              <a:ext cx="4468253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Error &amp; Blank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Removed error values, blank rows, and duplicates to ensure data quality.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Duplicates removed: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6 rows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Total rows after cleanup: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1,16,165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4ED2F7-D443-F17E-7238-927F451B0850}"/>
                </a:ext>
              </a:extLst>
            </p:cNvPr>
            <p:cNvSpPr txBox="1"/>
            <p:nvPr/>
          </p:nvSpPr>
          <p:spPr>
            <a:xfrm>
              <a:off x="929640" y="490425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28E106C-45C0-897C-FBFB-97615813DCB9}"/>
              </a:ext>
            </a:extLst>
          </p:cNvPr>
          <p:cNvGrpSpPr/>
          <p:nvPr/>
        </p:nvGrpSpPr>
        <p:grpSpPr>
          <a:xfrm>
            <a:off x="6096000" y="492239"/>
            <a:ext cx="5332036" cy="892552"/>
            <a:chOff x="6207929" y="4130868"/>
            <a:chExt cx="6015429" cy="8925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B53517-3257-FD8F-09CC-0AC5CE75675E}"/>
                </a:ext>
              </a:extLst>
            </p:cNvPr>
            <p:cNvSpPr txBox="1"/>
            <p:nvPr/>
          </p:nvSpPr>
          <p:spPr>
            <a:xfrm>
              <a:off x="6823358" y="4130868"/>
              <a:ext cx="5400000" cy="892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Date-Based Columns Added:</a:t>
              </a:r>
              <a:br>
                <a:rPr lang="en-US" sz="24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</a:b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Extracted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Year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,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Month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, and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Week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from order date for time-series analysis.</a:t>
              </a:r>
              <a:endParaRPr lang="en-US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17BA2-1A6D-176A-F9D1-402324F90DF6}"/>
                </a:ext>
              </a:extLst>
            </p:cNvPr>
            <p:cNvSpPr txBox="1"/>
            <p:nvPr/>
          </p:nvSpPr>
          <p:spPr>
            <a:xfrm>
              <a:off x="6207929" y="4151493"/>
              <a:ext cx="6173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332CFC9-8CA4-8E76-CD74-58F444AC93DD}"/>
              </a:ext>
            </a:extLst>
          </p:cNvPr>
          <p:cNvGrpSpPr/>
          <p:nvPr/>
        </p:nvGrpSpPr>
        <p:grpSpPr>
          <a:xfrm>
            <a:off x="763643" y="3960815"/>
            <a:ext cx="4913376" cy="2431435"/>
            <a:chOff x="929640" y="3734917"/>
            <a:chExt cx="4913376" cy="243143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554DDB-17FD-66D6-01A5-E35185126867}"/>
                </a:ext>
              </a:extLst>
            </p:cNvPr>
            <p:cNvSpPr txBox="1"/>
            <p:nvPr/>
          </p:nvSpPr>
          <p:spPr>
            <a:xfrm>
              <a:off x="929640" y="373491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2ACAD1-E7CD-0D49-AC71-DB806BF10718}"/>
                </a:ext>
              </a:extLst>
            </p:cNvPr>
            <p:cNvSpPr txBox="1"/>
            <p:nvPr/>
          </p:nvSpPr>
          <p:spPr>
            <a:xfrm>
              <a:off x="1374763" y="3734917"/>
              <a:ext cx="4468253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Categorization Columns Created: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Order Type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(Amazon vs Merchant) for fulfilment classification.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Created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Order Status Group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to group order outcomes (Shipped, Cancelled, Returned).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Promotion Type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to differentiate promotional vs non-promotional sales.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A55F5EE-AFEC-FB01-9CB1-8F4C7834A82A}"/>
              </a:ext>
            </a:extLst>
          </p:cNvPr>
          <p:cNvSpPr txBox="1"/>
          <p:nvPr/>
        </p:nvSpPr>
        <p:spPr>
          <a:xfrm>
            <a:off x="6641512" y="1693990"/>
            <a:ext cx="50413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ü"/>
            </a:pPr>
            <a:r>
              <a:rPr lang="en-US" sz="1600" i="1" dirty="0">
                <a:solidFill>
                  <a:schemeClr val="bg1"/>
                </a:solidFill>
                <a:latin typeface="Bookman Old Style" panose="02050604050505020204" pitchFamily="18" charset="0"/>
              </a:rPr>
              <a:t>Final dataset is fully structured, clean, and optimized for Power BI reporting — supporting accurate KPI calculations, visualizations, and forecasting analysis</a:t>
            </a:r>
            <a:r>
              <a:rPr lang="en-US" sz="1600" i="1" dirty="0">
                <a:solidFill>
                  <a:srgbClr val="069822"/>
                </a:solidFill>
                <a:latin typeface="Bookman Old Style" panose="02050604050505020204" pitchFamily="18" charset="0"/>
              </a:rPr>
              <a:t>.</a:t>
            </a:r>
            <a:endParaRPr lang="en-IN" sz="1600" i="1" dirty="0">
              <a:solidFill>
                <a:srgbClr val="0698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62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After cleaning the dataset, Exploratory Data Analysis was performed to understand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patterns, customer behavior, and key business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This step helped in identifying the most important trends and performance indicators before visualization.</a:t>
            </a:r>
          </a:p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analysis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642366" y="3417802"/>
            <a:ext cx="545363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Sales Distribution Analysis: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Checked total sales, average order value, and quantity sold to understand overall business performance.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Category-Level Analysis: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Examined which product categories drive maximum revenue and orders.</a:t>
            </a: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895012" y="612842"/>
            <a:ext cx="575194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Fulfilment Comparison: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Compared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(FBA)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vs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Merchant (FBM)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fulfilment to find which performs better.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Regional Insights: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Explored state-wise and city-wise sales to identify top and low-performing regions.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Time Trend Analysis: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Studied month-wise and seasonal patterns to detect high-demand periods.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Customer Segment Study: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Analyzed B2B vs B2C contribution to total revenue.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These findings laid the foundation for creating meaningful and insight-driven Power BI dashboards.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178A5-3354-C6C9-19A9-E2F6A86E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2FD868-0538-E569-19D9-44E4F636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331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7336-B8EC-0FEC-C582-4102CBC4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B8E0D5-7B93-9963-C55F-30E1129E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933D58-6360-F66B-A3B3-A6F2B7E2BD23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Dashboard Design &amp; Visualization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63B5D596-1F52-6A34-9D12-CE45CEECF4C2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57404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FC0AB-144D-BA5A-E91C-897BCC1E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8942E7-F9D5-E172-6FDA-B98CD4E6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59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FF13-A281-2D32-6962-A7D06630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F61AB8-4F67-AA2F-E9A2-FDAA0EA80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F10DCE-971B-BC1C-1DA8-B04641021FC1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Insights &amp; Findings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9FC07DD-8E27-EBC5-2BC3-8F66E97BD75B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8036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6B65-3565-5843-5FAA-4DD0549C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2D6E3-20BE-3532-99A4-F76EBD889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02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880B8-3D42-B523-C0F5-E4DA1A56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0E622A-1412-CB91-236F-6FB894189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4C2F60-C38A-EAD9-54CA-BA822FEE44BA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Tools &amp; Technologies Used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9EB6B21-BE5D-EC3D-495B-4124D5D990EF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86187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7483-F312-7C73-57AC-33D66AF63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5BC302-F552-280C-CF6F-AD15936F3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6033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832F-9831-FF55-3DF3-03FE8C47B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8C83E-899D-D2B2-471C-F2FBB5B65F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96ECE1-23B7-1A01-C8D2-720A02607E22}"/>
              </a:ext>
            </a:extLst>
          </p:cNvPr>
          <p:cNvSpPr txBox="1"/>
          <p:nvPr/>
        </p:nvSpPr>
        <p:spPr>
          <a:xfrm>
            <a:off x="6096000" y="2921168"/>
            <a:ext cx="45067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Future Scope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024AB9B5-3243-711F-C3D7-D4F78D8CEB1C}"/>
              </a:ext>
            </a:extLst>
          </p:cNvPr>
          <p:cNvSpPr/>
          <p:nvPr/>
        </p:nvSpPr>
        <p:spPr>
          <a:xfrm>
            <a:off x="7809388" y="1700280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374354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DDD13-7266-6749-65BD-F83E5671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2BBC62-B2A2-5678-45FC-B05CF3052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124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ED073-6E6F-257F-B9D4-98DB583D1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0523D1-D0A1-BCEB-63DE-7E4A361DE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89C10-75BE-938B-5DA9-AD026AB79BBC}"/>
              </a:ext>
            </a:extLst>
          </p:cNvPr>
          <p:cNvSpPr txBox="1"/>
          <p:nvPr/>
        </p:nvSpPr>
        <p:spPr>
          <a:xfrm>
            <a:off x="6532221" y="2921168"/>
            <a:ext cx="35715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30119855-C3F2-140A-F86D-A3B12B8B0E08}"/>
              </a:ext>
            </a:extLst>
          </p:cNvPr>
          <p:cNvSpPr/>
          <p:nvPr/>
        </p:nvSpPr>
        <p:spPr>
          <a:xfrm>
            <a:off x="7777995" y="1736856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7799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4991-7D9B-1741-4130-A4297AD80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7F428B-3A37-7553-AE95-536C07725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948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28008-297D-7E91-057A-6AB959109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39F219-BEC2-A7AC-FBBF-72E0AC79A3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37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936</Words>
  <Application>Microsoft Office PowerPoint</Application>
  <PresentationFormat>Widescreen</PresentationFormat>
  <Paragraphs>105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102</cp:revision>
  <dcterms:created xsi:type="dcterms:W3CDTF">2025-11-08T08:24:55Z</dcterms:created>
  <dcterms:modified xsi:type="dcterms:W3CDTF">2025-11-09T11:55:45Z</dcterms:modified>
</cp:coreProperties>
</file>