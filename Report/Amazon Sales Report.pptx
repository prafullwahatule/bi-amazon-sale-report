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33"/>
  </p:notesMasterIdLst>
  <p:sldIdLst>
    <p:sldId id="256" r:id="rId3"/>
    <p:sldId id="259" r:id="rId4"/>
    <p:sldId id="257" r:id="rId5"/>
    <p:sldId id="262" r:id="rId6"/>
    <p:sldId id="258" r:id="rId7"/>
    <p:sldId id="260" r:id="rId8"/>
    <p:sldId id="261" r:id="rId9"/>
    <p:sldId id="263" r:id="rId10"/>
    <p:sldId id="265" r:id="rId11"/>
    <p:sldId id="269" r:id="rId12"/>
    <p:sldId id="270" r:id="rId13"/>
    <p:sldId id="282" r:id="rId14"/>
    <p:sldId id="266" r:id="rId15"/>
    <p:sldId id="268" r:id="rId16"/>
    <p:sldId id="267" r:id="rId17"/>
    <p:sldId id="271" r:id="rId18"/>
    <p:sldId id="284" r:id="rId19"/>
    <p:sldId id="283" r:id="rId20"/>
    <p:sldId id="272" r:id="rId21"/>
    <p:sldId id="285" r:id="rId22"/>
    <p:sldId id="287" r:id="rId23"/>
    <p:sldId id="286" r:id="rId24"/>
    <p:sldId id="273" r:id="rId25"/>
    <p:sldId id="274" r:id="rId26"/>
    <p:sldId id="288" r:id="rId27"/>
    <p:sldId id="275" r:id="rId28"/>
    <p:sldId id="276" r:id="rId29"/>
    <p:sldId id="279" r:id="rId30"/>
    <p:sldId id="280" r:id="rId31"/>
    <p:sldId id="278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9822"/>
    <a:srgbClr val="E89D06"/>
    <a:srgbClr val="F6EB5C"/>
    <a:srgbClr val="E2A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5100E1-DD3F-49D4-995E-9FCEA55082AC}" type="datetimeFigureOut">
              <a:rPr lang="en-IN" smtClean="0"/>
              <a:t>13-11-2025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66D1F2-831C-45C8-AC89-6E321EF7302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38330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159D6-14B0-D2D1-DA38-4163A781A8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F47351-5DB0-D206-C0BB-ADC45AC499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4693F-ED5B-0DC7-365A-984670223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13-11-2025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571237-E33A-6AD2-0E42-A5DCC4517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E51F75-1AF7-8D3F-034A-0251B4CAA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5505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88DBA-77C6-4E1A-111A-EEF0229D2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A1999-752A-6366-9DAF-83AEB27EA2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6977E4-A3D5-571C-8476-C2F3FCA60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13-11-2025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156F02-BCE1-28E2-DCE9-17FCBA044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65A05-759B-02AF-6A58-9D3FC6436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73843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FDB6F-FBCE-5480-1B0D-2D873E998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40AC6B-BCE0-023B-981A-133766E5B4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AB08F-51CA-B3CC-B7FC-31B955B4F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13-11-2025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65413A-C881-F6AE-DD17-85902A918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43EFC6-3A3A-FF13-1E46-9C8FBB23B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72398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91919-4DA1-316D-A72C-6795CC307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E266E-9AC9-BB4A-2AAF-C1AE70CB40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F5CE52-4927-43BE-ABED-230DF95296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2F45B4-C666-74C7-8F93-B0181DF78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13-11-2025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1E8727-0A40-A557-D788-7B4DB12C7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67B88D-0486-58EF-B93A-F25A4C578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65845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C579E-A172-F04F-0856-6D6926C3D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93CD8B-DFD2-70BB-89F6-6F6ABD5F27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479B10-76A2-EFF6-5B09-DFF41BA0E1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0FBF68-23E6-C4F9-9885-2505813A7C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E027CD-299A-D7C1-640B-FC28870E3D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31872C-DEFF-6EAE-E971-F0C0E1BC7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13-11-2025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16E4334-AA10-AFBF-F597-E5707CDA3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4520A6-326B-2266-0985-54EFFBDF9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61812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8D031-ECDF-1B16-25A7-832532805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789146-56F5-81E3-17CC-020682416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13-11-2025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2C4CB9-61BB-A63D-7997-975CB2FFA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850046-068E-4859-66E0-A60DC22E9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28857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97CD8D6-B147-E63E-D347-C4727578A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13-11-2025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711A88-ACBC-9117-69DF-EBF670F3A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22728C-1E71-814B-9575-BA487B431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0820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4341A-886E-E9BC-2C48-885CA562B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052CD-315D-1342-77B8-D4BB5EE696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E3333F-6BBB-1F91-3A2A-597934D76A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33E985-138A-90D1-2291-561203B30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13-11-2025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2158A5-C999-185A-A530-1803EB3D6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7447C4-1140-E4CC-D035-1EA816E8B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4101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608EE-5C4F-1164-603D-04C99566F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F4A645-1923-99A1-59CF-BA2B3F041D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495B0E-2E9B-876C-E268-62FD088C06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68BDC9-979F-9E81-8C39-CA16891F2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13-11-2025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E2C59C-3B2B-3532-BEE0-DAB1C1537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751753-E947-0BAC-AF85-D43052AAD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38105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A4550-6905-9CE9-B036-A1E1E9D67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378B56-50FA-A50B-AE4B-3EBFB22960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47CC30-4CC5-481E-AE50-AC41EE8C7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13-11-2025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D09B4-F16F-AA99-D4F9-C4EB422A2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ABA5F8-F946-396D-C3CA-A7FC92B07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4169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6057A3D-0705-C4C2-57B6-82244938A3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80A7DE-6297-9ACB-A12E-4367021F71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F7BAB2-1B8F-07FC-8D18-217217294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13-11-2025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CAA0A9-0067-A13F-64D7-CDC0174DA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A544BF-C2B4-3793-A006-C2CE8AA30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05513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BC7B6-DD63-B5A7-1F04-309E31C684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3AC38C-30F3-A276-E041-09EBE3535A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F28480-3B80-E47C-6319-CA02AC0F0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B145DA-49EF-4806-98B2-06B3A7B7A2E9}" type="datetimeFigureOut">
              <a:rPr lang="en-IN" smtClean="0"/>
              <a:t>13-11-2025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FFAB21-83BF-9329-4A88-4E0C972BF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3F2B8-6673-F097-8545-B73DA77CD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7019C-A257-4AC2-92DC-5BF686908C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72962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D5EEF-E866-BA2A-E561-ECBCE0FDB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F8B40F-2E54-71E6-2C91-6980684A29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C765-0528-99EF-C12F-61ADF5C47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B145DA-49EF-4806-98B2-06B3A7B7A2E9}" type="datetimeFigureOut">
              <a:rPr lang="en-IN" smtClean="0"/>
              <a:t>13-11-2025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3DA728-937E-BD95-A11E-234BFB73C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19FE7-B295-93DC-2F1E-3F5CCA04C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7019C-A257-4AC2-92DC-5BF686908C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04546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D880C-1B4F-3127-B382-ED2F6201D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172ECA-A6D0-ACFA-7360-704EA020C6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1D20D2-635B-02F5-9231-0E74A7756A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B145DA-49EF-4806-98B2-06B3A7B7A2E9}" type="datetimeFigureOut">
              <a:rPr lang="en-IN" smtClean="0"/>
              <a:t>13-11-2025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F9C7A8-CD7C-D729-9462-69E3BE8FE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0EB408-BC32-01FC-E4B9-E80C20F05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7019C-A257-4AC2-92DC-5BF686908C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37475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3A42B-8A41-A257-55CD-A2AAFCFA1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612AA3-A150-B07A-91D3-E098617BE0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F86402-6732-F360-3B17-026E2D33C9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94653E-9DBA-D419-AB14-B599929323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B145DA-49EF-4806-98B2-06B3A7B7A2E9}" type="datetimeFigureOut">
              <a:rPr lang="en-IN" smtClean="0"/>
              <a:t>13-11-2025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FC771F-CFC8-A832-3577-D59149E06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893909-ADFE-4F61-31C7-51606571D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7019C-A257-4AC2-92DC-5BF686908C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21347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3883C-AA10-AF6E-A819-769489398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2711D5-8DFD-2035-CE64-5E631FD45D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A93F63-3FB5-FF67-C126-B7F87BAC8C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2295F4-54EA-5331-8AF2-CBE88B3C6C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05C6A0-52B7-B02A-F432-BAAFAFAABE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450624-4CA7-3544-2C7C-EEE247526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B145DA-49EF-4806-98B2-06B3A7B7A2E9}" type="datetimeFigureOut">
              <a:rPr lang="en-IN" smtClean="0"/>
              <a:t>13-11-2025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A867343-E721-79D1-5486-959333FA9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081739-0A73-777A-4A86-D69045F09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7019C-A257-4AC2-92DC-5BF686908C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402843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BB34E-8A48-4118-FF8B-532FFD953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69921B-B5CE-492F-2AD3-BEE1AE9EEE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B145DA-49EF-4806-98B2-06B3A7B7A2E9}" type="datetimeFigureOut">
              <a:rPr lang="en-IN" smtClean="0"/>
              <a:t>13-11-2025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3C2EC7-F15E-CD1F-420A-C0F247EF96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F0F138-3518-5A47-DB63-7B8DFC479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7019C-A257-4AC2-92DC-5BF686908C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336963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4D44AE-D191-671A-CFE4-3F984B9DF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B145DA-49EF-4806-98B2-06B3A7B7A2E9}" type="datetimeFigureOut">
              <a:rPr lang="en-IN" smtClean="0"/>
              <a:t>13-11-2025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E700BD-F20C-168B-FB21-B56CF5FA0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F98540-6348-C129-1D24-7A11576B4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7019C-A257-4AC2-92DC-5BF686908C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6077231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8E41C-BAE6-1AA1-F922-43AAFD607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E61FD-4B4D-066F-5953-BCA496BF1A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1D916F-4174-6E1B-E026-67B150EC4A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05D762-2718-17BE-6271-60CD381A9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B145DA-49EF-4806-98B2-06B3A7B7A2E9}" type="datetimeFigureOut">
              <a:rPr lang="en-IN" smtClean="0"/>
              <a:t>13-11-2025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2DB97A-7A2A-8CB9-0654-6F1505154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F55C2-06FB-562F-EC7D-3DD2D88F5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7019C-A257-4AC2-92DC-5BF686908C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135219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23E34-51F8-AF5D-BB96-0D9C1CA08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566AC2-5FF1-EA07-4599-09039D4351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6EFE7-6FC8-0BB9-3487-0B7FBB9CAE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405D71-D718-B65F-F47A-4AA4C13FF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B145DA-49EF-4806-98B2-06B3A7B7A2E9}" type="datetimeFigureOut">
              <a:rPr lang="en-IN" smtClean="0"/>
              <a:t>13-11-2025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821CB9-581A-850A-5B78-8B4C0F714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2BE5E1-34A5-56F8-0664-59C09531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7019C-A257-4AC2-92DC-5BF686908C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483060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D986E-64C0-486C-6CE8-F9022B809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8DC5C12-6B80-DEDB-C728-A69D57DB5B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51E03E-8191-C480-F513-065C7ECBF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B145DA-49EF-4806-98B2-06B3A7B7A2E9}" type="datetimeFigureOut">
              <a:rPr lang="en-IN" smtClean="0"/>
              <a:t>13-11-2025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28CEB7-A9FB-548F-F5B4-BDFD526CF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1B1DB-6314-FE3E-F888-E4285F0A4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7019C-A257-4AC2-92DC-5BF686908C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12730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77BFD6-DBE2-4645-6F89-8ECB7DDC03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30546B-DFF2-CDDD-835C-ABA6C58204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A1EE54-FD82-2A89-7D39-691C45C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B145DA-49EF-4806-98B2-06B3A7B7A2E9}" type="datetimeFigureOut">
              <a:rPr lang="en-IN" smtClean="0"/>
              <a:t>13-11-2025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31F297-773C-8AC0-8652-2A7A3181D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337F9A-54A4-C727-A86B-9DC64559F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7019C-A257-4AC2-92DC-5BF686908C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80600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700634-B760-C95F-B92E-32F6A59C90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IN" dirty="0"/>
              <a:t>https://github.com/prafullwahatule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BAFFAF-D876-2245-653C-F94EF5F502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74B676-5690-746A-772F-4C615F048B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C7F747-7299-4C92-9E5D-38C4C5A79C2C}" type="datetimeFigureOut">
              <a:rPr lang="en-IN" smtClean="0"/>
              <a:t>13-11-2025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4EA67C-8436-957E-1DCE-3F9BF0A8E4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6487E6-D9C3-718A-0C5C-CFB56B0629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165612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81FAED-0A08-D303-C919-D9D63CBC0B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7726B9-18C5-0DB9-5EE9-799889F912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7F7455-D51C-6636-C451-3929F5D2DE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B145DA-49EF-4806-98B2-06B3A7B7A2E9}" type="datetimeFigureOut">
              <a:rPr lang="en-IN" smtClean="0"/>
              <a:t>13-11-2025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9EF94F-3D31-203F-ACFB-B151F4FAEF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547C18-EE42-5DAC-9E56-22BC815951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97019C-A257-4AC2-92DC-5BF686908C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4789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jp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jp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jp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rafullwahatule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linkedin.com/in/prafullwahatule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A62D256-577F-FEE6-CCBD-29B936F004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D57F16F-6701-B4FD-B78E-40EED37493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457200"/>
            <a:ext cx="9144000" cy="150876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Amazon Sales Dashboard –</a:t>
            </a:r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 </a:t>
            </a:r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Power BI Project</a:t>
            </a:r>
            <a:endParaRPr lang="en-IN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 Antiqua" panose="0204060205030503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DA2C6B-8D74-F079-963A-8D246D71D64A}"/>
              </a:ext>
            </a:extLst>
          </p:cNvPr>
          <p:cNvSpPr txBox="1"/>
          <p:nvPr/>
        </p:nvSpPr>
        <p:spPr>
          <a:xfrm>
            <a:off x="0" y="6611779"/>
            <a:ext cx="3968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Book Antiqua" panose="02040602050305030304" pitchFamily="18" charset="0"/>
              </a:rPr>
              <a:t>© 2025 Amazon Sales 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Book Antiqua" panose="02040602050305030304" pitchFamily="18" charset="0"/>
              </a:rPr>
              <a:t>Report</a:t>
            </a:r>
            <a:r>
              <a:rPr lang="en-US" sz="10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Book Antiqua" panose="02040602050305030304" pitchFamily="18" charset="0"/>
              </a:rPr>
              <a:t> | Created by Prafull Wahatule</a:t>
            </a:r>
            <a:endParaRPr lang="en-IN" sz="1000" dirty="0">
              <a:solidFill>
                <a:schemeClr val="tx1">
                  <a:lumMod val="75000"/>
                  <a:lumOff val="25000"/>
                </a:schemeClr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706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B86986A-FBEE-87DB-FF12-E5EF9541EA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A0EC709-1221-AE8A-ADA8-1CEBE3BF031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EE76205-8F05-395F-A74B-C70F58E444C7}"/>
              </a:ext>
            </a:extLst>
          </p:cNvPr>
          <p:cNvSpPr txBox="1"/>
          <p:nvPr/>
        </p:nvSpPr>
        <p:spPr>
          <a:xfrm>
            <a:off x="3706749" y="118872"/>
            <a:ext cx="4778502" cy="193899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b="1" dirty="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Introduction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77F230-8C14-89D3-748C-E57B9B8E29AF}"/>
              </a:ext>
            </a:extLst>
          </p:cNvPr>
          <p:cNvSpPr txBox="1"/>
          <p:nvPr/>
        </p:nvSpPr>
        <p:spPr>
          <a:xfrm>
            <a:off x="1879854" y="2252311"/>
            <a:ext cx="8432292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The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Amazon Sales Dashboard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is an interactive Power BI project designed to analyze and visualize e-commerce sales data.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It helps businesses monitor key metrics like sales, orders, quantity, fulfilment, and promotions — all in one place.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With real-time insights, this dashboard supports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data-driven decision-making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, improves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operational efficiency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, and helps identify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growth opportunities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across regions and product categories.</a:t>
            </a:r>
            <a:endParaRPr lang="en-IN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4CCFBF-41D7-EDF8-F32E-D363C7A907D0}"/>
              </a:ext>
            </a:extLst>
          </p:cNvPr>
          <p:cNvSpPr txBox="1"/>
          <p:nvPr/>
        </p:nvSpPr>
        <p:spPr>
          <a:xfrm>
            <a:off x="146304" y="6447187"/>
            <a:ext cx="3968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© 2025 Amazon Sales 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Book Antiqua" panose="02040602050305030304" pitchFamily="18" charset="0"/>
              </a:rPr>
              <a:t>Report</a:t>
            </a:r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 | Created by Prafull Wahatule</a:t>
            </a:r>
            <a:endParaRPr lang="en-IN" sz="1000" dirty="0">
              <a:solidFill>
                <a:schemeClr val="bg1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4878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857D8-5D8A-F39E-D08D-8EB371913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B15D1B98-6665-88EA-65E7-B95FDA43C9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9EE47E0-7729-EF83-6C2B-F6CFE7D0A1E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B0CE583-AD27-1D54-5948-52801811B9B7}"/>
              </a:ext>
            </a:extLst>
          </p:cNvPr>
          <p:cNvSpPr txBox="1"/>
          <p:nvPr/>
        </p:nvSpPr>
        <p:spPr>
          <a:xfrm>
            <a:off x="4149089" y="137160"/>
            <a:ext cx="3893821" cy="193899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b="1" dirty="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Overview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4C8BF2-63BA-8C06-2A0B-499CFBB6BE04}"/>
              </a:ext>
            </a:extLst>
          </p:cNvPr>
          <p:cNvSpPr txBox="1"/>
          <p:nvPr/>
        </p:nvSpPr>
        <p:spPr>
          <a:xfrm>
            <a:off x="722376" y="2350008"/>
            <a:ext cx="1048816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This project presents an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interactive Power BI dashboard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built to analyze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Amazon sales performance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across multiple dimensions such as product, region, fulfilment, and promotions.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It provides a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centralized view of business metrics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, enabling quick insights into revenue trends, top-performing categories, and operational efficiency.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The dashboard helps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stakeholders make data-driven decisions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through real-time filtering, dynamic visuals, and forecasting analytics.</a:t>
            </a:r>
            <a:endParaRPr lang="en-IN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E1A3EB-555A-87EB-6C57-6285E72992BB}"/>
              </a:ext>
            </a:extLst>
          </p:cNvPr>
          <p:cNvSpPr txBox="1"/>
          <p:nvPr/>
        </p:nvSpPr>
        <p:spPr>
          <a:xfrm>
            <a:off x="146304" y="6447187"/>
            <a:ext cx="3968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© 2025 Amazon Sales 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Book Antiqua" panose="02040602050305030304" pitchFamily="18" charset="0"/>
              </a:rPr>
              <a:t>Report</a:t>
            </a:r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 | Created by Prafull Wahatule</a:t>
            </a:r>
            <a:endParaRPr lang="en-IN" sz="1000" dirty="0">
              <a:solidFill>
                <a:schemeClr val="bg1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6454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0CC2D1-926C-CBA7-65EC-C86CDCFD33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2818019-B3B2-BFFA-D97C-DCDEF5763EA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E61EBFC-D4B2-8F05-684E-66DE68B82C43}"/>
              </a:ext>
            </a:extLst>
          </p:cNvPr>
          <p:cNvSpPr txBox="1"/>
          <p:nvPr/>
        </p:nvSpPr>
        <p:spPr>
          <a:xfrm>
            <a:off x="2209800" y="155448"/>
            <a:ext cx="7772399" cy="193899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b="1" dirty="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Problem Statement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616C76-CEBF-5A5C-74AD-2AF7AC921D05}"/>
              </a:ext>
            </a:extLst>
          </p:cNvPr>
          <p:cNvSpPr txBox="1"/>
          <p:nvPr/>
        </p:nvSpPr>
        <p:spPr>
          <a:xfrm>
            <a:off x="1846325" y="2249888"/>
            <a:ext cx="8135874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Businesses often struggle to track and analyze large amounts of sales data across multiple parameters such as products, regions, fulfilment types, and promotions.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Manual reporting methods are slow and prone to errors, making it difficult to gain timely insights.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Due to the lack of an interactive and centralized dashboard, decision-makers face challenges in identifying trends, monitoring KPIs, and making accurate data-driven decisions.</a:t>
            </a:r>
            <a:endParaRPr lang="en-IN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70803C-91B7-FAD0-2970-4318F44CC8B1}"/>
              </a:ext>
            </a:extLst>
          </p:cNvPr>
          <p:cNvSpPr txBox="1"/>
          <p:nvPr/>
        </p:nvSpPr>
        <p:spPr>
          <a:xfrm>
            <a:off x="146304" y="6447187"/>
            <a:ext cx="3968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© 2025 Amazon Sales 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Book Antiqua" panose="02040602050305030304" pitchFamily="18" charset="0"/>
              </a:rPr>
              <a:t>Report</a:t>
            </a:r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 | Created by Prafull Wahatule</a:t>
            </a:r>
            <a:endParaRPr lang="en-IN" sz="1000" dirty="0">
              <a:solidFill>
                <a:schemeClr val="bg1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83290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409165B-81E1-AF53-35CE-F1467128FC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A35C98D-5A83-F3DE-8B09-141B779055E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0" y="-7283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3BDF596-8189-6BB0-CF7A-05546A79FBA7}"/>
              </a:ext>
            </a:extLst>
          </p:cNvPr>
          <p:cNvSpPr txBox="1"/>
          <p:nvPr/>
        </p:nvSpPr>
        <p:spPr>
          <a:xfrm>
            <a:off x="4149089" y="140187"/>
            <a:ext cx="3893821" cy="193899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b="1" dirty="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Objective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C5655D1-F7B0-7941-9929-135E8F632F75}"/>
              </a:ext>
            </a:extLst>
          </p:cNvPr>
          <p:cNvGrpSpPr/>
          <p:nvPr/>
        </p:nvGrpSpPr>
        <p:grpSpPr>
          <a:xfrm>
            <a:off x="1714118" y="2406054"/>
            <a:ext cx="8763762" cy="3374674"/>
            <a:chOff x="1657350" y="2314614"/>
            <a:chExt cx="8763762" cy="337467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17AB53-626F-6485-DAD7-A4ACB1CBF20E}"/>
                </a:ext>
              </a:extLst>
            </p:cNvPr>
            <p:cNvSpPr txBox="1"/>
            <p:nvPr/>
          </p:nvSpPr>
          <p:spPr>
            <a:xfrm>
              <a:off x="1657350" y="2314614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buClr>
                  <a:schemeClr val="accent4"/>
                </a:buClr>
                <a:buFont typeface="Wingdings" panose="05000000000000000000" pitchFamily="2" charset="2"/>
                <a:buChar char="v"/>
              </a:pPr>
              <a:r>
                <a:rPr lang="en-US" sz="20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Analyze Amazon sales data</a:t>
              </a: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across products, regions, fulfilment, and promotions</a:t>
              </a:r>
              <a:endParaRPr lang="en-IN" sz="2000" dirty="0">
                <a:solidFill>
                  <a:schemeClr val="bg1"/>
                </a:solidFill>
                <a:latin typeface="Book Antiqua" panose="02040602050305030304" pitchFamily="18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7400DAE-8B4C-A83A-3D5C-DBF6FD29769A}"/>
                </a:ext>
              </a:extLst>
            </p:cNvPr>
            <p:cNvSpPr txBox="1"/>
            <p:nvPr/>
          </p:nvSpPr>
          <p:spPr>
            <a:xfrm>
              <a:off x="6628638" y="2314614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buClr>
                  <a:schemeClr val="accent4"/>
                </a:buClr>
                <a:buFont typeface="Wingdings" panose="05000000000000000000" pitchFamily="2" charset="2"/>
                <a:buChar char="v"/>
              </a:pPr>
              <a:r>
                <a:rPr lang="en-US" sz="20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Analyze Amazon sales data</a:t>
              </a: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across products, regions, fulfilment, and promotions</a:t>
              </a:r>
              <a:endParaRPr lang="en-IN" sz="2000" dirty="0">
                <a:solidFill>
                  <a:schemeClr val="bg1"/>
                </a:solidFill>
                <a:latin typeface="Book Antiqua" panose="02040602050305030304" pitchFamily="18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762F4E8-F958-4185-289C-2FA1168D55DC}"/>
                </a:ext>
              </a:extLst>
            </p:cNvPr>
            <p:cNvSpPr txBox="1"/>
            <p:nvPr/>
          </p:nvSpPr>
          <p:spPr>
            <a:xfrm>
              <a:off x="1657350" y="3648008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buClr>
                  <a:schemeClr val="accent4"/>
                </a:buClr>
                <a:buFont typeface="Wingdings" panose="05000000000000000000" pitchFamily="2" charset="2"/>
                <a:buChar char="v"/>
              </a:pPr>
              <a:r>
                <a:rPr lang="en-US" sz="20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Track key KPIs</a:t>
              </a: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like Total Sales, Orders, Quantity Sold, and AOV.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96F758-BD79-FDE4-C3D2-AEC846746A93}"/>
                </a:ext>
              </a:extLst>
            </p:cNvPr>
            <p:cNvSpPr txBox="1"/>
            <p:nvPr/>
          </p:nvSpPr>
          <p:spPr>
            <a:xfrm>
              <a:off x="6628638" y="4673625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buClr>
                  <a:schemeClr val="accent4"/>
                </a:buClr>
                <a:buFont typeface="Wingdings" panose="05000000000000000000" pitchFamily="2" charset="2"/>
                <a:buChar char="v"/>
              </a:pPr>
              <a:r>
                <a:rPr lang="en-US" sz="20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Identify top-performing products &amp; regions</a:t>
              </a: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for better business planning.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0459573-9842-614A-1B47-65FE85BF7256}"/>
                </a:ext>
              </a:extLst>
            </p:cNvPr>
            <p:cNvSpPr txBox="1"/>
            <p:nvPr/>
          </p:nvSpPr>
          <p:spPr>
            <a:xfrm>
              <a:off x="1657350" y="4673625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buClr>
                  <a:schemeClr val="accent4"/>
                </a:buClr>
                <a:buFont typeface="Wingdings" panose="05000000000000000000" pitchFamily="2" charset="2"/>
                <a:buChar char="v"/>
              </a:pPr>
              <a:r>
                <a:rPr lang="en-US" sz="20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Evaluate fulfilment &amp; promotions</a:t>
              </a: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to measure operational efficiency.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6126485-444F-9EB0-9BBB-B2ADD2506B7F}"/>
                </a:ext>
              </a:extLst>
            </p:cNvPr>
            <p:cNvSpPr txBox="1"/>
            <p:nvPr/>
          </p:nvSpPr>
          <p:spPr>
            <a:xfrm>
              <a:off x="6628638" y="3648008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buClr>
                  <a:schemeClr val="accent4"/>
                </a:buClr>
                <a:buFont typeface="Wingdings" panose="05000000000000000000" pitchFamily="2" charset="2"/>
                <a:buChar char="v"/>
              </a:pPr>
              <a:r>
                <a:rPr lang="en-US" sz="20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Forecast future sales trends</a:t>
              </a: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for data-driven decision making.</a:t>
              </a:r>
              <a:endParaRPr lang="en-IN" sz="2000" dirty="0">
                <a:solidFill>
                  <a:schemeClr val="bg1"/>
                </a:solidFill>
                <a:latin typeface="Book Antiqua" panose="02040602050305030304" pitchFamily="18" charset="0"/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67FC18B4-F58D-B9C3-89A8-7D878E280A63}"/>
              </a:ext>
            </a:extLst>
          </p:cNvPr>
          <p:cNvSpPr txBox="1"/>
          <p:nvPr/>
        </p:nvSpPr>
        <p:spPr>
          <a:xfrm>
            <a:off x="146304" y="6447187"/>
            <a:ext cx="3968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© 2025 Amazon Sales 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Book Antiqua" panose="02040602050305030304" pitchFamily="18" charset="0"/>
              </a:rPr>
              <a:t>Report</a:t>
            </a:r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 | Created by Prafull Wahatule</a:t>
            </a:r>
            <a:endParaRPr lang="en-IN" sz="1000" dirty="0">
              <a:solidFill>
                <a:schemeClr val="bg1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67048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FD4DAF-BE0A-E43B-0B0C-07A75B68F9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EF1D91E-7135-FBEA-ACEA-65D56E5751F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6A4E4F-190F-F3FC-8516-6FA52CEDDDBB}"/>
              </a:ext>
            </a:extLst>
          </p:cNvPr>
          <p:cNvSpPr txBox="1"/>
          <p:nvPr/>
        </p:nvSpPr>
        <p:spPr>
          <a:xfrm>
            <a:off x="4149089" y="140187"/>
            <a:ext cx="3893821" cy="193899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b="1" dirty="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Outcome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C111DBB-F4AF-4D24-B110-A0101C250F7A}"/>
              </a:ext>
            </a:extLst>
          </p:cNvPr>
          <p:cNvGrpSpPr/>
          <p:nvPr/>
        </p:nvGrpSpPr>
        <p:grpSpPr>
          <a:xfrm>
            <a:off x="1302638" y="2326067"/>
            <a:ext cx="9586722" cy="2894787"/>
            <a:chOff x="1533525" y="2079179"/>
            <a:chExt cx="9586722" cy="2894787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BF51A9-3173-FC7C-75BC-8A10B9D4BB1A}"/>
                </a:ext>
              </a:extLst>
            </p:cNvPr>
            <p:cNvSpPr txBox="1"/>
            <p:nvPr/>
          </p:nvSpPr>
          <p:spPr>
            <a:xfrm>
              <a:off x="1533525" y="2079180"/>
              <a:ext cx="4121658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buClr>
                  <a:schemeClr val="accent4"/>
                </a:buClr>
                <a:buFont typeface="Wingdings" panose="05000000000000000000" pitchFamily="2" charset="2"/>
                <a:buChar char="v"/>
              </a:pP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Gained </a:t>
              </a:r>
              <a:r>
                <a:rPr lang="en-US" sz="20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clear visibility</a:t>
              </a: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into overall Amazon sales performance across multiple dimensions.</a:t>
              </a:r>
              <a:endParaRPr lang="en-IN" sz="2000" dirty="0">
                <a:solidFill>
                  <a:schemeClr val="bg1"/>
                </a:solidFill>
                <a:latin typeface="Book Antiqua" panose="02040602050305030304" pitchFamily="18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78725D3-5426-8D7C-53D3-374C1C49F71A}"/>
                </a:ext>
              </a:extLst>
            </p:cNvPr>
            <p:cNvSpPr txBox="1"/>
            <p:nvPr/>
          </p:nvSpPr>
          <p:spPr>
            <a:xfrm>
              <a:off x="1533525" y="3650527"/>
              <a:ext cx="4121658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buClr>
                  <a:schemeClr val="accent4"/>
                </a:buClr>
                <a:buFont typeface="Wingdings" panose="05000000000000000000" pitchFamily="2" charset="2"/>
                <a:buChar char="v"/>
              </a:pP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Improved </a:t>
              </a:r>
              <a:r>
                <a:rPr lang="en-US" sz="20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marketing and inventory strategies</a:t>
              </a: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using promotional and category insights.</a:t>
              </a:r>
              <a:endParaRPr lang="en-IN" sz="2000" dirty="0">
                <a:solidFill>
                  <a:schemeClr val="bg1"/>
                </a:solidFill>
                <a:latin typeface="Book Antiqua" panose="02040602050305030304" pitchFamily="18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02977D3-C131-3DB8-8EFF-D760B5071197}"/>
                </a:ext>
              </a:extLst>
            </p:cNvPr>
            <p:cNvSpPr txBox="1"/>
            <p:nvPr/>
          </p:nvSpPr>
          <p:spPr>
            <a:xfrm>
              <a:off x="6998589" y="2079179"/>
              <a:ext cx="4121658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buClr>
                  <a:schemeClr val="accent4"/>
                </a:buClr>
                <a:buFont typeface="Wingdings" panose="05000000000000000000" pitchFamily="2" charset="2"/>
                <a:buChar char="v"/>
              </a:pP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Identified </a:t>
              </a:r>
              <a:r>
                <a:rPr lang="en-US" sz="20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top-performing products, regions, and fulfilment types</a:t>
              </a: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for better business planning.</a:t>
              </a:r>
              <a:endParaRPr lang="en-IN" sz="2000" dirty="0">
                <a:solidFill>
                  <a:schemeClr val="bg1"/>
                </a:solidFill>
                <a:latin typeface="Book Antiqua" panose="02040602050305030304" pitchFamily="18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C8D7BAD-326F-875E-1AF1-41FD155FEF09}"/>
                </a:ext>
              </a:extLst>
            </p:cNvPr>
            <p:cNvSpPr txBox="1"/>
            <p:nvPr/>
          </p:nvSpPr>
          <p:spPr>
            <a:xfrm>
              <a:off x="6998589" y="3650527"/>
              <a:ext cx="4121658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buClr>
                  <a:schemeClr val="accent4"/>
                </a:buClr>
                <a:buFont typeface="Wingdings" panose="05000000000000000000" pitchFamily="2" charset="2"/>
                <a:buChar char="v"/>
              </a:pP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Delivered a </a:t>
              </a:r>
              <a:r>
                <a:rPr lang="en-US" sz="20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fully interactive Power BI dashboard</a:t>
              </a: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for faster and smarter decision-making.</a:t>
              </a:r>
              <a:endParaRPr lang="en-IN" sz="2000" dirty="0">
                <a:solidFill>
                  <a:schemeClr val="bg1"/>
                </a:solidFill>
                <a:latin typeface="Book Antiqua" panose="02040602050305030304" pitchFamily="18" charset="0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2216A39-7B14-E61C-CD5F-DD1217868D2A}"/>
              </a:ext>
            </a:extLst>
          </p:cNvPr>
          <p:cNvSpPr txBox="1"/>
          <p:nvPr/>
        </p:nvSpPr>
        <p:spPr>
          <a:xfrm>
            <a:off x="146304" y="6447187"/>
            <a:ext cx="3968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© 2025 Amazon Sales 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Book Antiqua" panose="02040602050305030304" pitchFamily="18" charset="0"/>
              </a:rPr>
              <a:t>Report</a:t>
            </a:r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 | Created by Prafull Wahatule</a:t>
            </a:r>
            <a:endParaRPr lang="en-IN" sz="1000" dirty="0">
              <a:solidFill>
                <a:schemeClr val="bg1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8624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466A6-672B-EA6E-8976-458EC5E35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4C17C16-9A53-4B89-9470-8C555EC1C5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16FCED-5FFC-E9B4-1F3D-9EC85BE6CA0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C6A3CF1-BD11-356F-D360-056F93DC9C88}"/>
              </a:ext>
            </a:extLst>
          </p:cNvPr>
          <p:cNvSpPr txBox="1"/>
          <p:nvPr/>
        </p:nvSpPr>
        <p:spPr>
          <a:xfrm>
            <a:off x="4149089" y="140187"/>
            <a:ext cx="3893821" cy="193899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Content</a:t>
            </a:r>
          </a:p>
          <a:p>
            <a:pPr algn="ctr"/>
            <a:r>
              <a:rPr lang="en-IN" sz="6000" b="1" dirty="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Table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8697BA6-D058-D1B0-4A07-60347AF34083}"/>
              </a:ext>
            </a:extLst>
          </p:cNvPr>
          <p:cNvGrpSpPr/>
          <p:nvPr/>
        </p:nvGrpSpPr>
        <p:grpSpPr>
          <a:xfrm>
            <a:off x="1702688" y="2207195"/>
            <a:ext cx="8786622" cy="3683114"/>
            <a:chOff x="1307591" y="2079179"/>
            <a:chExt cx="8786622" cy="3683114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B27D6A9-E03D-B90F-7AEE-BD64AD1E60DB}"/>
                </a:ext>
              </a:extLst>
            </p:cNvPr>
            <p:cNvGrpSpPr/>
            <p:nvPr/>
          </p:nvGrpSpPr>
          <p:grpSpPr>
            <a:xfrm>
              <a:off x="2097785" y="2079179"/>
              <a:ext cx="7996428" cy="3051290"/>
              <a:chOff x="1577340" y="2181955"/>
              <a:chExt cx="9027333" cy="3051290"/>
            </a:xfrm>
          </p:grpSpPr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737DEA2-BDD9-AC11-172A-07A054154BDE}"/>
                  </a:ext>
                </a:extLst>
              </p:cNvPr>
              <p:cNvSpPr txBox="1"/>
              <p:nvPr/>
            </p:nvSpPr>
            <p:spPr>
              <a:xfrm>
                <a:off x="1577340" y="2183686"/>
                <a:ext cx="2715768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2400" b="1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Book Antiqua" panose="02040602050305030304" pitchFamily="18" charset="0"/>
                  </a:rPr>
                  <a:t>Data Source &amp; Description</a:t>
                </a:r>
              </a:p>
            </p:txBody>
          </p:sp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20BDB78-464A-21D0-6257-CE317B571ABE}"/>
                  </a:ext>
                </a:extLst>
              </p:cNvPr>
              <p:cNvSpPr txBox="1"/>
              <p:nvPr/>
            </p:nvSpPr>
            <p:spPr>
              <a:xfrm>
                <a:off x="1577340" y="4402248"/>
                <a:ext cx="251460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2400" b="1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Book Antiqua" panose="02040602050305030304" pitchFamily="18" charset="0"/>
                  </a:rPr>
                  <a:t>Key Insights &amp; Findings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71DD1AA-C8CA-6090-C0B2-A43397EFFA98}"/>
                  </a:ext>
                </a:extLst>
              </p:cNvPr>
              <p:cNvSpPr txBox="1"/>
              <p:nvPr/>
            </p:nvSpPr>
            <p:spPr>
              <a:xfrm>
                <a:off x="6690360" y="3307027"/>
                <a:ext cx="3914313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b="1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Book Antiqua" panose="02040602050305030304" pitchFamily="18" charset="0"/>
                  </a:rPr>
                  <a:t>Dashboard Design &amp; Visualization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C77E13-B460-465C-AB06-9A79A590C518}"/>
                  </a:ext>
                </a:extLst>
              </p:cNvPr>
              <p:cNvSpPr txBox="1"/>
              <p:nvPr/>
            </p:nvSpPr>
            <p:spPr>
              <a:xfrm>
                <a:off x="6690360" y="2181955"/>
                <a:ext cx="3550919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b="1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Book Antiqua" panose="02040602050305030304" pitchFamily="18" charset="0"/>
                  </a:rPr>
                  <a:t>Data Cleaning &amp; Transformation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0037660-0769-F723-553E-E084539B4D6B}"/>
                  </a:ext>
                </a:extLst>
              </p:cNvPr>
              <p:cNvSpPr txBox="1"/>
              <p:nvPr/>
            </p:nvSpPr>
            <p:spPr>
              <a:xfrm>
                <a:off x="1577340" y="3308758"/>
                <a:ext cx="3289132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b="1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Book Antiqua" panose="02040602050305030304" pitchFamily="18" charset="0"/>
                  </a:rPr>
                  <a:t>Exploratory Data Analysis (EDA)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93EED0B-172D-0B52-11FA-671738C19475}"/>
                  </a:ext>
                </a:extLst>
              </p:cNvPr>
              <p:cNvSpPr txBox="1"/>
              <p:nvPr/>
            </p:nvSpPr>
            <p:spPr>
              <a:xfrm>
                <a:off x="6690360" y="4401383"/>
                <a:ext cx="355092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b="1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Book Antiqua" panose="02040602050305030304" pitchFamily="18" charset="0"/>
                  </a:rPr>
                  <a:t>Tools &amp; Technologies Used</a:t>
                </a:r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4F15FAF-3F37-9305-6AB8-7A9CE2E02C94}"/>
                </a:ext>
              </a:extLst>
            </p:cNvPr>
            <p:cNvSpPr txBox="1"/>
            <p:nvPr/>
          </p:nvSpPr>
          <p:spPr>
            <a:xfrm>
              <a:off x="1307591" y="2269391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b="1" dirty="0">
                  <a:solidFill>
                    <a:schemeClr val="accent4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ook Antiqua" panose="02040602050305030304" pitchFamily="18" charset="0"/>
                </a:rPr>
                <a:t>01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C020218-BE27-2699-0E7D-569866C3D149}"/>
                </a:ext>
              </a:extLst>
            </p:cNvPr>
            <p:cNvSpPr txBox="1"/>
            <p:nvPr/>
          </p:nvSpPr>
          <p:spPr>
            <a:xfrm>
              <a:off x="1307591" y="3388916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b="1" dirty="0">
                  <a:solidFill>
                    <a:schemeClr val="accent4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ook Antiqua" panose="02040602050305030304" pitchFamily="18" charset="0"/>
                </a:rPr>
                <a:t>03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5C7745D-F54C-D471-9592-8A01921BECE5}"/>
                </a:ext>
              </a:extLst>
            </p:cNvPr>
            <p:cNvSpPr txBox="1"/>
            <p:nvPr/>
          </p:nvSpPr>
          <p:spPr>
            <a:xfrm>
              <a:off x="1307591" y="5300628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b="1" dirty="0">
                  <a:solidFill>
                    <a:schemeClr val="accent4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ook Antiqua" panose="02040602050305030304" pitchFamily="18" charset="0"/>
                </a:rPr>
                <a:t>07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032CDF5-25D8-9EDA-3277-00CA94DC2BB5}"/>
                </a:ext>
              </a:extLst>
            </p:cNvPr>
            <p:cNvSpPr txBox="1"/>
            <p:nvPr/>
          </p:nvSpPr>
          <p:spPr>
            <a:xfrm>
              <a:off x="1307591" y="4508441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b="1" dirty="0">
                  <a:solidFill>
                    <a:schemeClr val="accent4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ook Antiqua" panose="02040602050305030304" pitchFamily="18" charset="0"/>
                </a:rPr>
                <a:t>05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4E32ADA-8EBD-597A-CF29-D95671C5F7B1}"/>
                </a:ext>
              </a:extLst>
            </p:cNvPr>
            <p:cNvSpPr txBox="1"/>
            <p:nvPr/>
          </p:nvSpPr>
          <p:spPr>
            <a:xfrm>
              <a:off x="5836713" y="4508441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b="1" dirty="0">
                  <a:solidFill>
                    <a:schemeClr val="accent4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ook Antiqua" panose="02040602050305030304" pitchFamily="18" charset="0"/>
                </a:rPr>
                <a:t>06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D37565D-4DBD-EAB1-7170-F922331F0E83}"/>
                </a:ext>
              </a:extLst>
            </p:cNvPr>
            <p:cNvSpPr txBox="1"/>
            <p:nvPr/>
          </p:nvSpPr>
          <p:spPr>
            <a:xfrm>
              <a:off x="5836714" y="3388916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b="1" dirty="0">
                  <a:solidFill>
                    <a:schemeClr val="accent4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ook Antiqua" panose="02040602050305030304" pitchFamily="18" charset="0"/>
                </a:rPr>
                <a:t>04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D9F7B88-4A97-95C5-0E56-022FE9A55B6D}"/>
                </a:ext>
              </a:extLst>
            </p:cNvPr>
            <p:cNvSpPr txBox="1"/>
            <p:nvPr/>
          </p:nvSpPr>
          <p:spPr>
            <a:xfrm>
              <a:off x="5836714" y="2287067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b="1" dirty="0">
                  <a:solidFill>
                    <a:schemeClr val="accent4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ook Antiqua" panose="02040602050305030304" pitchFamily="18" charset="0"/>
                </a:rPr>
                <a:t>02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7493B2B9-BED8-DC61-A72F-B53B8B2A5E7C}"/>
              </a:ext>
            </a:extLst>
          </p:cNvPr>
          <p:cNvSpPr txBox="1"/>
          <p:nvPr/>
        </p:nvSpPr>
        <p:spPr>
          <a:xfrm>
            <a:off x="2492882" y="5465787"/>
            <a:ext cx="22274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2800">
                <a:solidFill>
                  <a:schemeClr val="bg1"/>
                </a:solidFill>
                <a:latin typeface="Bookman Old Style" panose="02050604050505020204" pitchFamily="18" charset="0"/>
              </a:defRPr>
            </a:lvl1pPr>
          </a:lstStyle>
          <a:p>
            <a:r>
              <a:rPr lang="en-IN" sz="2400" dirty="0">
                <a:latin typeface="Book Antiqua" panose="02040602050305030304" pitchFamily="18" charset="0"/>
              </a:rPr>
              <a:t>Conclusion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11838C-0B27-1890-42B3-AAE4CDEBAF03}"/>
              </a:ext>
            </a:extLst>
          </p:cNvPr>
          <p:cNvSpPr txBox="1"/>
          <p:nvPr/>
        </p:nvSpPr>
        <p:spPr>
          <a:xfrm>
            <a:off x="146304" y="6447187"/>
            <a:ext cx="3968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© 2025 Amazon Sales 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Book Antiqua" panose="02040602050305030304" pitchFamily="18" charset="0"/>
              </a:rPr>
              <a:t>Report</a:t>
            </a:r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 | Created by Prafull Wahatule</a:t>
            </a:r>
            <a:endParaRPr lang="en-IN" sz="1000" dirty="0">
              <a:solidFill>
                <a:schemeClr val="bg1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48238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B3B53-7689-A7EA-122C-A0DB73F32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02E4952-92A7-9E95-5723-BDA774D5B7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57D5C37-F7A2-6753-D409-ADA39DA18C9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D4EA929-C825-AF7E-8E0B-723DC4A18666}"/>
              </a:ext>
            </a:extLst>
          </p:cNvPr>
          <p:cNvSpPr txBox="1"/>
          <p:nvPr/>
        </p:nvSpPr>
        <p:spPr>
          <a:xfrm>
            <a:off x="6096000" y="2459504"/>
            <a:ext cx="5916167" cy="193899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Data Source &amp; Description</a:t>
            </a:r>
          </a:p>
        </p:txBody>
      </p:sp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FF533B4D-1568-EAC4-69A6-8967656B06F7}"/>
              </a:ext>
            </a:extLst>
          </p:cNvPr>
          <p:cNvSpPr/>
          <p:nvPr/>
        </p:nvSpPr>
        <p:spPr>
          <a:xfrm>
            <a:off x="8207764" y="1280401"/>
            <a:ext cx="1080000" cy="1080000"/>
          </a:xfrm>
          <a:prstGeom prst="flowChartConnector">
            <a:avLst/>
          </a:prstGeom>
          <a:noFill/>
          <a:ln w="28575">
            <a:solidFill>
              <a:schemeClr val="accent4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b="1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 Antiqua" panose="02040602050305030304" pitchFamily="18" charset="0"/>
              </a:rPr>
              <a:t>01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631A25B-DFD9-A54C-1FC6-A1F7466FB5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837" y="934146"/>
            <a:ext cx="4989708" cy="498970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8E83F79-748B-D730-CA16-F5997161CF1F}"/>
              </a:ext>
            </a:extLst>
          </p:cNvPr>
          <p:cNvSpPr txBox="1"/>
          <p:nvPr/>
        </p:nvSpPr>
        <p:spPr>
          <a:xfrm>
            <a:off x="146304" y="6447187"/>
            <a:ext cx="3968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© 2025 Amazon Sales 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Book Antiqua" panose="02040602050305030304" pitchFamily="18" charset="0"/>
              </a:rPr>
              <a:t>Report</a:t>
            </a:r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 | Created by Prafull Wahatule</a:t>
            </a:r>
            <a:endParaRPr lang="en-IN" sz="1000" dirty="0">
              <a:solidFill>
                <a:schemeClr val="bg1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24976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E7AAC-F85C-ED65-57FA-40E2D1F93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E6D5147-C421-F000-8FDB-B0714E8805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4E6C2B6-A293-07B5-5B1A-08CA80817EB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BAE44CD-3726-E2AB-8AB1-CE57A691D8B9}"/>
              </a:ext>
            </a:extLst>
          </p:cNvPr>
          <p:cNvSpPr txBox="1"/>
          <p:nvPr/>
        </p:nvSpPr>
        <p:spPr>
          <a:xfrm>
            <a:off x="469392" y="1382285"/>
            <a:ext cx="5626608" cy="409342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The dataset used for this project is a Retail Sales (Amazon Orders) dataset.</a:t>
            </a:r>
          </a:p>
          <a:p>
            <a:pPr>
              <a:buClr>
                <a:srgbClr val="00B050"/>
              </a:buClr>
            </a:pPr>
            <a:endParaRPr lang="en-US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It contains detailed information about customer orders, products, fulfilment types, cities, quantities, prices, and delivery status.</a:t>
            </a:r>
          </a:p>
          <a:p>
            <a:pPr>
              <a:buClr>
                <a:srgbClr val="00B050"/>
              </a:buClr>
            </a:pPr>
            <a:endParaRPr lang="en-US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The data was provided in CSV/Excel format and imported directly into Power BI Desktop.</a:t>
            </a:r>
          </a:p>
          <a:p>
            <a:pPr>
              <a:buClr>
                <a:srgbClr val="00B050"/>
              </a:buClr>
            </a:pPr>
            <a:endParaRPr lang="en-US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Each record represents a single order item with attributes like Order ID, Date, Category, Size, Qty, Total Amount, City, and Status.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07A0F9-5A69-3E14-BAED-A57C9907F8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52" r="26147"/>
          <a:stretch>
            <a:fillRect/>
          </a:stretch>
        </p:blipFill>
        <p:spPr>
          <a:xfrm>
            <a:off x="7086973" y="1473706"/>
            <a:ext cx="3622179" cy="39105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21C4081-D876-8E26-8371-4A9FCDE81E0B}"/>
              </a:ext>
            </a:extLst>
          </p:cNvPr>
          <p:cNvSpPr txBox="1"/>
          <p:nvPr/>
        </p:nvSpPr>
        <p:spPr>
          <a:xfrm>
            <a:off x="146304" y="6447187"/>
            <a:ext cx="3968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© 2025 Amazon Sales 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Book Antiqua" panose="02040602050305030304" pitchFamily="18" charset="0"/>
              </a:rPr>
              <a:t>Report</a:t>
            </a:r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 | Created by Prafull Wahatule</a:t>
            </a:r>
            <a:endParaRPr lang="en-IN" sz="1000" dirty="0">
              <a:solidFill>
                <a:schemeClr val="bg1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84033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74E86-DBDB-127A-0BCE-B036AED9E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2D27382-C293-AF6B-97F1-7C9E4FFBED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02C6BD2-C928-D173-D07D-D87C2E44E21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D3BB38B-68D9-AAF3-6DBC-5454B031426F}"/>
              </a:ext>
            </a:extLst>
          </p:cNvPr>
          <p:cNvSpPr txBox="1"/>
          <p:nvPr/>
        </p:nvSpPr>
        <p:spPr>
          <a:xfrm>
            <a:off x="5286447" y="2459504"/>
            <a:ext cx="6619041" cy="193899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Data Cleaning &amp; Transformation</a:t>
            </a:r>
          </a:p>
        </p:txBody>
      </p:sp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2780D173-A3D4-9BAF-8B9F-36656E12F418}"/>
              </a:ext>
            </a:extLst>
          </p:cNvPr>
          <p:cNvSpPr/>
          <p:nvPr/>
        </p:nvSpPr>
        <p:spPr>
          <a:xfrm>
            <a:off x="7768852" y="1224792"/>
            <a:ext cx="1080000" cy="1080000"/>
          </a:xfrm>
          <a:prstGeom prst="flowChartConnector">
            <a:avLst/>
          </a:prstGeom>
          <a:noFill/>
          <a:ln w="28575">
            <a:solidFill>
              <a:schemeClr val="accent4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b="1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 Antiqua" panose="02040602050305030304" pitchFamily="18" charset="0"/>
              </a:rPr>
              <a:t>02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8161A4-DC5E-14EA-69C5-80ACA57E7E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35133" y="2189527"/>
            <a:ext cx="3719747" cy="2478946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chemeClr val="bg1">
                <a:lumMod val="95000"/>
              </a:schemeClr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E3EBDC7-0FCC-513D-6E57-EE43B2DC53FA}"/>
              </a:ext>
            </a:extLst>
          </p:cNvPr>
          <p:cNvSpPr txBox="1"/>
          <p:nvPr/>
        </p:nvSpPr>
        <p:spPr>
          <a:xfrm>
            <a:off x="146304" y="6447187"/>
            <a:ext cx="3968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© 2025 Amazon Sales 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Book Antiqua" panose="02040602050305030304" pitchFamily="18" charset="0"/>
              </a:rPr>
              <a:t>Report</a:t>
            </a:r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 | Created by Prafull Wahatule</a:t>
            </a:r>
            <a:endParaRPr lang="en-IN" sz="1000" dirty="0">
              <a:solidFill>
                <a:schemeClr val="bg1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47192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E2B8DF-5074-C0AA-0770-79D8A67119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89EA7E3-556F-4EEB-D6D0-449460FB805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767478F-4CFE-ED12-CB18-53805324BB7B}"/>
              </a:ext>
            </a:extLst>
          </p:cNvPr>
          <p:cNvSpPr txBox="1"/>
          <p:nvPr/>
        </p:nvSpPr>
        <p:spPr>
          <a:xfrm>
            <a:off x="498348" y="751011"/>
            <a:ext cx="1119530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The raw Amazon sales dataset underwent multiple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cleaning and transformation steps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in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Power Query Editor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to ensure data accuracy, consistency, and readiness for analysis.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Each step was carefully applied to remove unnecessary data, fix quality issues, and enhance analytical usability.</a:t>
            </a:r>
            <a:endParaRPr lang="en-IN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0777C2-E910-F809-26CF-DF6A0F7FB250}"/>
              </a:ext>
            </a:extLst>
          </p:cNvPr>
          <p:cNvSpPr txBox="1"/>
          <p:nvPr/>
        </p:nvSpPr>
        <p:spPr>
          <a:xfrm>
            <a:off x="498348" y="2670298"/>
            <a:ext cx="36621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bg1"/>
                </a:solidFill>
                <a:latin typeface="Book Antiqua" panose="02040602050305030304" pitchFamily="18" charset="0"/>
              </a:rPr>
              <a:t>Key Cleaning Steps: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B3E613-BB1C-B99D-0131-9C9AD2D9EE0E}"/>
              </a:ext>
            </a:extLst>
          </p:cNvPr>
          <p:cNvSpPr txBox="1"/>
          <p:nvPr/>
        </p:nvSpPr>
        <p:spPr>
          <a:xfrm>
            <a:off x="1520190" y="3282696"/>
            <a:ext cx="578586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Loaded Raw Data:</a:t>
            </a:r>
          </a:p>
          <a:p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Imported the CSV file containing 1,28,975 rows and 24 columns.</a:t>
            </a:r>
            <a:endParaRPr lang="en-IN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065F09-B4B6-D396-59AC-F3501250DA37}"/>
              </a:ext>
            </a:extLst>
          </p:cNvPr>
          <p:cNvSpPr txBox="1"/>
          <p:nvPr/>
        </p:nvSpPr>
        <p:spPr>
          <a:xfrm>
            <a:off x="1520190" y="4468082"/>
            <a:ext cx="6094476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Removed Unnecessary Columns:</a:t>
            </a:r>
            <a:br>
              <a:rPr lang="en-US" sz="2000" dirty="0">
                <a:solidFill>
                  <a:srgbClr val="E89D06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Dropped irrelevant fields such as index, Style, ASIN, ship-postal-code, Unnamed: 22, Sales Channel, Currency, and Country to keep only relevant business attributes.</a:t>
            </a:r>
            <a:endParaRPr lang="en-IN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9C0A64-CF67-F558-A1AB-B8600F77826B}"/>
              </a:ext>
            </a:extLst>
          </p:cNvPr>
          <p:cNvSpPr txBox="1"/>
          <p:nvPr/>
        </p:nvSpPr>
        <p:spPr>
          <a:xfrm>
            <a:off x="905256" y="3279542"/>
            <a:ext cx="59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01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CF6001-64FF-A88E-FF5E-C4A4945EAA96}"/>
              </a:ext>
            </a:extLst>
          </p:cNvPr>
          <p:cNvSpPr txBox="1"/>
          <p:nvPr/>
        </p:nvSpPr>
        <p:spPr>
          <a:xfrm>
            <a:off x="905256" y="4473184"/>
            <a:ext cx="59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02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996FF04-35C5-B818-A24A-E69F2F51955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7087" y="3279542"/>
            <a:ext cx="3723882" cy="250426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9C90E17-D55B-A758-5253-444D66B2D02B}"/>
              </a:ext>
            </a:extLst>
          </p:cNvPr>
          <p:cNvSpPr txBox="1"/>
          <p:nvPr/>
        </p:nvSpPr>
        <p:spPr>
          <a:xfrm>
            <a:off x="146304" y="6447187"/>
            <a:ext cx="3968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© 2025 Amazon Sales 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Book Antiqua" panose="02040602050305030304" pitchFamily="18" charset="0"/>
              </a:rPr>
              <a:t>Report</a:t>
            </a:r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 | Created by Prafull Wahatule</a:t>
            </a:r>
            <a:endParaRPr lang="en-IN" sz="1000" dirty="0">
              <a:solidFill>
                <a:schemeClr val="bg1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41745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4000A30-AB3E-923D-1E99-3866455C6A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C45F6BC-6BB6-5593-1DD0-5B30C16666A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B6B05D3-91C1-4BAA-937A-DF1256F8E2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813" y="2921227"/>
            <a:ext cx="5041392" cy="3603859"/>
          </a:xfrm>
          <a:prstGeom prst="rect">
            <a:avLst/>
          </a:prstGeom>
          <a:effectLst>
            <a:softEdge rad="635000"/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85FFCDB9-90CD-E141-7FE6-1C3890937AC7}"/>
              </a:ext>
            </a:extLst>
          </p:cNvPr>
          <p:cNvGrpSpPr/>
          <p:nvPr/>
        </p:nvGrpSpPr>
        <p:grpSpPr>
          <a:xfrm>
            <a:off x="763643" y="1987387"/>
            <a:ext cx="5059261" cy="1938992"/>
            <a:chOff x="931651" y="3429000"/>
            <a:chExt cx="5501704" cy="193899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C607A2C-BE22-4DEB-29B7-A56FB7F1AF80}"/>
                </a:ext>
              </a:extLst>
            </p:cNvPr>
            <p:cNvSpPr txBox="1"/>
            <p:nvPr/>
          </p:nvSpPr>
          <p:spPr>
            <a:xfrm>
              <a:off x="1575054" y="3429000"/>
              <a:ext cx="4858301" cy="19389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rgbClr val="FFC000"/>
                  </a:solidFill>
                  <a:latin typeface="Book Antiqua" panose="02040602050305030304" pitchFamily="18" charset="0"/>
                </a:rPr>
                <a:t>Quantity &amp; Amount Handling:</a:t>
              </a: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Managed rows with missing or zero Qty values and recalculated totals.</a:t>
              </a: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Added a new calculated column </a:t>
              </a:r>
              <a:r>
                <a:rPr lang="en-US" sz="16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Total Amount</a:t>
              </a: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(Qty * Item Price).</a:t>
              </a: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Removed null and zero-value errors, resulting in </a:t>
              </a:r>
              <a:r>
                <a:rPr lang="en-US" sz="16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1,13,698 clean records.</a:t>
              </a:r>
              <a:endParaRPr lang="en-US" sz="1600" dirty="0">
                <a:solidFill>
                  <a:schemeClr val="bg1"/>
                </a:solidFill>
                <a:latin typeface="Book Antiqua" panose="02040602050305030304" pitchFamily="18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A23DDF9-FE5F-6731-F9FB-8EE3DDB5B00D}"/>
                </a:ext>
              </a:extLst>
            </p:cNvPr>
            <p:cNvSpPr txBox="1"/>
            <p:nvPr/>
          </p:nvSpPr>
          <p:spPr>
            <a:xfrm>
              <a:off x="931651" y="3474157"/>
              <a:ext cx="59321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000" b="1" dirty="0">
                  <a:solidFill>
                    <a:srgbClr val="FFC000"/>
                  </a:solidFill>
                  <a:latin typeface="Book Antiqua" panose="02040602050305030304" pitchFamily="18" charset="0"/>
                </a:rPr>
                <a:t>04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2EFDFC8-DBE4-1283-D1E1-E3DA3D1258C6}"/>
              </a:ext>
            </a:extLst>
          </p:cNvPr>
          <p:cNvGrpSpPr/>
          <p:nvPr/>
        </p:nvGrpSpPr>
        <p:grpSpPr>
          <a:xfrm>
            <a:off x="763643" y="491889"/>
            <a:ext cx="4913376" cy="1384995"/>
            <a:chOff x="929640" y="490425"/>
            <a:chExt cx="4913376" cy="138499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476F605-90EB-BEF4-186C-1108530E20B0}"/>
                </a:ext>
              </a:extLst>
            </p:cNvPr>
            <p:cNvSpPr txBox="1"/>
            <p:nvPr/>
          </p:nvSpPr>
          <p:spPr>
            <a:xfrm>
              <a:off x="1374763" y="490425"/>
              <a:ext cx="4468253" cy="138499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US" sz="2000" b="1" dirty="0">
                  <a:solidFill>
                    <a:srgbClr val="FFC000"/>
                  </a:solidFill>
                  <a:latin typeface="Book Antiqua" panose="02040602050305030304" pitchFamily="18" charset="0"/>
                </a:rPr>
                <a:t>Error &amp; Blank Handling:</a:t>
              </a: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Removed error values, blank rows, and duplicates to ensure data quality.</a:t>
              </a: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Duplicates removed: </a:t>
              </a:r>
              <a:r>
                <a:rPr lang="en-US" sz="16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6 rows</a:t>
              </a:r>
              <a:endParaRPr lang="en-US" sz="1600" dirty="0">
                <a:solidFill>
                  <a:schemeClr val="bg1"/>
                </a:solidFill>
                <a:latin typeface="Book Antiqua" panose="02040602050305030304" pitchFamily="18" charset="0"/>
              </a:endParaRP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Total rows after cleanup: </a:t>
              </a:r>
              <a:r>
                <a:rPr lang="en-US" sz="16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1,16,165</a:t>
              </a:r>
              <a:endParaRPr lang="en-US" sz="1600" dirty="0">
                <a:solidFill>
                  <a:schemeClr val="bg1"/>
                </a:solidFill>
                <a:latin typeface="Book Antiqua" panose="02040602050305030304" pitchFamily="18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74ED2F7-D443-F17E-7238-927F451B0850}"/>
                </a:ext>
              </a:extLst>
            </p:cNvPr>
            <p:cNvSpPr txBox="1"/>
            <p:nvPr/>
          </p:nvSpPr>
          <p:spPr>
            <a:xfrm>
              <a:off x="929640" y="490425"/>
              <a:ext cx="59321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000" b="1" dirty="0">
                  <a:solidFill>
                    <a:srgbClr val="FFC000"/>
                  </a:solidFill>
                  <a:latin typeface="Book Antiqua" panose="02040602050305030304" pitchFamily="18" charset="0"/>
                </a:rPr>
                <a:t>03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28E106C-45C0-897C-FBFB-97615813DCB9}"/>
              </a:ext>
            </a:extLst>
          </p:cNvPr>
          <p:cNvGrpSpPr/>
          <p:nvPr/>
        </p:nvGrpSpPr>
        <p:grpSpPr>
          <a:xfrm>
            <a:off x="6096000" y="492239"/>
            <a:ext cx="5332036" cy="892552"/>
            <a:chOff x="6207929" y="4130868"/>
            <a:chExt cx="6015429" cy="89255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1B53517-3257-FD8F-09CC-0AC5CE75675E}"/>
                </a:ext>
              </a:extLst>
            </p:cNvPr>
            <p:cNvSpPr txBox="1"/>
            <p:nvPr/>
          </p:nvSpPr>
          <p:spPr>
            <a:xfrm>
              <a:off x="6823358" y="4130868"/>
              <a:ext cx="5400000" cy="89255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accent4"/>
                  </a:solidFill>
                  <a:latin typeface="Book Antiqua" panose="02040602050305030304" pitchFamily="18" charset="0"/>
                </a:rPr>
                <a:t>Date-Based Columns Added:</a:t>
              </a:r>
              <a:br>
                <a:rPr lang="en-US" sz="24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</a:b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Extracted </a:t>
              </a:r>
              <a:r>
                <a:rPr lang="en-US" sz="16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Year</a:t>
              </a: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, </a:t>
              </a:r>
              <a:r>
                <a:rPr lang="en-US" sz="16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Month</a:t>
              </a: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, and </a:t>
              </a:r>
              <a:r>
                <a:rPr lang="en-US" sz="16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Week</a:t>
              </a: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from order date for time-series analysis.</a:t>
              </a:r>
              <a:endParaRPr lang="en-US" sz="2000" dirty="0">
                <a:solidFill>
                  <a:schemeClr val="bg1"/>
                </a:solidFill>
                <a:latin typeface="Book Antiqua" panose="02040602050305030304" pitchFamily="18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3417BA2-1A6D-176A-F9D1-402324F90DF6}"/>
                </a:ext>
              </a:extLst>
            </p:cNvPr>
            <p:cNvSpPr txBox="1"/>
            <p:nvPr/>
          </p:nvSpPr>
          <p:spPr>
            <a:xfrm>
              <a:off x="6207929" y="4151493"/>
              <a:ext cx="61733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000" b="1" dirty="0">
                  <a:solidFill>
                    <a:schemeClr val="accent4"/>
                  </a:solidFill>
                  <a:latin typeface="Book Antiqua" panose="02040602050305030304" pitchFamily="18" charset="0"/>
                </a:rPr>
                <a:t>06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332CFC9-8CA4-8E76-CD74-58F444AC93DD}"/>
              </a:ext>
            </a:extLst>
          </p:cNvPr>
          <p:cNvGrpSpPr/>
          <p:nvPr/>
        </p:nvGrpSpPr>
        <p:grpSpPr>
          <a:xfrm>
            <a:off x="763643" y="3960815"/>
            <a:ext cx="4913376" cy="1877437"/>
            <a:chOff x="929640" y="3734917"/>
            <a:chExt cx="4913376" cy="1877437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4554DDB-17FD-66D6-01A5-E35185126867}"/>
                </a:ext>
              </a:extLst>
            </p:cNvPr>
            <p:cNvSpPr txBox="1"/>
            <p:nvPr/>
          </p:nvSpPr>
          <p:spPr>
            <a:xfrm>
              <a:off x="929640" y="3734917"/>
              <a:ext cx="59321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000" b="1" dirty="0">
                  <a:solidFill>
                    <a:schemeClr val="accent4"/>
                  </a:solidFill>
                  <a:latin typeface="Book Antiqua" panose="02040602050305030304" pitchFamily="18" charset="0"/>
                </a:rPr>
                <a:t>05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62ACAD1-E7CD-0D49-AC71-DB806BF10718}"/>
                </a:ext>
              </a:extLst>
            </p:cNvPr>
            <p:cNvSpPr txBox="1"/>
            <p:nvPr/>
          </p:nvSpPr>
          <p:spPr>
            <a:xfrm>
              <a:off x="1374763" y="3734917"/>
              <a:ext cx="4468253" cy="187743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accent4"/>
                  </a:solidFill>
                  <a:latin typeface="Book Antiqua" panose="02040602050305030304" pitchFamily="18" charset="0"/>
                </a:rPr>
                <a:t>Categorization Columns Created:</a:t>
              </a:r>
            </a:p>
            <a:p>
              <a:pPr marL="285750" indent="-285750">
                <a:buClr>
                  <a:srgbClr val="FFC000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Added </a:t>
              </a:r>
              <a:r>
                <a:rPr lang="en-US" sz="16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Order Type</a:t>
              </a: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(Amazon vs Merchant) for fulfilment classification.</a:t>
              </a:r>
            </a:p>
            <a:p>
              <a:pPr marL="285750" indent="-285750">
                <a:buClr>
                  <a:srgbClr val="FFC000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Created </a:t>
              </a:r>
              <a:r>
                <a:rPr lang="en-US" sz="16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Order Status Group</a:t>
              </a: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to group order outcomes (Shipped, Cancelled, Returned).</a:t>
              </a:r>
            </a:p>
            <a:p>
              <a:pPr marL="285750" indent="-285750">
                <a:buClr>
                  <a:srgbClr val="FFC000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Added </a:t>
              </a:r>
              <a:r>
                <a:rPr lang="en-US" sz="16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Promotion Type</a:t>
              </a: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to differentiate promotional vs non-promotional sales.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EA55F5EE-AFEC-FB01-9CB1-8F4C7834A82A}"/>
              </a:ext>
            </a:extLst>
          </p:cNvPr>
          <p:cNvSpPr txBox="1"/>
          <p:nvPr/>
        </p:nvSpPr>
        <p:spPr>
          <a:xfrm>
            <a:off x="6641512" y="1693990"/>
            <a:ext cx="504139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69822"/>
              </a:buClr>
              <a:buFont typeface="Wingdings" panose="05000000000000000000" pitchFamily="2" charset="2"/>
              <a:buChar char="ü"/>
            </a:pPr>
            <a:r>
              <a:rPr lang="en-US" sz="1600" i="1" dirty="0">
                <a:solidFill>
                  <a:schemeClr val="bg1"/>
                </a:solidFill>
                <a:latin typeface="Book Antiqua" panose="02040602050305030304" pitchFamily="18" charset="0"/>
              </a:rPr>
              <a:t>Final dataset is fully structured, clean, and optimized for Power BI reporting — supporting accurate KPI calculations, visualizations, and forecasting analysis</a:t>
            </a:r>
            <a:r>
              <a:rPr lang="en-US" sz="1600" i="1" dirty="0">
                <a:solidFill>
                  <a:srgbClr val="069822"/>
                </a:solidFill>
                <a:latin typeface="Book Antiqua" panose="02040602050305030304" pitchFamily="18" charset="0"/>
              </a:rPr>
              <a:t>.</a:t>
            </a:r>
            <a:endParaRPr lang="en-IN" sz="1600" i="1" dirty="0">
              <a:solidFill>
                <a:srgbClr val="069822"/>
              </a:solidFill>
              <a:latin typeface="Book Antiqua" panose="0204060205030503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348143-E9B3-D7DD-D3A6-B6EAEA3F5589}"/>
              </a:ext>
            </a:extLst>
          </p:cNvPr>
          <p:cNvSpPr txBox="1"/>
          <p:nvPr/>
        </p:nvSpPr>
        <p:spPr>
          <a:xfrm>
            <a:off x="146304" y="6447187"/>
            <a:ext cx="3968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© 2025 Amazon Sales 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Book Antiqua" panose="02040602050305030304" pitchFamily="18" charset="0"/>
              </a:rPr>
              <a:t>Report</a:t>
            </a:r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 | Created by Prafull Wahatule</a:t>
            </a:r>
            <a:endParaRPr lang="en-IN" sz="1000" dirty="0">
              <a:solidFill>
                <a:schemeClr val="bg1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06200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F9B61-0403-6A12-5DDD-0610BA4CA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D4575D-812C-AB9E-FAC6-B52E608134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26A382B-3C1E-26A6-0287-F5494296BB7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9F38AD9-1B22-A88A-3377-DCF974FE80C8}"/>
              </a:ext>
            </a:extLst>
          </p:cNvPr>
          <p:cNvSpPr txBox="1"/>
          <p:nvPr/>
        </p:nvSpPr>
        <p:spPr>
          <a:xfrm>
            <a:off x="6096000" y="1929152"/>
            <a:ext cx="5916167" cy="286232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Exploratory Data Analysis (EDA)</a:t>
            </a:r>
          </a:p>
        </p:txBody>
      </p:sp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4B65826D-14B7-716A-DE19-0CE800D9F167}"/>
              </a:ext>
            </a:extLst>
          </p:cNvPr>
          <p:cNvSpPr/>
          <p:nvPr/>
        </p:nvSpPr>
        <p:spPr>
          <a:xfrm>
            <a:off x="8207764" y="795769"/>
            <a:ext cx="1080000" cy="1080000"/>
          </a:xfrm>
          <a:prstGeom prst="flowChartConnector">
            <a:avLst/>
          </a:prstGeom>
          <a:noFill/>
          <a:ln w="28575">
            <a:solidFill>
              <a:schemeClr val="accent4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b="1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 Antiqua" panose="02040602050305030304" pitchFamily="18" charset="0"/>
              </a:rPr>
              <a:t>03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D49623C-80C3-F518-8288-EAFAF3709D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0522" y="1247758"/>
            <a:ext cx="4362483" cy="4362483"/>
          </a:xfrm>
          <a:prstGeom prst="roundRect">
            <a:avLst>
              <a:gd name="adj" fmla="val 16667"/>
            </a:avLst>
          </a:prstGeom>
          <a:ln>
            <a:solidFill>
              <a:schemeClr val="accent4"/>
            </a:solidFill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D7D474-FCBE-D5F9-8402-6A9209C8A36A}"/>
              </a:ext>
            </a:extLst>
          </p:cNvPr>
          <p:cNvSpPr txBox="1"/>
          <p:nvPr/>
        </p:nvSpPr>
        <p:spPr>
          <a:xfrm>
            <a:off x="146304" y="6447187"/>
            <a:ext cx="3968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© 2025 Amazon Sales 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Book Antiqua" panose="02040602050305030304" pitchFamily="18" charset="0"/>
              </a:rPr>
              <a:t>Report</a:t>
            </a:r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 | Created by Prafull Wahatule</a:t>
            </a:r>
            <a:endParaRPr lang="en-IN" sz="1000" dirty="0">
              <a:solidFill>
                <a:schemeClr val="bg1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63468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1B5CDD-5DCF-C5FE-2E73-549DC3C49B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949687C-F6B2-1548-31F2-F6157E2242B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7C6C067-8CE0-A59C-0957-03D1774F26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112"/>
          <a:stretch>
            <a:fillRect/>
          </a:stretch>
        </p:blipFill>
        <p:spPr>
          <a:xfrm>
            <a:off x="5769864" y="155448"/>
            <a:ext cx="6245352" cy="6528816"/>
          </a:xfrm>
          <a:prstGeom prst="rect">
            <a:avLst/>
          </a:prstGeom>
          <a:noFill/>
          <a:effectLst>
            <a:softEdge rad="12700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FDF103C-A860-2366-D5E7-19006505EB89}"/>
              </a:ext>
            </a:extLst>
          </p:cNvPr>
          <p:cNvSpPr txBox="1"/>
          <p:nvPr/>
        </p:nvSpPr>
        <p:spPr>
          <a:xfrm>
            <a:off x="348234" y="780961"/>
            <a:ext cx="6245352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After cleaning the dataset, Exploratory Data Analysis was performed to understand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sales patterns, customer behavior, and key business insights.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This step helped in identifying the most important trends and performance indicators before visualization.</a:t>
            </a:r>
          </a:p>
          <a:p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Key analysis performed: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43DE3D-EFC0-BE6A-2343-0EF193CC68ED}"/>
              </a:ext>
            </a:extLst>
          </p:cNvPr>
          <p:cNvSpPr txBox="1"/>
          <p:nvPr/>
        </p:nvSpPr>
        <p:spPr>
          <a:xfrm>
            <a:off x="642366" y="3417802"/>
            <a:ext cx="5453634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Sales Distribution Analysis:</a:t>
            </a:r>
            <a:r>
              <a:rPr lang="en-US" sz="2000" dirty="0">
                <a:solidFill>
                  <a:schemeClr val="accent4"/>
                </a:solidFill>
                <a:latin typeface="Book Antiqua" panose="02040602050305030304" pitchFamily="18" charset="0"/>
              </a:rPr>
              <a:t> 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Checked total sales, average order value, and quantity sold to understand overall business performance.</a:t>
            </a: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Category-Level Analysis:</a:t>
            </a:r>
            <a:r>
              <a:rPr lang="en-US" sz="2000" dirty="0">
                <a:solidFill>
                  <a:schemeClr val="accent4"/>
                </a:solidFill>
                <a:latin typeface="Book Antiqua" panose="02040602050305030304" pitchFamily="18" charset="0"/>
              </a:rPr>
              <a:t> 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Examined which product categories drive maximum revenue and orders.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7278C9-8247-ED88-1206-13EE0DE19DD4}"/>
              </a:ext>
            </a:extLst>
          </p:cNvPr>
          <p:cNvSpPr txBox="1"/>
          <p:nvPr/>
        </p:nvSpPr>
        <p:spPr>
          <a:xfrm>
            <a:off x="146304" y="6447187"/>
            <a:ext cx="3968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© 2025 Amazon Sales 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Book Antiqua" panose="02040602050305030304" pitchFamily="18" charset="0"/>
              </a:rPr>
              <a:t>Report</a:t>
            </a:r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 | Created by Prafull Wahatule</a:t>
            </a:r>
            <a:endParaRPr lang="en-IN" sz="1000" dirty="0">
              <a:solidFill>
                <a:schemeClr val="bg1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70480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8D9DD3-9AD0-7ABD-4166-B64AF60650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DCDB1DB-191F-F97A-823C-8BAD48CACA2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038E35C-6E79-35DA-E71D-5BE4419B1A39}"/>
              </a:ext>
            </a:extLst>
          </p:cNvPr>
          <p:cNvSpPr txBox="1"/>
          <p:nvPr/>
        </p:nvSpPr>
        <p:spPr>
          <a:xfrm>
            <a:off x="5895012" y="612842"/>
            <a:ext cx="5751946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Fulfilment Comparison:</a:t>
            </a:r>
            <a:r>
              <a:rPr lang="en-US" sz="2000" dirty="0">
                <a:solidFill>
                  <a:schemeClr val="accent4"/>
                </a:solidFill>
                <a:latin typeface="Book Antiqua" panose="02040602050305030304" pitchFamily="18" charset="0"/>
              </a:rPr>
              <a:t> 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Compared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Amazon (FBA)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vs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Merchant (FBM)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fulfilment to find which performs better.</a:t>
            </a: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Regional Insights: 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Explored state-wise and city-wise sales to identify top and low-performing regions.</a:t>
            </a: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Time Trend Analysis: 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Studied month-wise and seasonal patterns to detect high-demand periods.</a:t>
            </a: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Customer Segment Study: 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Analyzed B2B vs B2C contribution to total revenue.</a:t>
            </a:r>
          </a:p>
          <a:p>
            <a:pPr>
              <a:buClr>
                <a:schemeClr val="bg1"/>
              </a:buClr>
            </a:pPr>
            <a:endParaRPr lang="en-US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342900" indent="-342900">
              <a:buClr>
                <a:schemeClr val="accent6"/>
              </a:buClr>
              <a:buFont typeface="Wingdings" panose="05000000000000000000" pitchFamily="2" charset="2"/>
              <a:buChar char="ü"/>
            </a:pPr>
            <a:r>
              <a:rPr lang="en-US" sz="2000" i="1" dirty="0">
                <a:solidFill>
                  <a:schemeClr val="bg1"/>
                </a:solidFill>
                <a:latin typeface="Book Antiqua" panose="02040602050305030304" pitchFamily="18" charset="0"/>
              </a:rPr>
              <a:t>These findings laid the foundation for creating meaningful and insight-driven Power BI dashboards.</a:t>
            </a:r>
            <a:endParaRPr lang="en-IN" sz="2000" i="1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6D1A66-ECF6-81C6-2ECC-C85194A991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81"/>
          <a:stretch>
            <a:fillRect/>
          </a:stretch>
        </p:blipFill>
        <p:spPr>
          <a:xfrm>
            <a:off x="771525" y="1404936"/>
            <a:ext cx="4578446" cy="404812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04D5EE-4267-F0D7-A8B1-B450573997F4}"/>
              </a:ext>
            </a:extLst>
          </p:cNvPr>
          <p:cNvSpPr txBox="1"/>
          <p:nvPr/>
        </p:nvSpPr>
        <p:spPr>
          <a:xfrm>
            <a:off x="146304" y="6447187"/>
            <a:ext cx="3968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© 2025 Amazon Sales 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Book Antiqua" panose="02040602050305030304" pitchFamily="18" charset="0"/>
              </a:rPr>
              <a:t>Report</a:t>
            </a:r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 | Created by Prafull Wahatule</a:t>
            </a:r>
            <a:endParaRPr lang="en-IN" sz="1000" dirty="0">
              <a:solidFill>
                <a:schemeClr val="bg1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32652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B7336-B8EC-0FEC-C582-4102CBC47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B8E0D5-7B93-9963-C55F-30E1129E1E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623CBEA-A11C-95DF-09DB-92A97F6AD91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519" y="119062"/>
            <a:ext cx="11943656" cy="66198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5933D58-6360-F66B-A3B3-A6F2B7E2BD23}"/>
              </a:ext>
            </a:extLst>
          </p:cNvPr>
          <p:cNvSpPr txBox="1"/>
          <p:nvPr/>
        </p:nvSpPr>
        <p:spPr>
          <a:xfrm>
            <a:off x="5962650" y="2459504"/>
            <a:ext cx="5942838" cy="286232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Dashboard Design &amp; Visualization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63B5D596-1F52-6A34-9D12-CE45CEECF4C2}"/>
              </a:ext>
            </a:extLst>
          </p:cNvPr>
          <p:cNvSpPr/>
          <p:nvPr/>
        </p:nvSpPr>
        <p:spPr>
          <a:xfrm>
            <a:off x="7777996" y="1224792"/>
            <a:ext cx="1080000" cy="1080000"/>
          </a:xfrm>
          <a:prstGeom prst="flowChartConnector">
            <a:avLst/>
          </a:prstGeom>
          <a:noFill/>
          <a:ln w="28575">
            <a:solidFill>
              <a:schemeClr val="accent4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b="1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 Antiqua" panose="02040602050305030304" pitchFamily="18" charset="0"/>
              </a:rPr>
              <a:t>04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25E852D-9581-E0D1-E702-C5E497E3C9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512" y="2411074"/>
            <a:ext cx="5219461" cy="29591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9DAB2DA-D5D7-CDBF-E985-F4294C726094}"/>
              </a:ext>
            </a:extLst>
          </p:cNvPr>
          <p:cNvSpPr txBox="1"/>
          <p:nvPr/>
        </p:nvSpPr>
        <p:spPr>
          <a:xfrm>
            <a:off x="146304" y="6447187"/>
            <a:ext cx="3968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© 2025 Amazon Sales 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Book Antiqua" panose="02040602050305030304" pitchFamily="18" charset="0"/>
              </a:rPr>
              <a:t>Report</a:t>
            </a:r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 | Created by Prafull Wahatule</a:t>
            </a:r>
            <a:endParaRPr lang="en-IN" sz="1000" dirty="0">
              <a:solidFill>
                <a:schemeClr val="bg1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74043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298FB-2435-9F69-547E-9353217C2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0D417F4-12C8-F30D-5C6B-15215B9BED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99AD370-FA41-F895-9BEA-1A25EE3814A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2400" y="152401"/>
            <a:ext cx="11887200" cy="65532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3C4680B-57BD-4336-9C20-B10034FA6F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5868" y="2658503"/>
            <a:ext cx="5400000" cy="3061025"/>
          </a:xfrm>
          <a:prstGeom prst="roundRect">
            <a:avLst>
              <a:gd name="adj" fmla="val 6088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4175F66-299D-7255-73D6-61406E8F6659}"/>
              </a:ext>
            </a:extLst>
          </p:cNvPr>
          <p:cNvSpPr txBox="1"/>
          <p:nvPr/>
        </p:nvSpPr>
        <p:spPr>
          <a:xfrm>
            <a:off x="468788" y="665887"/>
            <a:ext cx="11254424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Overview: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The </a:t>
            </a:r>
            <a:r>
              <a:rPr lang="en-US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Overview Page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 provides a complete summary of overall Amazon sales performance.</a:t>
            </a:r>
            <a:b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It helps stakeholders quickly identify </a:t>
            </a:r>
            <a:r>
              <a:rPr lang="en-US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key business trends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, monitor </a:t>
            </a:r>
            <a:r>
              <a:rPr lang="en-US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sales performance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, and find </a:t>
            </a:r>
            <a:r>
              <a:rPr lang="en-US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growth opportunities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 at a glance.</a:t>
            </a:r>
            <a:endParaRPr lang="en-IN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458EFA-946A-3F5D-589D-598F51E95632}"/>
              </a:ext>
            </a:extLst>
          </p:cNvPr>
          <p:cNvSpPr txBox="1"/>
          <p:nvPr/>
        </p:nvSpPr>
        <p:spPr>
          <a:xfrm>
            <a:off x="2017984" y="5273252"/>
            <a:ext cx="2977548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Monthly Sales Trend</a:t>
            </a:r>
          </a:p>
          <a:p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Tracks month-wise sales growth and seasonality.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6A0644-896F-65D7-00C4-020B8E08B579}"/>
              </a:ext>
            </a:extLst>
          </p:cNvPr>
          <p:cNvSpPr txBox="1"/>
          <p:nvPr/>
        </p:nvSpPr>
        <p:spPr>
          <a:xfrm>
            <a:off x="4148745" y="2002282"/>
            <a:ext cx="2364169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Top 5 Category by Total Sales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Displays best-performing categories based on revenue.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4FACC4-1617-4E93-DDB6-B237FCF2FACA}"/>
              </a:ext>
            </a:extLst>
          </p:cNvPr>
          <p:cNvSpPr txBox="1"/>
          <p:nvPr/>
        </p:nvSpPr>
        <p:spPr>
          <a:xfrm>
            <a:off x="835900" y="2051840"/>
            <a:ext cx="2364169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Fulfilment by Total Sales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Compares Amazon (FBA) vs Merchant (FBM) contribution.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ECE93-877A-212B-671A-7CA162372AE4}"/>
              </a:ext>
            </a:extLst>
          </p:cNvPr>
          <p:cNvSpPr txBox="1"/>
          <p:nvPr/>
        </p:nvSpPr>
        <p:spPr>
          <a:xfrm>
            <a:off x="835900" y="3655445"/>
            <a:ext cx="215187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State Wise Total Sales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Geographical map showing regional sales performance.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CA8386-B8D5-A4C9-11A3-954F3C63D735}"/>
              </a:ext>
            </a:extLst>
          </p:cNvPr>
          <p:cNvSpPr txBox="1"/>
          <p:nvPr/>
        </p:nvSpPr>
        <p:spPr>
          <a:xfrm>
            <a:off x="4148745" y="3625903"/>
            <a:ext cx="245982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Promotion Type by Total Sales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Shows how promotions impact total revenue.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94C97B-D2C7-33CE-4EF1-55CCD148C995}"/>
              </a:ext>
            </a:extLst>
          </p:cNvPr>
          <p:cNvSpPr txBox="1"/>
          <p:nvPr/>
        </p:nvSpPr>
        <p:spPr>
          <a:xfrm>
            <a:off x="146304" y="6447187"/>
            <a:ext cx="3968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© 2025 Amazon Sales 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Book Antiqua" panose="02040602050305030304" pitchFamily="18" charset="0"/>
              </a:rPr>
              <a:t>Report</a:t>
            </a:r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 | Created by Prafull Wahatule</a:t>
            </a:r>
            <a:endParaRPr lang="en-IN" sz="1000" dirty="0">
              <a:solidFill>
                <a:schemeClr val="bg1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71595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178A5-3354-C6C9-19A9-E2F6A86E2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2FD868-0538-E569-19D9-44E4F63695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5A25742-140E-123B-42B7-86E4E4C789F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855" y="145648"/>
            <a:ext cx="11852290" cy="655042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150C573-020C-451A-E056-A3F60FAFFE1F}"/>
              </a:ext>
            </a:extLst>
          </p:cNvPr>
          <p:cNvSpPr txBox="1"/>
          <p:nvPr/>
        </p:nvSpPr>
        <p:spPr>
          <a:xfrm>
            <a:off x="528637" y="694462"/>
            <a:ext cx="11134726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Product: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The Product Page provides a detailed view of </a:t>
            </a:r>
            <a:r>
              <a:rPr lang="en-US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product-level performance and demand trends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.</a:t>
            </a:r>
            <a:b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It helps stakeholders identify top-selling categories, SKUs, and sizes — enabling smarter decisions in </a:t>
            </a:r>
            <a:r>
              <a:rPr lang="en-US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inventory planning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, </a:t>
            </a:r>
            <a:r>
              <a:rPr lang="en-US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marketing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, and </a:t>
            </a:r>
            <a:r>
              <a:rPr lang="en-US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sales strategy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.</a:t>
            </a:r>
            <a:endParaRPr lang="en-IN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4018B0D-DEE1-0BBB-3531-1D916A9DDF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5431" y="2383209"/>
            <a:ext cx="5400000" cy="3058202"/>
          </a:xfrm>
          <a:prstGeom prst="roundRect">
            <a:avLst>
              <a:gd name="adj" fmla="val 5143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A529C7E-9E32-81C7-9DAD-241B612D95A1}"/>
              </a:ext>
            </a:extLst>
          </p:cNvPr>
          <p:cNvSpPr txBox="1"/>
          <p:nvPr/>
        </p:nvSpPr>
        <p:spPr>
          <a:xfrm>
            <a:off x="760669" y="3324860"/>
            <a:ext cx="242470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Top 3 SKU by Total Sales 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Displays SKUs generating the highest revenue</a:t>
            </a:r>
            <a:r>
              <a:rPr lang="en-US" sz="1800" dirty="0">
                <a:solidFill>
                  <a:schemeClr val="bg1"/>
                </a:solidFill>
                <a:latin typeface="Book Antiqua" panose="02040602050305030304" pitchFamily="18" charset="0"/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3372E8-0A96-1AE4-B673-663CCDD9E576}"/>
              </a:ext>
            </a:extLst>
          </p:cNvPr>
          <p:cNvSpPr txBox="1"/>
          <p:nvPr/>
        </p:nvSpPr>
        <p:spPr>
          <a:xfrm>
            <a:off x="760669" y="1978883"/>
            <a:ext cx="23987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Top 3 SKU by Total Quantity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Highlights most sold SKUs by volume.</a:t>
            </a:r>
            <a:endParaRPr lang="en-US" sz="18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F373E0-5D11-1CEA-10ED-35AEAAB7ACAC}"/>
              </a:ext>
            </a:extLst>
          </p:cNvPr>
          <p:cNvSpPr txBox="1"/>
          <p:nvPr/>
        </p:nvSpPr>
        <p:spPr>
          <a:xfrm>
            <a:off x="760669" y="4947836"/>
            <a:ext cx="2398704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Total Sales by Size  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Shows which size variants contribute most to total sales.</a:t>
            </a:r>
            <a:endParaRPr lang="en-US" sz="18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638E53-BD18-1D5F-99A6-36AEB5B50544}"/>
              </a:ext>
            </a:extLst>
          </p:cNvPr>
          <p:cNvSpPr txBox="1"/>
          <p:nvPr/>
        </p:nvSpPr>
        <p:spPr>
          <a:xfrm>
            <a:off x="3905636" y="1982450"/>
            <a:ext cx="2659755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Quantity by Month &amp; Category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Tracks monthly demand fluctuations across categories.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F963D1-4CC3-DF1E-C29C-8C0C26C7C99A}"/>
              </a:ext>
            </a:extLst>
          </p:cNvPr>
          <p:cNvSpPr txBox="1"/>
          <p:nvPr/>
        </p:nvSpPr>
        <p:spPr>
          <a:xfrm>
            <a:off x="3905635" y="3574648"/>
            <a:ext cx="265975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buNone/>
              <a:defRPr b="1">
                <a:solidFill>
                  <a:schemeClr val="accent4"/>
                </a:solidFill>
                <a:latin typeface="Bookman Old Style" panose="02050604050505020204" pitchFamily="18" charset="0"/>
              </a:defRPr>
            </a:lvl1pPr>
          </a:lstStyle>
          <a:p>
            <a:pPr>
              <a:buClr>
                <a:schemeClr val="accent4"/>
              </a:buClr>
            </a:pPr>
            <a:r>
              <a:rPr lang="en-US" sz="2000" dirty="0">
                <a:latin typeface="Book Antiqua" panose="02040602050305030304" pitchFamily="18" charset="0"/>
              </a:rPr>
              <a:t>Total Sales by Category  </a:t>
            </a:r>
            <a:r>
              <a:rPr lang="en-US" sz="1600" b="0" dirty="0">
                <a:solidFill>
                  <a:schemeClr val="bg1"/>
                </a:solidFill>
                <a:latin typeface="Book Antiqua" panose="02040602050305030304" pitchFamily="18" charset="0"/>
              </a:rPr>
              <a:t>Compares category-wise revenue performance to find top contributors.</a:t>
            </a:r>
            <a:endParaRPr lang="en-US" sz="1400" b="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FB64BF-4874-E100-09EA-8A9A7D0F9360}"/>
              </a:ext>
            </a:extLst>
          </p:cNvPr>
          <p:cNvSpPr txBox="1"/>
          <p:nvPr/>
        </p:nvSpPr>
        <p:spPr>
          <a:xfrm>
            <a:off x="146304" y="6447187"/>
            <a:ext cx="3968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© 2025 Amazon Sales 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Book Antiqua" panose="02040602050305030304" pitchFamily="18" charset="0"/>
              </a:rPr>
              <a:t>Report</a:t>
            </a:r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 | Created by Prafull Wahatule</a:t>
            </a:r>
            <a:endParaRPr lang="en-IN" sz="1000" dirty="0">
              <a:solidFill>
                <a:schemeClr val="bg1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03318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FC0AB-144D-BA5A-E91C-897BCC1E1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8942E7-F9D5-E172-6FDA-B98CD4E60B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BAD5032-4F16-FD25-339D-166F6142EA7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53" y="0"/>
            <a:ext cx="12081094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ACDB34D-D682-4F9A-E591-D913EFEA63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963" y="2523176"/>
            <a:ext cx="5400000" cy="3065385"/>
          </a:xfrm>
          <a:prstGeom prst="roundRect">
            <a:avLst>
              <a:gd name="adj" fmla="val 4350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F0317E-6992-4984-C53C-10DD21F88331}"/>
              </a:ext>
            </a:extLst>
          </p:cNvPr>
          <p:cNvSpPr txBox="1"/>
          <p:nvPr/>
        </p:nvSpPr>
        <p:spPr>
          <a:xfrm>
            <a:off x="666749" y="646035"/>
            <a:ext cx="10858501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Fulfilment:</a:t>
            </a:r>
            <a:br>
              <a:rPr lang="en-IN" dirty="0">
                <a:latin typeface="Book Antiqua" panose="02040602050305030304" pitchFamily="18" charset="0"/>
              </a:rPr>
            </a:b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The Fulfilment Page provides insights into </a:t>
            </a:r>
            <a:r>
              <a:rPr lang="en-IN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delivery performance and operational efficiency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.</a:t>
            </a:r>
            <a:b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It helps stakeholders compare </a:t>
            </a:r>
            <a:r>
              <a:rPr lang="en-IN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Amazon (FBA)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 and </a:t>
            </a:r>
            <a:r>
              <a:rPr lang="en-IN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Merchant (FBM)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 fulfilment models to identify performance gaps, monitor delivery success, and improve logistics strategy.</a:t>
            </a:r>
            <a:endParaRPr lang="en-IN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E37389-6736-431E-43B1-5E95920FF097}"/>
              </a:ext>
            </a:extLst>
          </p:cNvPr>
          <p:cNvSpPr txBox="1"/>
          <p:nvPr/>
        </p:nvSpPr>
        <p:spPr>
          <a:xfrm>
            <a:off x="6125424" y="2101511"/>
            <a:ext cx="252090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IN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FBA &amp; FBM Share %</a:t>
            </a:r>
          </a:p>
          <a:p>
            <a:pPr>
              <a:buClr>
                <a:schemeClr val="accent4"/>
              </a:buClr>
            </a:pP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Displays Amazon’s &amp; Merchant contribution to total sales.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B72DF5-8875-BC9D-63AB-30CDBFAEE983}"/>
              </a:ext>
            </a:extLst>
          </p:cNvPr>
          <p:cNvSpPr txBox="1"/>
          <p:nvPr/>
        </p:nvSpPr>
        <p:spPr>
          <a:xfrm>
            <a:off x="9262828" y="3735735"/>
            <a:ext cx="243234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IN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Quantity by Fulfilment</a:t>
            </a:r>
            <a:r>
              <a:rPr lang="en-IN" sz="2000" dirty="0">
                <a:solidFill>
                  <a:schemeClr val="accent4"/>
                </a:solidFill>
                <a:latin typeface="Book Antiqua" panose="02040602050305030304" pitchFamily="18" charset="0"/>
              </a:rPr>
              <a:t> 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Compares total quantity handled by FBA and FBM.</a:t>
            </a:r>
            <a:endParaRPr lang="en-IN" sz="18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63780F-217F-7F27-7CFE-278EC948C379}"/>
              </a:ext>
            </a:extLst>
          </p:cNvPr>
          <p:cNvSpPr txBox="1"/>
          <p:nvPr/>
        </p:nvSpPr>
        <p:spPr>
          <a:xfrm>
            <a:off x="6859009" y="5410853"/>
            <a:ext cx="4338932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IN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Average Delivery by Fulfilment </a:t>
            </a:r>
          </a:p>
          <a:p>
            <a:pPr>
              <a:buClr>
                <a:schemeClr val="accent4"/>
              </a:buClr>
            </a:pP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Shows which fulfilment model achieves higher average order value.</a:t>
            </a:r>
            <a:endParaRPr lang="en-IN" sz="18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60D7EC-89E6-D016-AE2E-FBFBAD034613}"/>
              </a:ext>
            </a:extLst>
          </p:cNvPr>
          <p:cNvSpPr txBox="1"/>
          <p:nvPr/>
        </p:nvSpPr>
        <p:spPr>
          <a:xfrm>
            <a:off x="6125424" y="3735735"/>
            <a:ext cx="253136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IN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Delivered Orders % by Month</a:t>
            </a:r>
          </a:p>
          <a:p>
            <a:pPr>
              <a:buClr>
                <a:schemeClr val="accent4"/>
              </a:buClr>
            </a:pP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Tracks monthly delivery success rates and efficiency trends.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BCC064-1A4E-58CE-CFAE-BFDC4D52FDB6}"/>
              </a:ext>
            </a:extLst>
          </p:cNvPr>
          <p:cNvSpPr txBox="1"/>
          <p:nvPr/>
        </p:nvSpPr>
        <p:spPr>
          <a:xfrm>
            <a:off x="9262829" y="2073890"/>
            <a:ext cx="2432347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IN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Quantity by City &amp; Fulfilment</a:t>
            </a:r>
            <a:r>
              <a:rPr lang="en-IN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 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Highlights city-wise fulfilment volume for operational planning.</a:t>
            </a:r>
            <a:endParaRPr lang="en-IN" sz="18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31C0635-7970-E664-3BDF-9705CFD7E0EA}"/>
              </a:ext>
            </a:extLst>
          </p:cNvPr>
          <p:cNvSpPr txBox="1"/>
          <p:nvPr/>
        </p:nvSpPr>
        <p:spPr>
          <a:xfrm>
            <a:off x="146304" y="6447187"/>
            <a:ext cx="3968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© 2025 Amazon Sales 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Book Antiqua" panose="02040602050305030304" pitchFamily="18" charset="0"/>
              </a:rPr>
              <a:t>Report</a:t>
            </a:r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 | Created by Prafull Wahatule</a:t>
            </a:r>
            <a:endParaRPr lang="en-IN" sz="1000" dirty="0">
              <a:solidFill>
                <a:schemeClr val="bg1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39590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03832-DBC8-1FA4-FDBF-EA909FB59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18DD4C-5159-8C20-431C-537F69313A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65CE38D-4C72-545E-8C27-3B77DD53430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81" y="95250"/>
            <a:ext cx="12059437" cy="66675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8B151D4-A9A6-F35F-C0D5-45662AAE80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914" y="2431587"/>
            <a:ext cx="5400000" cy="3070899"/>
          </a:xfrm>
          <a:prstGeom prst="roundRect">
            <a:avLst>
              <a:gd name="adj" fmla="val 6802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DF7C8B0-15DE-05EA-8C8D-9187698FD5FC}"/>
              </a:ext>
            </a:extLst>
          </p:cNvPr>
          <p:cNvSpPr txBox="1"/>
          <p:nvPr/>
        </p:nvSpPr>
        <p:spPr>
          <a:xfrm>
            <a:off x="481011" y="340937"/>
            <a:ext cx="11229975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Regional:</a:t>
            </a:r>
            <a:br>
              <a:rPr lang="en-IN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The Delivery page focuses on </a:t>
            </a:r>
            <a:r>
              <a:rPr lang="en-IN" sz="1600" dirty="0" err="1">
                <a:solidFill>
                  <a:schemeClr val="bg1"/>
                </a:solidFill>
                <a:latin typeface="Book Antiqua" panose="02040602050305030304" pitchFamily="18" charset="0"/>
              </a:rPr>
              <a:t>analyzing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 </a:t>
            </a:r>
            <a:r>
              <a:rPr lang="en-IN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shipment performance and fulfilment efficiency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.</a:t>
            </a:r>
            <a:b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It helps stakeholders:</a:t>
            </a:r>
            <a:endParaRPr lang="en-IN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A67FC9-80C1-D323-EE56-89A7F231E650}"/>
              </a:ext>
            </a:extLst>
          </p:cNvPr>
          <p:cNvSpPr txBox="1"/>
          <p:nvPr/>
        </p:nvSpPr>
        <p:spPr>
          <a:xfrm>
            <a:off x="950121" y="1203434"/>
            <a:ext cx="1001110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4"/>
              </a:buClr>
              <a:buSzPct val="100000"/>
              <a:buFont typeface="Wingdings" panose="05000000000000000000" pitchFamily="2" charset="2"/>
              <a:buChar char="§"/>
            </a:pP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Compare </a:t>
            </a:r>
            <a:r>
              <a:rPr lang="en-IN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Amazon (FBA)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 and </a:t>
            </a:r>
            <a:r>
              <a:rPr lang="en-IN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Merchant (FBM)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 delivery effectiveness</a:t>
            </a:r>
          </a:p>
          <a:p>
            <a:pPr marL="285750" indent="-285750">
              <a:buClr>
                <a:schemeClr val="accent4"/>
              </a:buClr>
              <a:buSzPct val="100000"/>
              <a:buFont typeface="Wingdings" panose="05000000000000000000" pitchFamily="2" charset="2"/>
              <a:buChar char="§"/>
            </a:pP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Identify </a:t>
            </a:r>
            <a:r>
              <a:rPr lang="en-IN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operational bottlenecks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 and improve customer experience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7E38D0-023F-4F1A-7D28-4A722927632F}"/>
              </a:ext>
            </a:extLst>
          </p:cNvPr>
          <p:cNvSpPr txBox="1"/>
          <p:nvPr/>
        </p:nvSpPr>
        <p:spPr>
          <a:xfrm>
            <a:off x="6097519" y="1959226"/>
            <a:ext cx="2683885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Delivery Efficiency Table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Displays order-wise delivery details for performance monitoring.</a:t>
            </a:r>
            <a:endParaRPr lang="en-US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0C9D4F-3D71-E3E9-ABB3-CFEE42D07719}"/>
              </a:ext>
            </a:extLst>
          </p:cNvPr>
          <p:cNvSpPr txBox="1"/>
          <p:nvPr/>
        </p:nvSpPr>
        <p:spPr>
          <a:xfrm>
            <a:off x="6095998" y="3747246"/>
            <a:ext cx="2685407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Delivery Status Overview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Shows the proportion of delivered, returned, and pending orders.</a:t>
            </a:r>
            <a:endParaRPr lang="en-US" sz="1600" dirty="0">
              <a:solidFill>
                <a:schemeClr val="accent4"/>
              </a:solidFill>
              <a:latin typeface="Book Antiqua" panose="0204060205030503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F31128-9E0C-F65B-A207-F57AB8B758CE}"/>
              </a:ext>
            </a:extLst>
          </p:cNvPr>
          <p:cNvSpPr txBox="1"/>
          <p:nvPr/>
        </p:nvSpPr>
        <p:spPr>
          <a:xfrm>
            <a:off x="9287334" y="1957767"/>
            <a:ext cx="250155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Monthly Delivery Trend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Tracks delivery performance and timeliness over time</a:t>
            </a:r>
            <a:r>
              <a:rPr lang="en-US" sz="1800" dirty="0">
                <a:solidFill>
                  <a:schemeClr val="bg1"/>
                </a:solidFill>
                <a:latin typeface="Book Antiqua" panose="02040602050305030304" pitchFamily="18" charset="0"/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20AB82-7C38-C710-E2E1-2E7E5964A9D0}"/>
              </a:ext>
            </a:extLst>
          </p:cNvPr>
          <p:cNvSpPr txBox="1"/>
          <p:nvPr/>
        </p:nvSpPr>
        <p:spPr>
          <a:xfrm>
            <a:off x="6751560" y="5531997"/>
            <a:ext cx="4638544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Avg Delivery Time by Fulfilment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Compares average delivery duration between FBA and FBM.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1C782D-DDD1-5673-5641-CE41334D7DD7}"/>
              </a:ext>
            </a:extLst>
          </p:cNvPr>
          <p:cNvSpPr txBox="1"/>
          <p:nvPr/>
        </p:nvSpPr>
        <p:spPr>
          <a:xfrm>
            <a:off x="9287334" y="3747246"/>
            <a:ext cx="2501559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Top 5 States by Delivery Count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Highlights states with the highest delivery volumes.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1B50E26-C32E-441E-2AAF-805FEB888206}"/>
              </a:ext>
            </a:extLst>
          </p:cNvPr>
          <p:cNvSpPr txBox="1"/>
          <p:nvPr/>
        </p:nvSpPr>
        <p:spPr>
          <a:xfrm>
            <a:off x="146304" y="6447187"/>
            <a:ext cx="3968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© 2025 Amazon Sales 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Book Antiqua" panose="02040602050305030304" pitchFamily="18" charset="0"/>
              </a:rPr>
              <a:t>Report</a:t>
            </a:r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 | Created by Prafull Wahatule</a:t>
            </a:r>
            <a:endParaRPr lang="en-IN" sz="1000" dirty="0">
              <a:solidFill>
                <a:schemeClr val="bg1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15842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BE2A5-6713-58DD-D123-E7F7AA1DB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0701443-4248-5D90-2EC2-8273C08FDD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85AFAA0-11A8-835D-4467-9FA58A24325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98" y="57150"/>
            <a:ext cx="12076604" cy="672465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BD8ECFA-BC20-322D-6C83-0F18B6533F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9235" y="2765868"/>
            <a:ext cx="5400000" cy="3066534"/>
          </a:xfrm>
          <a:prstGeom prst="roundRect">
            <a:avLst>
              <a:gd name="adj" fmla="val 7649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BA8B703-015E-4E11-1B5E-9CD05BEB163D}"/>
              </a:ext>
            </a:extLst>
          </p:cNvPr>
          <p:cNvSpPr txBox="1"/>
          <p:nvPr/>
        </p:nvSpPr>
        <p:spPr>
          <a:xfrm>
            <a:off x="640552" y="495211"/>
            <a:ext cx="11269797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Promotion:</a:t>
            </a:r>
            <a:br>
              <a:rPr lang="en-US" dirty="0">
                <a:latin typeface="Book Antiqua" panose="02040602050305030304" pitchFamily="18" charset="0"/>
              </a:rPr>
            </a:b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The Promotion page focuses on evaluating </a:t>
            </a:r>
            <a:r>
              <a:rPr lang="en-US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sales performance influenced by promotional offers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.</a:t>
            </a:r>
            <a:b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It helps stakeholders:</a:t>
            </a:r>
            <a:endParaRPr lang="en-IN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A4846A-CFAA-F9DF-87DC-06B5215F4688}"/>
              </a:ext>
            </a:extLst>
          </p:cNvPr>
          <p:cNvSpPr txBox="1"/>
          <p:nvPr/>
        </p:nvSpPr>
        <p:spPr>
          <a:xfrm>
            <a:off x="1035922" y="1405833"/>
            <a:ext cx="89993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Identify top-performing promotions and their contribution to revenue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Compare organic vs promotional sales to assess marketing effectiveness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84CAB0-F6ED-6D27-DEB4-36B95E2CDCCD}"/>
              </a:ext>
            </a:extLst>
          </p:cNvPr>
          <p:cNvSpPr txBox="1"/>
          <p:nvPr/>
        </p:nvSpPr>
        <p:spPr>
          <a:xfrm>
            <a:off x="640552" y="2129108"/>
            <a:ext cx="2420493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Promotion Type % by Qty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Shows the share of orders made with and without promotions.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5D1E5D-2B4F-1E76-AF66-8CEA0225FA83}"/>
              </a:ext>
            </a:extLst>
          </p:cNvPr>
          <p:cNvSpPr txBox="1"/>
          <p:nvPr/>
        </p:nvSpPr>
        <p:spPr>
          <a:xfrm>
            <a:off x="1428375" y="5635905"/>
            <a:ext cx="4414391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Total Sales by Promotion Type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Compares total revenue generated under each promotion type.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FFB202-6E87-E9B0-8682-61067AFB086A}"/>
              </a:ext>
            </a:extLst>
          </p:cNvPr>
          <p:cNvSpPr txBox="1"/>
          <p:nvPr/>
        </p:nvSpPr>
        <p:spPr>
          <a:xfrm>
            <a:off x="3952562" y="3754112"/>
            <a:ext cx="255070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Top 5 Promotion IDs by Qty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Highlights the best-performing promotions by order volume.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F51B65-3581-A8DE-AEBA-2C9FF04A8E5D}"/>
              </a:ext>
            </a:extLst>
          </p:cNvPr>
          <p:cNvSpPr txBox="1"/>
          <p:nvPr/>
        </p:nvSpPr>
        <p:spPr>
          <a:xfrm>
            <a:off x="703444" y="3759396"/>
            <a:ext cx="2420493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Sales by Size &amp; Qty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Displays how sales vary across product sizes during promotional periods.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598DD3-39DE-AD05-328A-E46E2D8B2909}"/>
              </a:ext>
            </a:extLst>
          </p:cNvPr>
          <p:cNvSpPr txBox="1"/>
          <p:nvPr/>
        </p:nvSpPr>
        <p:spPr>
          <a:xfrm>
            <a:off x="3958359" y="2129108"/>
            <a:ext cx="2499971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Sales by Month &amp; Promotion Type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Tracks monthly trends for promotional vs non-promotional sales.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919EEB4-E9D9-10A2-8EBC-EC9FCF5ABABA}"/>
              </a:ext>
            </a:extLst>
          </p:cNvPr>
          <p:cNvSpPr txBox="1"/>
          <p:nvPr/>
        </p:nvSpPr>
        <p:spPr>
          <a:xfrm>
            <a:off x="146304" y="6447187"/>
            <a:ext cx="3968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© 2025 Amazon Sales 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Book Antiqua" panose="02040602050305030304" pitchFamily="18" charset="0"/>
              </a:rPr>
              <a:t>Report</a:t>
            </a:r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 | Created by Prafull Wahatule</a:t>
            </a:r>
            <a:endParaRPr lang="en-IN" sz="1000" dirty="0">
              <a:solidFill>
                <a:schemeClr val="bg1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42101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7B06F7-474E-50F2-0B22-5A8CBFD1E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A139C7B-AA3E-E731-5236-85E9399BD4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6BEF7A6-C689-5EE2-356E-8497802FB6C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46" y="231647"/>
            <a:ext cx="12106908" cy="67341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1570507-C8C5-77BC-A049-A04E96CA6E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4757" y="2726503"/>
            <a:ext cx="5400000" cy="3058848"/>
          </a:xfrm>
          <a:prstGeom prst="roundRect">
            <a:avLst>
              <a:gd name="adj" fmla="val 7585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B6C8FA-8187-EE5D-1330-66DBEDB8F465}"/>
              </a:ext>
            </a:extLst>
          </p:cNvPr>
          <p:cNvSpPr txBox="1"/>
          <p:nvPr/>
        </p:nvSpPr>
        <p:spPr>
          <a:xfrm>
            <a:off x="651558" y="401046"/>
            <a:ext cx="10888884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Forecasting:</a:t>
            </a:r>
            <a:br>
              <a:rPr lang="en-US" sz="1600" dirty="0">
                <a:latin typeface="Book Antiqua" panose="02040602050305030304" pitchFamily="18" charset="0"/>
              </a:rPr>
            </a:b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The Forecasting page focuses on analyzing </a:t>
            </a:r>
            <a:r>
              <a:rPr lang="en-US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historical sales trends and predicting future performance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.</a:t>
            </a:r>
            <a:b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It helps stakeholders:</a:t>
            </a:r>
            <a:endParaRPr lang="en-IN" sz="16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900E26-E61B-CFDD-802B-543FCDF2C8E6}"/>
              </a:ext>
            </a:extLst>
          </p:cNvPr>
          <p:cNvSpPr txBox="1"/>
          <p:nvPr/>
        </p:nvSpPr>
        <p:spPr>
          <a:xfrm>
            <a:off x="912519" y="1267501"/>
            <a:ext cx="631124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Understand past sales patterns and seasonality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Identify peak and low-demand months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Plan inventory, marketing, and operational strategies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FCEEA5-EC95-CC33-983D-ED77CE531C64}"/>
              </a:ext>
            </a:extLst>
          </p:cNvPr>
          <p:cNvSpPr txBox="1"/>
          <p:nvPr/>
        </p:nvSpPr>
        <p:spPr>
          <a:xfrm>
            <a:off x="651558" y="2423891"/>
            <a:ext cx="274086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Sales by Shipping Type &amp; Month</a:t>
            </a:r>
          </a:p>
          <a:p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Displays monthly sales distribution by shipping type to optimize delivery.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64533B-65A7-07F8-B5E9-814D51281B96}"/>
              </a:ext>
            </a:extLst>
          </p:cNvPr>
          <p:cNvSpPr txBox="1"/>
          <p:nvPr/>
        </p:nvSpPr>
        <p:spPr>
          <a:xfrm>
            <a:off x="3897384" y="2418078"/>
            <a:ext cx="274086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Category Wise Monthly Trend</a:t>
            </a:r>
          </a:p>
          <a:p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Highlights monthly sales of each product category to spot seasonal demand.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2D0B7A-7B83-27C7-3711-22B1412F9622}"/>
              </a:ext>
            </a:extLst>
          </p:cNvPr>
          <p:cNvSpPr txBox="1"/>
          <p:nvPr/>
        </p:nvSpPr>
        <p:spPr>
          <a:xfrm>
            <a:off x="3897385" y="4235389"/>
            <a:ext cx="274086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Fulfilment Type Trend</a:t>
            </a:r>
          </a:p>
          <a:p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Compares FBA vs FBM sales per month to assess operational efficiency.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DE8F78-5A85-52A7-DD9B-8FFDDE046483}"/>
              </a:ext>
            </a:extLst>
          </p:cNvPr>
          <p:cNvSpPr txBox="1"/>
          <p:nvPr/>
        </p:nvSpPr>
        <p:spPr>
          <a:xfrm>
            <a:off x="651559" y="4239622"/>
            <a:ext cx="274086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Business To Business Trend</a:t>
            </a:r>
          </a:p>
          <a:p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Shows revenue contribution from B2B vs B2C orders for segment planning.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C3EDFF6-77BA-2D06-11A0-1C05C47B7EB8}"/>
              </a:ext>
            </a:extLst>
          </p:cNvPr>
          <p:cNvSpPr txBox="1"/>
          <p:nvPr/>
        </p:nvSpPr>
        <p:spPr>
          <a:xfrm>
            <a:off x="146304" y="6447187"/>
            <a:ext cx="3968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© 2025 Amazon Sales 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Book Antiqua" panose="02040602050305030304" pitchFamily="18" charset="0"/>
              </a:rPr>
              <a:t>Report</a:t>
            </a:r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 | Created by Prafull Wahatule</a:t>
            </a:r>
            <a:endParaRPr lang="en-IN" sz="1000" dirty="0">
              <a:solidFill>
                <a:schemeClr val="bg1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74214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4FF13-A281-2D32-6962-A7D066308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1F61AB8-4F67-AA2F-E9A2-FDAA0EA80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C81E38-7A16-6A09-6AFC-2A23E1946F9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44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8F10DCE-971B-BC1C-1DA8-B04641021FC1}"/>
              </a:ext>
            </a:extLst>
          </p:cNvPr>
          <p:cNvSpPr txBox="1"/>
          <p:nvPr/>
        </p:nvSpPr>
        <p:spPr>
          <a:xfrm>
            <a:off x="6975697" y="2459503"/>
            <a:ext cx="4805481" cy="193899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Key Insights &amp; Findings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E9FC07DD-8E27-EBC5-2BC3-8F66E97BD75B}"/>
              </a:ext>
            </a:extLst>
          </p:cNvPr>
          <p:cNvSpPr/>
          <p:nvPr/>
        </p:nvSpPr>
        <p:spPr>
          <a:xfrm>
            <a:off x="8838437" y="1161953"/>
            <a:ext cx="1080000" cy="1080000"/>
          </a:xfrm>
          <a:prstGeom prst="flowChartConnector">
            <a:avLst/>
          </a:prstGeom>
          <a:noFill/>
          <a:ln w="28575">
            <a:solidFill>
              <a:schemeClr val="accent4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b="1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 Antiqua" panose="02040602050305030304" pitchFamily="18" charset="0"/>
              </a:rPr>
              <a:t>05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9EE89FA-130D-AE05-FF97-65B3419157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903" y="1161954"/>
            <a:ext cx="6803794" cy="4534091"/>
          </a:xfrm>
          <a:prstGeom prst="rect">
            <a:avLst/>
          </a:prstGeom>
          <a:ln>
            <a:noFill/>
          </a:ln>
          <a:effectLst>
            <a:softEdge rad="6350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79F3C57-5B0B-BD22-143E-026136FF1490}"/>
              </a:ext>
            </a:extLst>
          </p:cNvPr>
          <p:cNvSpPr txBox="1"/>
          <p:nvPr/>
        </p:nvSpPr>
        <p:spPr>
          <a:xfrm>
            <a:off x="146304" y="6447187"/>
            <a:ext cx="3968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© 2025 Amazon Sales 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Book Antiqua" panose="02040602050305030304" pitchFamily="18" charset="0"/>
              </a:rPr>
              <a:t>Report</a:t>
            </a:r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 | Created by Prafull Wahatule</a:t>
            </a:r>
            <a:endParaRPr lang="en-IN" sz="1000" dirty="0">
              <a:solidFill>
                <a:schemeClr val="bg1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8036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76B65-3565-5843-5FAA-4DD0549C0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12D6E3-20BE-3532-99A4-F76EBD8893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C0617A1-B11D-D78A-2E61-05C77661ABD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44" y="-9144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A907C41-1CAA-87CA-5FF4-BDEE4C8DDC8E}"/>
              </a:ext>
            </a:extLst>
          </p:cNvPr>
          <p:cNvSpPr txBox="1"/>
          <p:nvPr/>
        </p:nvSpPr>
        <p:spPr>
          <a:xfrm>
            <a:off x="523494" y="1536173"/>
            <a:ext cx="5392674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ü"/>
            </a:pPr>
            <a:r>
              <a:rPr lang="en-IN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Overall Performance: 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Quick access to total sales, orders, quantity sold, and average order value for a complete business snapshot. (Home Page)</a:t>
            </a:r>
          </a:p>
          <a:p>
            <a:pPr>
              <a:buClr>
                <a:schemeClr val="accent4"/>
              </a:buClr>
            </a:pPr>
            <a:endParaRPr lang="en-IN" sz="1600" b="1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ü"/>
            </a:pPr>
            <a:r>
              <a:rPr lang="en-IN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Top Product Categories &amp; SKUs: 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Identify best-selling categories and SKUs to focus on revenue-driving products. (Overview &amp; Product Pages)</a:t>
            </a:r>
          </a:p>
          <a:p>
            <a:pPr>
              <a:buClr>
                <a:schemeClr val="accent4"/>
              </a:buClr>
            </a:pPr>
            <a:endParaRPr lang="en-IN" sz="16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ü"/>
            </a:pPr>
            <a:r>
              <a:rPr lang="en-IN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Fulfilment Efficiency: 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Understand FBA vs FBM contribution, delivered order percentages, and city-wise fulfilment distribution. (Fulfilment Page)</a:t>
            </a:r>
          </a:p>
          <a:p>
            <a:pPr>
              <a:buClr>
                <a:schemeClr val="accent4"/>
              </a:buClr>
            </a:pPr>
            <a:endParaRPr lang="en-IN" sz="16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ü"/>
            </a:pPr>
            <a:r>
              <a:rPr lang="en-IN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Regional Insights: 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Detect high-performing and underperforming states/cities for targeted marketing, inventory, and logistics planning. (Region Page)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435B40-42F8-7BAF-E095-CD5BEB9B79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2562"/>
          <a:stretch>
            <a:fillRect/>
          </a:stretch>
        </p:blipFill>
        <p:spPr>
          <a:xfrm>
            <a:off x="5562600" y="686597"/>
            <a:ext cx="6629400" cy="5484805"/>
          </a:xfrm>
          <a:prstGeom prst="rect">
            <a:avLst/>
          </a:prstGeom>
          <a:effectLst>
            <a:softEdge rad="6350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F469B2-CC89-311B-A1CA-80EA2AD837D7}"/>
              </a:ext>
            </a:extLst>
          </p:cNvPr>
          <p:cNvSpPr txBox="1"/>
          <p:nvPr/>
        </p:nvSpPr>
        <p:spPr>
          <a:xfrm>
            <a:off x="146304" y="6447187"/>
            <a:ext cx="3968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© 2025 Amazon Sales 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Book Antiqua" panose="02040602050305030304" pitchFamily="18" charset="0"/>
              </a:rPr>
              <a:t>Report</a:t>
            </a:r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 | Created by Prafull Wahatule</a:t>
            </a:r>
            <a:endParaRPr lang="en-IN" sz="1000" dirty="0">
              <a:solidFill>
                <a:schemeClr val="bg1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8024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87BA6-FEEA-01C2-26AD-C03BBA655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87DAE1-FED0-4111-15D5-DECC38A8F6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AA3E53B-5C97-BBBB-AA7F-E1B3C592BB3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366EA25-5CA3-94DB-AC5C-F3EDDBD7632D}"/>
              </a:ext>
            </a:extLst>
          </p:cNvPr>
          <p:cNvSpPr txBox="1"/>
          <p:nvPr/>
        </p:nvSpPr>
        <p:spPr>
          <a:xfrm>
            <a:off x="625737" y="4165857"/>
            <a:ext cx="5465826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285750" indent="-285750">
              <a:buClr>
                <a:schemeClr val="accent4"/>
              </a:buClr>
              <a:buFont typeface="Wingdings" panose="05000000000000000000" pitchFamily="2" charset="2"/>
              <a:buChar char="ü"/>
              <a:defRPr sz="1600">
                <a:solidFill>
                  <a:schemeClr val="bg1"/>
                </a:solidFill>
                <a:latin typeface="Book Antiqua" panose="02040602050305030304" pitchFamily="18" charset="0"/>
              </a:defRPr>
            </a:lvl1pPr>
          </a:lstStyle>
          <a:p>
            <a:r>
              <a:rPr lang="en-US" b="1" dirty="0"/>
              <a:t>Promotion Impact: </a:t>
            </a:r>
            <a:r>
              <a:rPr lang="en-US" dirty="0"/>
              <a:t>Evaluate organic vs promotional sales and determine top-performing promotions. (Promotion Page)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/>
              <a:t>Sales Trends &amp; Seasonality: </a:t>
            </a:r>
            <a:r>
              <a:rPr lang="en-US" dirty="0"/>
              <a:t>Track monthly sales growth, peaks, and dips to anticipate demand. (Overview &amp; Forecasting Pages)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467193-0077-8AD0-774E-B894303FEF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000" b="14134"/>
          <a:stretch>
            <a:fillRect/>
          </a:stretch>
        </p:blipFill>
        <p:spPr>
          <a:xfrm>
            <a:off x="113047" y="118872"/>
            <a:ext cx="11957033" cy="369417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31C638D-54FC-7562-1913-447506669C86}"/>
              </a:ext>
            </a:extLst>
          </p:cNvPr>
          <p:cNvSpPr txBox="1"/>
          <p:nvPr/>
        </p:nvSpPr>
        <p:spPr>
          <a:xfrm>
            <a:off x="6285873" y="3931920"/>
            <a:ext cx="478002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ü"/>
            </a:pPr>
            <a:endParaRPr lang="en-US" sz="16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ü"/>
            </a:pPr>
            <a:r>
              <a:rPr lang="en-US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Category &amp; Size Trends: 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Analyze size-specific and category-specific demand patterns to optimize production and inventory. (Product &amp; Promotion Pages)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ü"/>
            </a:pPr>
            <a:endParaRPr lang="en-US" sz="16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ü"/>
            </a:pPr>
            <a:r>
              <a:rPr lang="en-US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Forecasting &amp; Planning: 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Leverage historical trends and predicted sales to plan marketing, stock, logistics, and operational strategies. (Forecasting Page)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6A3B4B-BE42-C749-66B4-57A45D47CA0C}"/>
              </a:ext>
            </a:extLst>
          </p:cNvPr>
          <p:cNvSpPr txBox="1"/>
          <p:nvPr/>
        </p:nvSpPr>
        <p:spPr>
          <a:xfrm>
            <a:off x="146304" y="6447187"/>
            <a:ext cx="3968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© 2025 Amazon Sales 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Book Antiqua" panose="02040602050305030304" pitchFamily="18" charset="0"/>
              </a:rPr>
              <a:t>Report</a:t>
            </a:r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 | Created by Prafull Wahatule</a:t>
            </a:r>
            <a:endParaRPr lang="en-IN" sz="1000" dirty="0">
              <a:solidFill>
                <a:schemeClr val="bg1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5567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880B8-3D42-B523-C0F5-E4DA1A561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70E622A-1412-CB91-236F-6FB8941897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A49561C-54B7-7348-E5A6-A6B943F65A0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74C2F60-C38A-EAD9-54CA-BA822FEE44BA}"/>
              </a:ext>
            </a:extLst>
          </p:cNvPr>
          <p:cNvSpPr txBox="1"/>
          <p:nvPr/>
        </p:nvSpPr>
        <p:spPr>
          <a:xfrm>
            <a:off x="5166361" y="4315736"/>
            <a:ext cx="689457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Tools &amp; Technologies Used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B9EB6B21-BE5D-EC3D-495B-4124D5D990EF}"/>
              </a:ext>
            </a:extLst>
          </p:cNvPr>
          <p:cNvSpPr/>
          <p:nvPr/>
        </p:nvSpPr>
        <p:spPr>
          <a:xfrm>
            <a:off x="8073649" y="3017016"/>
            <a:ext cx="1080000" cy="1080000"/>
          </a:xfrm>
          <a:prstGeom prst="flowChartConnector">
            <a:avLst/>
          </a:prstGeom>
          <a:noFill/>
          <a:ln w="28575">
            <a:solidFill>
              <a:schemeClr val="accent4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b="1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 Antiqua" panose="02040602050305030304" pitchFamily="18" charset="0"/>
              </a:rPr>
              <a:t>06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A36F60-CBAA-5DFC-ACD3-FDDE4F038F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505" y="670042"/>
            <a:ext cx="5259799" cy="357892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4DD8851-CA96-56CC-A1BE-D5C746483347}"/>
              </a:ext>
            </a:extLst>
          </p:cNvPr>
          <p:cNvSpPr txBox="1"/>
          <p:nvPr/>
        </p:nvSpPr>
        <p:spPr>
          <a:xfrm>
            <a:off x="146304" y="6447187"/>
            <a:ext cx="3968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© 2025 Amazon Sales 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Book Antiqua" panose="02040602050305030304" pitchFamily="18" charset="0"/>
              </a:rPr>
              <a:t>Report</a:t>
            </a:r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 | Created by Prafull Wahatule</a:t>
            </a:r>
            <a:endParaRPr lang="en-IN" sz="1000" dirty="0">
              <a:solidFill>
                <a:schemeClr val="bg1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61874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7483-F312-7C73-57AC-33D66AF63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5BC302-F552-280C-CF6F-AD15936F35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44" y="-9144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B745573-95A6-D067-A9BF-4C140990ADF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25385A5-6169-4D84-F4EE-5325C3A19509}"/>
              </a:ext>
            </a:extLst>
          </p:cNvPr>
          <p:cNvSpPr txBox="1"/>
          <p:nvPr/>
        </p:nvSpPr>
        <p:spPr>
          <a:xfrm>
            <a:off x="6013704" y="741963"/>
            <a:ext cx="271881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q"/>
            </a:pPr>
            <a:r>
              <a:rPr lang="en-IN" b="1" dirty="0">
                <a:solidFill>
                  <a:schemeClr val="bg1"/>
                </a:solidFill>
              </a:rPr>
              <a:t>Data Analysis Expressions – </a:t>
            </a:r>
            <a:r>
              <a:rPr lang="en-IN" dirty="0">
                <a:solidFill>
                  <a:schemeClr val="bg1"/>
                </a:solidFill>
              </a:rPr>
              <a:t>To calculate KPIs, percentages, and trends for insightful visualizations.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6855523-EC43-25DC-FE87-B399D7BDA1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34" b="15999"/>
          <a:stretch>
            <a:fillRect/>
          </a:stretch>
        </p:blipFill>
        <p:spPr>
          <a:xfrm>
            <a:off x="1075944" y="2674682"/>
            <a:ext cx="10040112" cy="38102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CFB0DB6-DA9C-5A32-1B26-1D60861DC861}"/>
              </a:ext>
            </a:extLst>
          </p:cNvPr>
          <p:cNvSpPr txBox="1"/>
          <p:nvPr/>
        </p:nvSpPr>
        <p:spPr>
          <a:xfrm>
            <a:off x="8752332" y="793007"/>
            <a:ext cx="228142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q"/>
            </a:pPr>
            <a:r>
              <a:rPr lang="en-IN" b="1" dirty="0">
                <a:solidFill>
                  <a:schemeClr val="bg1"/>
                </a:solidFill>
              </a:rPr>
              <a:t>Microsoft Power BI Desktop – </a:t>
            </a:r>
            <a:r>
              <a:rPr lang="en-IN" dirty="0">
                <a:solidFill>
                  <a:schemeClr val="bg1"/>
                </a:solidFill>
              </a:rPr>
              <a:t>To design and build interactive reports and dashboards.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9AC2C-569E-2A98-C780-BCC525E0D4B2}"/>
              </a:ext>
            </a:extLst>
          </p:cNvPr>
          <p:cNvSpPr txBox="1"/>
          <p:nvPr/>
        </p:nvSpPr>
        <p:spPr>
          <a:xfrm>
            <a:off x="3441955" y="741963"/>
            <a:ext cx="251612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q"/>
            </a:pPr>
            <a:r>
              <a:rPr lang="en-IN" b="1" dirty="0">
                <a:solidFill>
                  <a:schemeClr val="bg1"/>
                </a:solidFill>
              </a:rPr>
              <a:t>Power Query Editor – </a:t>
            </a:r>
            <a:r>
              <a:rPr lang="en-IN" dirty="0">
                <a:solidFill>
                  <a:schemeClr val="bg1"/>
                </a:solidFill>
              </a:rPr>
              <a:t>For data cleaning, transformation, and shaping before analysis.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9DF003-04D8-D882-F42D-839FD0F7282F}"/>
              </a:ext>
            </a:extLst>
          </p:cNvPr>
          <p:cNvSpPr txBox="1"/>
          <p:nvPr/>
        </p:nvSpPr>
        <p:spPr>
          <a:xfrm>
            <a:off x="1160528" y="793007"/>
            <a:ext cx="228142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q"/>
            </a:pPr>
            <a:r>
              <a:rPr lang="en-IN" b="1" dirty="0">
                <a:solidFill>
                  <a:schemeClr val="bg1"/>
                </a:solidFill>
              </a:rPr>
              <a:t>Excel / CSV Dataset – </a:t>
            </a:r>
            <a:r>
              <a:rPr lang="en-IN" dirty="0">
                <a:solidFill>
                  <a:schemeClr val="bg1"/>
                </a:solidFill>
              </a:rPr>
              <a:t>Source of Amazon sales data for analysis and reporting.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54345A-86A1-B0C6-A066-6F84163045E2}"/>
              </a:ext>
            </a:extLst>
          </p:cNvPr>
          <p:cNvSpPr txBox="1"/>
          <p:nvPr/>
        </p:nvSpPr>
        <p:spPr>
          <a:xfrm>
            <a:off x="146304" y="6447187"/>
            <a:ext cx="3968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© 2025 Amazon Sales 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Book Antiqua" panose="02040602050305030304" pitchFamily="18" charset="0"/>
              </a:rPr>
              <a:t>Report</a:t>
            </a:r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 | Created by Prafull Wahatule</a:t>
            </a:r>
            <a:endParaRPr lang="en-IN" sz="1000" dirty="0">
              <a:solidFill>
                <a:schemeClr val="bg1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6033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ED073-6E6F-257F-B9D4-98DB583D1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40523D1-D0A1-BCEB-63DE-7E4A361DEB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7FAA49B-C082-DBBC-1370-4BE152656F6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AC89C10-75BE-938B-5DA9-AD026AB79BBC}"/>
              </a:ext>
            </a:extLst>
          </p:cNvPr>
          <p:cNvSpPr txBox="1"/>
          <p:nvPr/>
        </p:nvSpPr>
        <p:spPr>
          <a:xfrm>
            <a:off x="7534657" y="5541089"/>
            <a:ext cx="4269898" cy="1015663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Conclusion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30119855-C3F2-140A-F86D-A3B12B8B0E08}"/>
              </a:ext>
            </a:extLst>
          </p:cNvPr>
          <p:cNvSpPr/>
          <p:nvPr/>
        </p:nvSpPr>
        <p:spPr>
          <a:xfrm>
            <a:off x="9129606" y="4260600"/>
            <a:ext cx="1080000" cy="1080000"/>
          </a:xfrm>
          <a:prstGeom prst="flowChartConnector">
            <a:avLst/>
          </a:prstGeom>
          <a:noFill/>
          <a:ln w="28575">
            <a:solidFill>
              <a:schemeClr val="accent4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b="1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 Antiqua" panose="02040602050305030304" pitchFamily="18" charset="0"/>
              </a:rPr>
              <a:t>07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D0CB50-22C0-7CB3-E0ED-795C523D150D}"/>
              </a:ext>
            </a:extLst>
          </p:cNvPr>
          <p:cNvSpPr txBox="1"/>
          <p:nvPr/>
        </p:nvSpPr>
        <p:spPr>
          <a:xfrm>
            <a:off x="146304" y="6447187"/>
            <a:ext cx="3968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© 2025 Amazon Sales 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Book Antiqua" panose="02040602050305030304" pitchFamily="18" charset="0"/>
              </a:rPr>
              <a:t>Report</a:t>
            </a:r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 | Created by Prafull Wahatule</a:t>
            </a:r>
            <a:endParaRPr lang="en-IN" sz="1000" dirty="0">
              <a:solidFill>
                <a:schemeClr val="bg1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7799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E4991-7D9B-1741-4130-A4297AD80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E7F428B-3A37-7553-AE95-536C077259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9806536-E854-7D5C-7911-8A2ACC2FB10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4572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522F6B8-9829-4BC5-1E41-97FEA86825B7}"/>
              </a:ext>
            </a:extLst>
          </p:cNvPr>
          <p:cNvSpPr txBox="1"/>
          <p:nvPr/>
        </p:nvSpPr>
        <p:spPr>
          <a:xfrm>
            <a:off x="493776" y="746772"/>
            <a:ext cx="4884572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Book Antiqua" panose="02040602050305030304" pitchFamily="18" charset="0"/>
              </a:rPr>
              <a:t>The </a:t>
            </a:r>
            <a:r>
              <a:rPr lang="en-US" b="1" dirty="0">
                <a:solidFill>
                  <a:schemeClr val="bg1"/>
                </a:solidFill>
                <a:latin typeface="Book Antiqua" panose="02040602050305030304" pitchFamily="18" charset="0"/>
              </a:rPr>
              <a:t>Amazon Sales Dashboard</a:t>
            </a:r>
            <a:r>
              <a:rPr lang="en-US" dirty="0">
                <a:solidFill>
                  <a:schemeClr val="bg1"/>
                </a:solidFill>
                <a:latin typeface="Book Antiqua" panose="02040602050305030304" pitchFamily="18" charset="0"/>
              </a:rPr>
              <a:t> is a simple and interactive tool to understand sales performance easily. It helps stakeholders:</a:t>
            </a:r>
          </a:p>
          <a:p>
            <a:pPr marL="285750" indent="-285750">
              <a:buClr>
                <a:srgbClr val="069822"/>
              </a:buClr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bg1"/>
                </a:solidFill>
                <a:latin typeface="Book Antiqua" panose="02040602050305030304" pitchFamily="18" charset="0"/>
              </a:rPr>
              <a:t>View key business metrics and monthly sales trends at a glance.</a:t>
            </a:r>
          </a:p>
          <a:p>
            <a:pPr marL="285750" indent="-285750">
              <a:buClr>
                <a:srgbClr val="069822"/>
              </a:buClr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bg1"/>
                </a:solidFill>
                <a:latin typeface="Book Antiqua" panose="02040602050305030304" pitchFamily="18" charset="0"/>
              </a:rPr>
              <a:t>Find </a:t>
            </a:r>
            <a:r>
              <a:rPr lang="en-US" b="1" dirty="0">
                <a:solidFill>
                  <a:schemeClr val="bg1"/>
                </a:solidFill>
                <a:latin typeface="Book Antiqua" panose="02040602050305030304" pitchFamily="18" charset="0"/>
              </a:rPr>
              <a:t>top-selling categories, SKUs, and sizes</a:t>
            </a:r>
            <a:r>
              <a:rPr lang="en-US" dirty="0">
                <a:solidFill>
                  <a:schemeClr val="bg1"/>
                </a:solidFill>
                <a:latin typeface="Book Antiqua" panose="02040602050305030304" pitchFamily="18" charset="0"/>
              </a:rPr>
              <a:t> to plan inventory and marketing better.</a:t>
            </a:r>
          </a:p>
          <a:p>
            <a:pPr marL="285750" indent="-285750">
              <a:buClr>
                <a:srgbClr val="069822"/>
              </a:buClr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bg1"/>
                </a:solidFill>
                <a:latin typeface="Book Antiqua" panose="02040602050305030304" pitchFamily="18" charset="0"/>
              </a:rPr>
              <a:t>Compare </a:t>
            </a:r>
            <a:r>
              <a:rPr lang="en-US" b="1" dirty="0">
                <a:solidFill>
                  <a:schemeClr val="bg1"/>
                </a:solidFill>
                <a:latin typeface="Book Antiqua" panose="02040602050305030304" pitchFamily="18" charset="0"/>
              </a:rPr>
              <a:t>Amazon (FBA)</a:t>
            </a:r>
            <a:r>
              <a:rPr lang="en-US" dirty="0">
                <a:solidFill>
                  <a:schemeClr val="bg1"/>
                </a:solidFill>
                <a:latin typeface="Book Antiqua" panose="02040602050305030304" pitchFamily="18" charset="0"/>
              </a:rPr>
              <a:t> and </a:t>
            </a:r>
            <a:r>
              <a:rPr lang="en-US" b="1" dirty="0">
                <a:solidFill>
                  <a:schemeClr val="bg1"/>
                </a:solidFill>
                <a:latin typeface="Book Antiqua" panose="02040602050305030304" pitchFamily="18" charset="0"/>
              </a:rPr>
              <a:t>Merchant (FBM)</a:t>
            </a:r>
            <a:r>
              <a:rPr lang="en-US" dirty="0">
                <a:solidFill>
                  <a:schemeClr val="bg1"/>
                </a:solidFill>
                <a:latin typeface="Book Antiqua" panose="02040602050305030304" pitchFamily="18" charset="0"/>
              </a:rPr>
              <a:t> fulfilment performance.</a:t>
            </a:r>
          </a:p>
          <a:p>
            <a:pPr marL="285750" indent="-285750">
              <a:buClr>
                <a:srgbClr val="069822"/>
              </a:buClr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bg1"/>
                </a:solidFill>
                <a:latin typeface="Book Antiqua" panose="02040602050305030304" pitchFamily="18" charset="0"/>
              </a:rPr>
              <a:t>Track </a:t>
            </a:r>
            <a:r>
              <a:rPr lang="en-US" b="1" dirty="0">
                <a:solidFill>
                  <a:schemeClr val="bg1"/>
                </a:solidFill>
                <a:latin typeface="Book Antiqua" panose="02040602050305030304" pitchFamily="18" charset="0"/>
              </a:rPr>
              <a:t>state and city-wise sales</a:t>
            </a:r>
            <a:r>
              <a:rPr lang="en-US" dirty="0">
                <a:solidFill>
                  <a:schemeClr val="bg1"/>
                </a:solidFill>
                <a:latin typeface="Book Antiqua" panose="02040602050305030304" pitchFamily="18" charset="0"/>
              </a:rPr>
              <a:t> to identify strong and weak regions.</a:t>
            </a:r>
          </a:p>
          <a:p>
            <a:pPr marL="285750" indent="-285750">
              <a:buClr>
                <a:srgbClr val="069822"/>
              </a:buClr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bg1"/>
                </a:solidFill>
                <a:latin typeface="Book Antiqua" panose="02040602050305030304" pitchFamily="18" charset="0"/>
              </a:rPr>
              <a:t>Measure the impact of </a:t>
            </a:r>
            <a:r>
              <a:rPr lang="en-US" b="1" dirty="0">
                <a:solidFill>
                  <a:schemeClr val="bg1"/>
                </a:solidFill>
                <a:latin typeface="Book Antiqua" panose="02040602050305030304" pitchFamily="18" charset="0"/>
              </a:rPr>
              <a:t>promotions</a:t>
            </a:r>
            <a:r>
              <a:rPr lang="en-US" dirty="0">
                <a:solidFill>
                  <a:schemeClr val="bg1"/>
                </a:solidFill>
                <a:latin typeface="Book Antiqua" panose="02040602050305030304" pitchFamily="18" charset="0"/>
              </a:rPr>
              <a:t> on total sales.</a:t>
            </a:r>
          </a:p>
          <a:p>
            <a:pPr marL="285750" indent="-285750">
              <a:buClr>
                <a:srgbClr val="069822"/>
              </a:buClr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bg1"/>
                </a:solidFill>
                <a:latin typeface="Book Antiqua" panose="02040602050305030304" pitchFamily="18" charset="0"/>
              </a:rPr>
              <a:t>Forecast future sales using past trends for better planning.</a:t>
            </a:r>
          </a:p>
          <a:p>
            <a:r>
              <a:rPr lang="en-US" dirty="0">
                <a:solidFill>
                  <a:schemeClr val="bg1"/>
                </a:solidFill>
                <a:latin typeface="Book Antiqua" panose="02040602050305030304" pitchFamily="18" charset="0"/>
              </a:rPr>
              <a:t>Overall, this dashboard supports </a:t>
            </a:r>
            <a:r>
              <a:rPr lang="en-US" b="1" dirty="0">
                <a:solidFill>
                  <a:schemeClr val="bg1"/>
                </a:solidFill>
                <a:latin typeface="Book Antiqua" panose="02040602050305030304" pitchFamily="18" charset="0"/>
              </a:rPr>
              <a:t>data-driven decisions</a:t>
            </a:r>
            <a:r>
              <a:rPr lang="en-US" dirty="0">
                <a:solidFill>
                  <a:schemeClr val="bg1"/>
                </a:solidFill>
                <a:latin typeface="Book Antiqua" panose="02040602050305030304" pitchFamily="18" charset="0"/>
              </a:rPr>
              <a:t>, improves efficiency, and helps grow business performance.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72D8C9-8C09-DD0A-9D40-1522E51E30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5856" y="109728"/>
            <a:ext cx="6359804" cy="6629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41F6792-63CA-790C-B976-6E9C95B87F4D}"/>
              </a:ext>
            </a:extLst>
          </p:cNvPr>
          <p:cNvSpPr txBox="1"/>
          <p:nvPr/>
        </p:nvSpPr>
        <p:spPr>
          <a:xfrm>
            <a:off x="146304" y="6447187"/>
            <a:ext cx="3968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© 2025 Amazon Sales 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Book Antiqua" panose="02040602050305030304" pitchFamily="18" charset="0"/>
              </a:rPr>
              <a:t>Report</a:t>
            </a:r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 | Created by Prafull Wahatule</a:t>
            </a:r>
            <a:endParaRPr lang="en-IN" sz="1000" dirty="0">
              <a:solidFill>
                <a:schemeClr val="bg1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83948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DDD13-7266-6749-65BD-F83E56713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6EDBE54-DC70-4F76-9ECF-99C770CC7C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25F9E49-B294-00C1-39E6-8C8A3C8F581B}"/>
              </a:ext>
            </a:extLst>
          </p:cNvPr>
          <p:cNvSpPr/>
          <p:nvPr/>
        </p:nvSpPr>
        <p:spPr>
          <a:xfrm>
            <a:off x="7249886" y="4152122"/>
            <a:ext cx="3741575" cy="391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F0EE33-E368-1739-830D-136F4F88D817}"/>
              </a:ext>
            </a:extLst>
          </p:cNvPr>
          <p:cNvSpPr txBox="1"/>
          <p:nvPr/>
        </p:nvSpPr>
        <p:spPr>
          <a:xfrm>
            <a:off x="8358673" y="4632066"/>
            <a:ext cx="762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100" dirty="0">
                <a:solidFill>
                  <a:schemeClr val="accent1"/>
                </a:solidFill>
                <a:latin typeface="Book Antiqua" panose="0204060205030503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IN" dirty="0">
              <a:solidFill>
                <a:schemeClr val="accent1"/>
              </a:solidFill>
              <a:latin typeface="Book Antiqua" panose="0204060205030503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9CDB5A-A6FA-36F6-FA83-481DE8999A30}"/>
              </a:ext>
            </a:extLst>
          </p:cNvPr>
          <p:cNvSpPr txBox="1"/>
          <p:nvPr/>
        </p:nvSpPr>
        <p:spPr>
          <a:xfrm>
            <a:off x="7249886" y="4224528"/>
            <a:ext cx="40155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PRAFULL WAHTULE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DA0447-3EB5-CE5B-AE69-204DA0546AB4}"/>
              </a:ext>
            </a:extLst>
          </p:cNvPr>
          <p:cNvSpPr txBox="1"/>
          <p:nvPr/>
        </p:nvSpPr>
        <p:spPr>
          <a:xfrm>
            <a:off x="9257647" y="4627794"/>
            <a:ext cx="762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100" dirty="0" err="1">
                <a:solidFill>
                  <a:schemeClr val="accent1"/>
                </a:solidFill>
                <a:latin typeface="Book Antiqua" panose="02040602050305030304" pitchFamily="18" charset="0"/>
                <a:hlinkClick r:id="rId4"/>
              </a:rPr>
              <a:t>Linkedin</a:t>
            </a:r>
            <a:endParaRPr lang="en-IN" dirty="0">
              <a:solidFill>
                <a:schemeClr val="accent1"/>
              </a:solidFill>
              <a:latin typeface="Book Antiqua" panose="0204060205030503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49DD83-7C74-C1D1-A921-FD2FCFC6DD5C}"/>
              </a:ext>
            </a:extLst>
          </p:cNvPr>
          <p:cNvSpPr txBox="1"/>
          <p:nvPr/>
        </p:nvSpPr>
        <p:spPr>
          <a:xfrm>
            <a:off x="0" y="6611779"/>
            <a:ext cx="3968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© 2025 Amazon Sales 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Book Antiqua" panose="02040602050305030304" pitchFamily="18" charset="0"/>
              </a:rPr>
              <a:t>Report</a:t>
            </a:r>
            <a:r>
              <a:rPr lang="en-US" sz="1000" b="0" i="0" dirty="0">
                <a:solidFill>
                  <a:schemeClr val="bg1">
                    <a:lumMod val="50000"/>
                  </a:schemeClr>
                </a:solidFill>
                <a:effectLst/>
                <a:latin typeface="Book Antiqua" panose="02040602050305030304" pitchFamily="18" charset="0"/>
              </a:rPr>
              <a:t> | Created by Prafull Wahatule</a:t>
            </a:r>
            <a:endParaRPr lang="en-IN" sz="1000" dirty="0">
              <a:solidFill>
                <a:schemeClr val="bg1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31244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903</TotalTime>
  <Words>2226</Words>
  <Application>Microsoft Office PowerPoint</Application>
  <PresentationFormat>Widescreen</PresentationFormat>
  <Paragraphs>226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30</vt:i4>
      </vt:variant>
    </vt:vector>
  </HeadingPairs>
  <TitlesOfParts>
    <vt:vector size="38" baseType="lpstr">
      <vt:lpstr>Arial</vt:lpstr>
      <vt:lpstr>Book Antiqua</vt:lpstr>
      <vt:lpstr>Bookman Old Style</vt:lpstr>
      <vt:lpstr>Calibri</vt:lpstr>
      <vt:lpstr>Calibri Light</vt:lpstr>
      <vt:lpstr>Wingdings</vt:lpstr>
      <vt:lpstr>Office Theme</vt:lpstr>
      <vt:lpstr>Custom Design</vt:lpstr>
      <vt:lpstr>Amazon Sales Dashboard – Power BI Project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Prafull Wahatule</dc:creator>
  <cp:lastModifiedBy>Prafull Wahatule</cp:lastModifiedBy>
  <cp:revision>192</cp:revision>
  <dcterms:created xsi:type="dcterms:W3CDTF">2025-11-08T08:24:55Z</dcterms:created>
  <dcterms:modified xsi:type="dcterms:W3CDTF">2025-11-13T04:26:28Z</dcterms:modified>
</cp:coreProperties>
</file>