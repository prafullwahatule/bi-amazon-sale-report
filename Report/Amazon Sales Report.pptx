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2" r:id="rId5"/>
    <p:sldId id="258" r:id="rId6"/>
    <p:sldId id="260" r:id="rId7"/>
    <p:sldId id="261" r:id="rId8"/>
    <p:sldId id="263" r:id="rId9"/>
    <p:sldId id="265" r:id="rId10"/>
    <p:sldId id="269" r:id="rId11"/>
    <p:sldId id="270" r:id="rId12"/>
    <p:sldId id="282" r:id="rId13"/>
    <p:sldId id="266" r:id="rId14"/>
    <p:sldId id="268" r:id="rId15"/>
    <p:sldId id="267" r:id="rId16"/>
    <p:sldId id="271" r:id="rId17"/>
    <p:sldId id="284" r:id="rId18"/>
    <p:sldId id="283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9822"/>
    <a:srgbClr val="E89D06"/>
    <a:srgbClr val="F6EB5C"/>
    <a:srgbClr val="E2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59D6-14B0-D2D1-DA38-4163A781A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F47351-5DB0-D206-C0BB-ADC45AC49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4693F-ED5B-0DC7-365A-98467022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747-7299-4C92-9E5D-38C4C5A79C2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71237-E33A-6AD2-0E42-A5DCC4517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51F75-1AF7-8D3F-034A-0251B4CAA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023B-1867-41A5-9B88-D026629C6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50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88DBA-77C6-4E1A-111A-EEF0229D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1999-752A-6366-9DAF-83AEB27EA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977E4-A3D5-571C-8476-C2F3FCA60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747-7299-4C92-9E5D-38C4C5A79C2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56F02-BCE1-28E2-DCE9-17FCBA044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65A05-759B-02AF-6A58-9D3FC643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023B-1867-41A5-9B88-D026629C6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384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DB6F-FBCE-5480-1B0D-2D873E99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0AC6B-BCE0-023B-981A-133766E5B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AB08F-51CA-B3CC-B7FC-31B955B4F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747-7299-4C92-9E5D-38C4C5A79C2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5413A-C881-F6AE-DD17-85902A918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3EFC6-3A3A-FF13-1E46-9C8FBB23B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023B-1867-41A5-9B88-D026629C6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239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91919-4DA1-316D-A72C-6795CC307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E266E-9AC9-BB4A-2AAF-C1AE70CB4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5CE52-4927-43BE-ABED-230DF9529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F45B4-C666-74C7-8F93-B0181DF78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747-7299-4C92-9E5D-38C4C5A79C2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E8727-0A40-A557-D788-7B4DB12C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7B88D-0486-58EF-B93A-F25A4C57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023B-1867-41A5-9B88-D026629C6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58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579E-A172-F04F-0856-6D6926C3D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3CD8B-DFD2-70BB-89F6-6F6ABD5F2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479B10-76A2-EFF6-5B09-DFF41BA0E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FBF68-23E6-C4F9-9885-2505813A7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E027CD-299A-D7C1-640B-FC28870E3D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1872C-DEFF-6EAE-E971-F0C0E1BC7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747-7299-4C92-9E5D-38C4C5A79C2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6E4334-AA10-AFBF-F597-E5707CDA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4520A6-326B-2266-0985-54EFFBDF9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023B-1867-41A5-9B88-D026629C6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1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D031-ECDF-1B16-25A7-832532805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789146-56F5-81E3-17CC-020682416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747-7299-4C92-9E5D-38C4C5A79C2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C4CB9-61BB-A63D-7997-975CB2FF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50046-068E-4859-66E0-A60DC22E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023B-1867-41A5-9B88-D026629C6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85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CD8D6-B147-E63E-D347-C4727578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747-7299-4C92-9E5D-38C4C5A79C2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11A88-ACBC-9117-69DF-EBF670F3A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2728C-1E71-814B-9575-BA487B43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023B-1867-41A5-9B88-D026629C6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820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4341A-886E-E9BC-2C48-885CA562B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052CD-315D-1342-77B8-D4BB5EE69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3333F-6BBB-1F91-3A2A-597934D76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3E985-138A-90D1-2291-561203B30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747-7299-4C92-9E5D-38C4C5A79C2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158A5-C999-185A-A530-1803EB3D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447C4-1140-E4CC-D035-1EA816E8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023B-1867-41A5-9B88-D026629C6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101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08EE-5C4F-1164-603D-04C99566F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4A645-1923-99A1-59CF-BA2B3F041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95B0E-2E9B-876C-E268-62FD088C06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8BDC9-979F-9E81-8C39-CA16891F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747-7299-4C92-9E5D-38C4C5A79C2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2C59C-3B2B-3532-BEE0-DAB1C153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51753-E947-0BAC-AF85-D43052AAD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023B-1867-41A5-9B88-D026629C6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81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A4550-6905-9CE9-B036-A1E1E9D67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78B56-50FA-A50B-AE4B-3EBFB2296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7CC30-4CC5-481E-AE50-AC41EE8C7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747-7299-4C92-9E5D-38C4C5A79C2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D09B4-F16F-AA99-D4F9-C4EB422A2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BA5F8-F946-396D-C3CA-A7FC92B0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023B-1867-41A5-9B88-D026629C6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169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057A3D-0705-C4C2-57B6-82244938A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80A7DE-6297-9ACB-A12E-4367021F7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7BAB2-1B8F-07FC-8D18-217217294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F747-7299-4C92-9E5D-38C4C5A79C2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AA0A9-0067-A13F-64D7-CDC0174DA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544BF-C2B4-3793-A006-C2CE8AA3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C023B-1867-41A5-9B88-D026629C6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5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700634-B760-C95F-B92E-32F6A59C9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AFFAF-D876-2245-653C-F94EF5F5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4B676-5690-746A-772F-4C615F048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F747-7299-4C92-9E5D-38C4C5A79C2C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EA67C-8436-957E-1DCE-3F9BF0A8E4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487E6-D9C3-718A-0C5C-CFB56B062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CC023B-1867-41A5-9B88-D026629C69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561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62D256-577F-FEE6-CCBD-29B936F00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57F16F-6701-B4FD-B78E-40EED3749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57200"/>
            <a:ext cx="9144000" cy="150876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4"/>
                </a:solidFill>
                <a:latin typeface="Bookman Old Style" panose="02050604050505020204" pitchFamily="18" charset="0"/>
              </a:rPr>
              <a:t>Amazon Sales Dashboard </a:t>
            </a:r>
            <a:r>
              <a:rPr lang="en-US" dirty="0">
                <a:solidFill>
                  <a:schemeClr val="bg1"/>
                </a:solidFill>
                <a:latin typeface="Bookman Old Style" panose="02050604050505020204" pitchFamily="18" charset="0"/>
              </a:rPr>
              <a:t>– </a:t>
            </a:r>
            <a:r>
              <a:rPr lang="en-US" sz="3600" dirty="0">
                <a:solidFill>
                  <a:schemeClr val="bg1"/>
                </a:solidFill>
                <a:latin typeface="Bookman Old Style" panose="02050604050505020204" pitchFamily="18" charset="0"/>
              </a:rPr>
              <a:t>Power BI Project</a:t>
            </a:r>
            <a:endParaRPr lang="en-IN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41088-18BE-5D3C-1B7A-ED3D05CCD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95232" y="6574536"/>
            <a:ext cx="3096768" cy="283464"/>
          </a:xfrm>
        </p:spPr>
        <p:txBody>
          <a:bodyPr>
            <a:normAutofit fontScale="85000" lnSpcReduction="10000"/>
          </a:bodyPr>
          <a:lstStyle/>
          <a:p>
            <a:pPr algn="r"/>
            <a:r>
              <a:rPr lang="en-IN" sz="1800" dirty="0">
                <a:solidFill>
                  <a:schemeClr val="bg1"/>
                </a:solidFill>
                <a:latin typeface="Bookman Old Style" panose="02050604050505020204" pitchFamily="18" charset="0"/>
              </a:rPr>
              <a:t>Guided By: Abhishek </a:t>
            </a:r>
            <a:r>
              <a:rPr lang="en-IN" sz="1800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Wahaval</a:t>
            </a:r>
            <a:endParaRPr lang="en-IN" sz="18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70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86986A-FBEE-87DB-FF12-E5EF9541E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E76205-8F05-395F-A74B-C70F58E444C7}"/>
              </a:ext>
            </a:extLst>
          </p:cNvPr>
          <p:cNvSpPr txBox="1"/>
          <p:nvPr/>
        </p:nvSpPr>
        <p:spPr>
          <a:xfrm>
            <a:off x="3706749" y="118872"/>
            <a:ext cx="47785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Book Antiqua" panose="02040602050305030304" pitchFamily="18" charset="0"/>
              </a:rPr>
              <a:t>Project</a:t>
            </a:r>
          </a:p>
          <a:p>
            <a:pPr algn="ctr"/>
            <a:r>
              <a:rPr lang="en-IN" sz="6000" dirty="0">
                <a:solidFill>
                  <a:schemeClr val="accent4"/>
                </a:solidFill>
                <a:latin typeface="Book Antiqua" panose="0204060205030503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77F230-8C14-89D3-748C-E57B9B8E29AF}"/>
              </a:ext>
            </a:extLst>
          </p:cNvPr>
          <p:cNvSpPr txBox="1"/>
          <p:nvPr/>
        </p:nvSpPr>
        <p:spPr>
          <a:xfrm>
            <a:off x="1879854" y="2252311"/>
            <a:ext cx="843229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Amazon Sales Dashboard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 is an interactive Power BI project designed to analyze and visualize e-commerce sales data.</a:t>
            </a:r>
            <a:b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It helps businesses monitor key metrics like sales, orders, quantity, fulfilment, and promotions — all in one place.</a:t>
            </a:r>
            <a:b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With real-time insights, this dashboard supports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data-driven decision-making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, improves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operational efficiency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, and helps identify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growth opportunities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 across regions and product categories.</a:t>
            </a:r>
            <a:endParaRPr lang="en-IN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87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857D8-5D8A-F39E-D08D-8EB371913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15D1B98-6665-88EA-65E7-B95FDA43C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0CE583-AD27-1D54-5948-52801811B9B7}"/>
              </a:ext>
            </a:extLst>
          </p:cNvPr>
          <p:cNvSpPr txBox="1"/>
          <p:nvPr/>
        </p:nvSpPr>
        <p:spPr>
          <a:xfrm>
            <a:off x="4149089" y="137160"/>
            <a:ext cx="38938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Book Antiqua" panose="02040602050305030304" pitchFamily="18" charset="0"/>
              </a:rPr>
              <a:t>Project</a:t>
            </a:r>
          </a:p>
          <a:p>
            <a:pPr algn="ctr"/>
            <a:r>
              <a:rPr lang="en-IN" sz="6000" dirty="0">
                <a:solidFill>
                  <a:schemeClr val="accent4"/>
                </a:solidFill>
                <a:latin typeface="Book Antiqua" panose="02040602050305030304" pitchFamily="18" charset="0"/>
              </a:rPr>
              <a:t>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C8BF2-63BA-8C06-2A0B-499CFBB6BE04}"/>
              </a:ext>
            </a:extLst>
          </p:cNvPr>
          <p:cNvSpPr txBox="1"/>
          <p:nvPr/>
        </p:nvSpPr>
        <p:spPr>
          <a:xfrm>
            <a:off x="722376" y="2350008"/>
            <a:ext cx="104881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This project presents an 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</a:rPr>
              <a:t>interactive Power BI dashboard</a:t>
            </a: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 built to analyze 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</a:rPr>
              <a:t>Amazon sales performance</a:t>
            </a: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 across multiple dimensions such as product, region, fulfilment, and promotions.</a:t>
            </a:r>
            <a:b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It provides a 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</a:rPr>
              <a:t>centralized view of business metrics</a:t>
            </a: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, enabling quick insights into revenue trends, top-performing categories, and operational efficiency.</a:t>
            </a:r>
            <a:b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The dashboard helps 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</a:rPr>
              <a:t>stakeholders make data-driven decisions</a:t>
            </a:r>
            <a:r>
              <a:rPr lang="en-US" sz="2000" dirty="0">
                <a:solidFill>
                  <a:schemeClr val="bg1"/>
                </a:solidFill>
                <a:latin typeface="Book Antiqua" panose="02040602050305030304" pitchFamily="18" charset="0"/>
              </a:rPr>
              <a:t> through real-time filtering, dynamic visuals, and forecasting analytics.</a:t>
            </a:r>
            <a:endParaRPr lang="en-IN" sz="20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454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0CC2D1-926C-CBA7-65EC-C86CDCFD3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61EBFC-D4B2-8F05-684E-66DE68B82C43}"/>
              </a:ext>
            </a:extLst>
          </p:cNvPr>
          <p:cNvSpPr txBox="1"/>
          <p:nvPr/>
        </p:nvSpPr>
        <p:spPr>
          <a:xfrm>
            <a:off x="2209800" y="155448"/>
            <a:ext cx="77723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Book Antiqua" panose="02040602050305030304" pitchFamily="18" charset="0"/>
              </a:rPr>
              <a:t>Project</a:t>
            </a:r>
          </a:p>
          <a:p>
            <a:pPr algn="ctr"/>
            <a:r>
              <a:rPr lang="en-IN" sz="6000" dirty="0">
                <a:solidFill>
                  <a:schemeClr val="accent4"/>
                </a:solidFill>
                <a:latin typeface="Book Antiqua" panose="02040602050305030304" pitchFamily="18" charset="0"/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16C76-CEBF-5A5C-74AD-2AF7AC921D05}"/>
              </a:ext>
            </a:extLst>
          </p:cNvPr>
          <p:cNvSpPr txBox="1"/>
          <p:nvPr/>
        </p:nvSpPr>
        <p:spPr>
          <a:xfrm>
            <a:off x="1846325" y="2249888"/>
            <a:ext cx="813587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Businesses often struggle to track and analyze large amounts of sales data across multiple parameters such as products, regions, fulfilment types, and promotions.</a:t>
            </a:r>
            <a:b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Manual reporting methods are slow and prone to errors, making it difficult to gain timely insights.</a:t>
            </a:r>
            <a:b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Due to the lack of an interactive and centralized dashboard, decision-makers face challenges in identifying trends, monitoring KPIs, and making accurate data-driven decisions.</a:t>
            </a:r>
            <a:endParaRPr lang="en-IN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329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09165B-81E1-AF53-35CE-F1467128F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BDF596-8189-6BB0-CF7A-05546A79FBA7}"/>
              </a:ext>
            </a:extLst>
          </p:cNvPr>
          <p:cNvSpPr txBox="1"/>
          <p:nvPr/>
        </p:nvSpPr>
        <p:spPr>
          <a:xfrm>
            <a:off x="4149089" y="140187"/>
            <a:ext cx="38938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Book Antiqua" panose="02040602050305030304" pitchFamily="18" charset="0"/>
              </a:rPr>
              <a:t>Project</a:t>
            </a:r>
          </a:p>
          <a:p>
            <a:pPr algn="ctr"/>
            <a:r>
              <a:rPr lang="en-IN" sz="6000" dirty="0">
                <a:solidFill>
                  <a:schemeClr val="accent4"/>
                </a:solidFill>
                <a:latin typeface="Book Antiqua" panose="02040602050305030304" pitchFamily="18" charset="0"/>
              </a:rPr>
              <a:t>Objective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5655D1-F7B0-7941-9929-135E8F632F75}"/>
              </a:ext>
            </a:extLst>
          </p:cNvPr>
          <p:cNvGrpSpPr/>
          <p:nvPr/>
        </p:nvGrpSpPr>
        <p:grpSpPr>
          <a:xfrm>
            <a:off x="1714118" y="2406054"/>
            <a:ext cx="8763762" cy="3374674"/>
            <a:chOff x="1657350" y="2314614"/>
            <a:chExt cx="8763762" cy="337467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17AB53-626F-6485-DAD7-A4ACB1CBF20E}"/>
                </a:ext>
              </a:extLst>
            </p:cNvPr>
            <p:cNvSpPr txBox="1"/>
            <p:nvPr/>
          </p:nvSpPr>
          <p:spPr>
            <a:xfrm>
              <a:off x="1657350" y="2314614"/>
              <a:ext cx="3792474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Analyze Amazon sales data</a:t>
              </a:r>
              <a:r>
                <a:rPr lang="en-US" sz="20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 across products, regions, fulfilment, and promotions</a:t>
              </a:r>
              <a:endParaRPr lang="en-IN" sz="2000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7400DAE-8B4C-A83A-3D5C-DBF6FD29769A}"/>
                </a:ext>
              </a:extLst>
            </p:cNvPr>
            <p:cNvSpPr txBox="1"/>
            <p:nvPr/>
          </p:nvSpPr>
          <p:spPr>
            <a:xfrm>
              <a:off x="6628638" y="2314614"/>
              <a:ext cx="3792474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Analyze Amazon sales data</a:t>
              </a:r>
              <a:r>
                <a:rPr lang="en-US" sz="2000" dirty="0">
                  <a:solidFill>
                    <a:schemeClr val="bg1"/>
                  </a:solidFill>
                </a:rPr>
                <a:t> across products, regions, fulfilment, and promotions</a:t>
              </a:r>
              <a:endParaRPr lang="en-IN" sz="2000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62F4E8-F958-4185-289C-2FA1168D55DC}"/>
                </a:ext>
              </a:extLst>
            </p:cNvPr>
            <p:cNvSpPr txBox="1"/>
            <p:nvPr/>
          </p:nvSpPr>
          <p:spPr>
            <a:xfrm>
              <a:off x="1657350" y="3648008"/>
              <a:ext cx="379247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Track key KPIs</a:t>
              </a:r>
              <a:r>
                <a:rPr lang="en-US" sz="2000" dirty="0">
                  <a:solidFill>
                    <a:schemeClr val="bg1"/>
                  </a:solidFill>
                </a:rPr>
                <a:t> like Total Sales, Orders, Quantity Sold, and AOV.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296F758-BD79-FDE4-C3D2-AEC846746A93}"/>
                </a:ext>
              </a:extLst>
            </p:cNvPr>
            <p:cNvSpPr txBox="1"/>
            <p:nvPr/>
          </p:nvSpPr>
          <p:spPr>
            <a:xfrm>
              <a:off x="6628638" y="4673625"/>
              <a:ext cx="3792474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Identify top-performing products &amp; regions</a:t>
              </a:r>
              <a:r>
                <a:rPr lang="en-US" sz="2000" dirty="0">
                  <a:solidFill>
                    <a:schemeClr val="bg1"/>
                  </a:solidFill>
                </a:rPr>
                <a:t> for better business planning.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0459573-9842-614A-1B47-65FE85BF7256}"/>
                </a:ext>
              </a:extLst>
            </p:cNvPr>
            <p:cNvSpPr txBox="1"/>
            <p:nvPr/>
          </p:nvSpPr>
          <p:spPr>
            <a:xfrm>
              <a:off x="1657350" y="4673625"/>
              <a:ext cx="379247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Evaluate fulfilment &amp; promotions</a:t>
              </a:r>
              <a:r>
                <a:rPr lang="en-US" sz="2000" dirty="0">
                  <a:solidFill>
                    <a:schemeClr val="bg1"/>
                  </a:solidFill>
                </a:rPr>
                <a:t> to measure operational efficiency.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6126485-444F-9EB0-9BBB-B2ADD2506B7F}"/>
                </a:ext>
              </a:extLst>
            </p:cNvPr>
            <p:cNvSpPr txBox="1"/>
            <p:nvPr/>
          </p:nvSpPr>
          <p:spPr>
            <a:xfrm>
              <a:off x="6628638" y="3648008"/>
              <a:ext cx="379247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Forecast future sales trends</a:t>
              </a:r>
              <a:r>
                <a:rPr lang="en-US" sz="2000" dirty="0">
                  <a:solidFill>
                    <a:schemeClr val="bg1"/>
                  </a:solidFill>
                </a:rPr>
                <a:t> for data-driven decision making.</a:t>
              </a:r>
              <a:endParaRPr lang="en-IN" sz="2000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6704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FD4DAF-BE0A-E43B-0B0C-07A75B68F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6A4E4F-190F-F3FC-8516-6FA52CEDDDBB}"/>
              </a:ext>
            </a:extLst>
          </p:cNvPr>
          <p:cNvSpPr txBox="1"/>
          <p:nvPr/>
        </p:nvSpPr>
        <p:spPr>
          <a:xfrm>
            <a:off x="4149089" y="140187"/>
            <a:ext cx="38938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Bookman Old Style" panose="02050604050505020204" pitchFamily="18" charset="0"/>
              </a:rPr>
              <a:t>Project</a:t>
            </a:r>
          </a:p>
          <a:p>
            <a:pPr algn="ctr"/>
            <a:r>
              <a:rPr lang="en-IN" sz="6000" dirty="0">
                <a:solidFill>
                  <a:schemeClr val="accent4"/>
                </a:solidFill>
                <a:latin typeface="Bookman Old Style" panose="02050604050505020204" pitchFamily="18" charset="0"/>
              </a:rPr>
              <a:t>Outcome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111DBB-F4AF-4D24-B110-A0101C250F7A}"/>
              </a:ext>
            </a:extLst>
          </p:cNvPr>
          <p:cNvGrpSpPr/>
          <p:nvPr/>
        </p:nvGrpSpPr>
        <p:grpSpPr>
          <a:xfrm>
            <a:off x="1302638" y="2326067"/>
            <a:ext cx="9586722" cy="2894787"/>
            <a:chOff x="1533525" y="2079179"/>
            <a:chExt cx="9586722" cy="289478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BF51A9-3173-FC7C-75BC-8A10B9D4BB1A}"/>
                </a:ext>
              </a:extLst>
            </p:cNvPr>
            <p:cNvSpPr txBox="1"/>
            <p:nvPr/>
          </p:nvSpPr>
          <p:spPr>
            <a:xfrm>
              <a:off x="1533525" y="2079180"/>
              <a:ext cx="4121658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Gained </a:t>
              </a:r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clear visibility</a:t>
              </a:r>
              <a:r>
                <a:rPr lang="en-US" sz="20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 into overall Amazon sales performance across multiple dimensions.</a:t>
              </a:r>
              <a:endParaRPr lang="en-IN" sz="2000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8725D3-5426-8D7C-53D3-374C1C49F71A}"/>
                </a:ext>
              </a:extLst>
            </p:cNvPr>
            <p:cNvSpPr txBox="1"/>
            <p:nvPr/>
          </p:nvSpPr>
          <p:spPr>
            <a:xfrm>
              <a:off x="1533525" y="3650527"/>
              <a:ext cx="4121658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Improved </a:t>
              </a:r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marketing and inventory strategies</a:t>
              </a:r>
              <a:r>
                <a:rPr lang="en-US" sz="20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 using promotional and category insights.</a:t>
              </a:r>
              <a:endParaRPr lang="en-IN" sz="2000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2977D3-C131-3DB8-8EFF-D760B5071197}"/>
                </a:ext>
              </a:extLst>
            </p:cNvPr>
            <p:cNvSpPr txBox="1"/>
            <p:nvPr/>
          </p:nvSpPr>
          <p:spPr>
            <a:xfrm>
              <a:off x="6998589" y="2079179"/>
              <a:ext cx="4121658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Identified </a:t>
              </a:r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top-performing products, regions, and fulfilment types</a:t>
              </a:r>
              <a:r>
                <a:rPr lang="en-US" sz="20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 for better business planning.</a:t>
              </a:r>
              <a:endParaRPr lang="en-IN" sz="2000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C8D7BAD-326F-875E-1AF1-41FD155FEF09}"/>
                </a:ext>
              </a:extLst>
            </p:cNvPr>
            <p:cNvSpPr txBox="1"/>
            <p:nvPr/>
          </p:nvSpPr>
          <p:spPr>
            <a:xfrm>
              <a:off x="6998589" y="3650527"/>
              <a:ext cx="412165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Delivered a </a:t>
              </a:r>
              <a:r>
                <a:rPr lang="en-US" sz="20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fully interactive Power BI dashboard</a:t>
              </a:r>
              <a:r>
                <a:rPr lang="en-US" sz="20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 for faster and smarter decision-making.</a:t>
              </a:r>
              <a:endParaRPr lang="en-IN" sz="2000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862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466A6-672B-EA6E-8976-458EC5E3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C17C16-9A53-4B89-9470-8C555EC1C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6A3CF1-BD11-356F-D360-056F93DC9C88}"/>
              </a:ext>
            </a:extLst>
          </p:cNvPr>
          <p:cNvSpPr txBox="1"/>
          <p:nvPr/>
        </p:nvSpPr>
        <p:spPr>
          <a:xfrm>
            <a:off x="4149089" y="140187"/>
            <a:ext cx="38938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Bookman Old Style" panose="02050604050505020204" pitchFamily="18" charset="0"/>
              </a:rPr>
              <a:t>Content</a:t>
            </a:r>
          </a:p>
          <a:p>
            <a:pPr algn="ctr"/>
            <a:r>
              <a:rPr lang="en-IN" sz="6000" dirty="0">
                <a:solidFill>
                  <a:schemeClr val="accent4"/>
                </a:solidFill>
                <a:latin typeface="Bookman Old Style" panose="02050604050505020204" pitchFamily="18" charset="0"/>
              </a:rPr>
              <a:t>Table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8697BA6-D058-D1B0-4A07-60347AF34083}"/>
              </a:ext>
            </a:extLst>
          </p:cNvPr>
          <p:cNvGrpSpPr/>
          <p:nvPr/>
        </p:nvGrpSpPr>
        <p:grpSpPr>
          <a:xfrm>
            <a:off x="1702688" y="2207195"/>
            <a:ext cx="8786622" cy="3683115"/>
            <a:chOff x="1307591" y="2079179"/>
            <a:chExt cx="8786622" cy="368311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B27D6A9-E03D-B90F-7AEE-BD64AD1E60DB}"/>
                </a:ext>
              </a:extLst>
            </p:cNvPr>
            <p:cNvGrpSpPr/>
            <p:nvPr/>
          </p:nvGrpSpPr>
          <p:grpSpPr>
            <a:xfrm>
              <a:off x="2097784" y="2079179"/>
              <a:ext cx="7996429" cy="3683114"/>
              <a:chOff x="1577339" y="2181955"/>
              <a:chExt cx="9027334" cy="3683114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37DEA2-BDD9-AC11-172A-07A054154BDE}"/>
                  </a:ext>
                </a:extLst>
              </p:cNvPr>
              <p:cNvSpPr txBox="1"/>
              <p:nvPr/>
            </p:nvSpPr>
            <p:spPr>
              <a:xfrm>
                <a:off x="1577340" y="2183686"/>
                <a:ext cx="271576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Data Source &amp; Description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0BDB78-464A-21D0-6257-CE317B571ABE}"/>
                  </a:ext>
                </a:extLst>
              </p:cNvPr>
              <p:cNvSpPr txBox="1"/>
              <p:nvPr/>
            </p:nvSpPr>
            <p:spPr>
              <a:xfrm>
                <a:off x="1577340" y="4402248"/>
                <a:ext cx="2514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Key Insights &amp; Findings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1DD1AA-C8CA-6090-C0B2-A43397EFFA98}"/>
                  </a:ext>
                </a:extLst>
              </p:cNvPr>
              <p:cNvSpPr txBox="1"/>
              <p:nvPr/>
            </p:nvSpPr>
            <p:spPr>
              <a:xfrm>
                <a:off x="6690360" y="3307027"/>
                <a:ext cx="391431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800">
                    <a:solidFill>
                      <a:schemeClr val="bg1"/>
                    </a:solidFill>
                    <a:latin typeface="Bookman Old Style" panose="02050604050505020204" pitchFamily="18" charset="0"/>
                  </a:defRPr>
                </a:lvl1pPr>
              </a:lstStyle>
              <a:p>
                <a:r>
                  <a:rPr lang="en-IN" sz="2400" dirty="0"/>
                  <a:t>Dashboard Design &amp; Visualization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C77E13-B460-465C-AB06-9A79A590C518}"/>
                  </a:ext>
                </a:extLst>
              </p:cNvPr>
              <p:cNvSpPr txBox="1"/>
              <p:nvPr/>
            </p:nvSpPr>
            <p:spPr>
              <a:xfrm>
                <a:off x="6690360" y="2181955"/>
                <a:ext cx="355091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800">
                    <a:solidFill>
                      <a:schemeClr val="bg1"/>
                    </a:solidFill>
                    <a:latin typeface="Bookman Old Style" panose="02050604050505020204" pitchFamily="18" charset="0"/>
                  </a:defRPr>
                </a:lvl1pPr>
              </a:lstStyle>
              <a:p>
                <a:r>
                  <a:rPr lang="en-IN" sz="2400" dirty="0"/>
                  <a:t>Data Cleaning &amp; Transformation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037660-0769-F723-553E-E084539B4D6B}"/>
                  </a:ext>
                </a:extLst>
              </p:cNvPr>
              <p:cNvSpPr txBox="1"/>
              <p:nvPr/>
            </p:nvSpPr>
            <p:spPr>
              <a:xfrm>
                <a:off x="1577340" y="3308758"/>
                <a:ext cx="328913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800">
                    <a:solidFill>
                      <a:schemeClr val="bg1"/>
                    </a:solidFill>
                    <a:latin typeface="Bookman Old Style" panose="02050604050505020204" pitchFamily="18" charset="0"/>
                  </a:defRPr>
                </a:lvl1pPr>
              </a:lstStyle>
              <a:p>
                <a:r>
                  <a:rPr lang="en-IN" sz="2400" dirty="0"/>
                  <a:t>Exploratory Data Analysis (EDA)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3EED0B-172D-0B52-11FA-671738C19475}"/>
                  </a:ext>
                </a:extLst>
              </p:cNvPr>
              <p:cNvSpPr txBox="1"/>
              <p:nvPr/>
            </p:nvSpPr>
            <p:spPr>
              <a:xfrm>
                <a:off x="6690360" y="4401383"/>
                <a:ext cx="35509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800">
                    <a:solidFill>
                      <a:schemeClr val="bg1"/>
                    </a:solidFill>
                    <a:latin typeface="Bookman Old Style" panose="02050604050505020204" pitchFamily="18" charset="0"/>
                  </a:defRPr>
                </a:lvl1pPr>
              </a:lstStyle>
              <a:p>
                <a:r>
                  <a:rPr lang="en-IN" sz="2400" dirty="0"/>
                  <a:t>Tools &amp; Technologies Used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D6B1B7-2601-9E4F-0C43-FBB88CD76FDA}"/>
                  </a:ext>
                </a:extLst>
              </p:cNvPr>
              <p:cNvSpPr txBox="1"/>
              <p:nvPr/>
            </p:nvSpPr>
            <p:spPr>
              <a:xfrm>
                <a:off x="1577339" y="5403404"/>
                <a:ext cx="2514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800">
                    <a:solidFill>
                      <a:schemeClr val="bg1"/>
                    </a:solidFill>
                    <a:latin typeface="Bookman Old Style" panose="02050604050505020204" pitchFamily="18" charset="0"/>
                  </a:defRPr>
                </a:lvl1pPr>
              </a:lstStyle>
              <a:p>
                <a:r>
                  <a:rPr lang="en-IN" sz="2400" dirty="0"/>
                  <a:t>Future Scope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93B2B9-BED8-DC61-A72F-B53B8B2A5E7C}"/>
                  </a:ext>
                </a:extLst>
              </p:cNvPr>
              <p:cNvSpPr txBox="1"/>
              <p:nvPr/>
            </p:nvSpPr>
            <p:spPr>
              <a:xfrm>
                <a:off x="6690360" y="5403404"/>
                <a:ext cx="2514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800">
                    <a:solidFill>
                      <a:schemeClr val="bg1"/>
                    </a:solidFill>
                    <a:latin typeface="Bookman Old Style" panose="02050604050505020204" pitchFamily="18" charset="0"/>
                  </a:defRPr>
                </a:lvl1pPr>
              </a:lstStyle>
              <a:p>
                <a:r>
                  <a:rPr lang="en-IN" sz="2400" dirty="0"/>
                  <a:t>Conclusion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F15FAF-3F37-9305-6AB8-7A9CE2E02C94}"/>
                </a:ext>
              </a:extLst>
            </p:cNvPr>
            <p:cNvSpPr txBox="1"/>
            <p:nvPr/>
          </p:nvSpPr>
          <p:spPr>
            <a:xfrm>
              <a:off x="1307591" y="2269391"/>
              <a:ext cx="790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chemeClr val="accent4"/>
                  </a:solidFill>
                  <a:latin typeface="Bookman Old Style" panose="02050604050505020204" pitchFamily="18" charset="0"/>
                </a:rPr>
                <a:t>01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C020218-BE27-2699-0E7D-569866C3D149}"/>
                </a:ext>
              </a:extLst>
            </p:cNvPr>
            <p:cNvSpPr txBox="1"/>
            <p:nvPr/>
          </p:nvSpPr>
          <p:spPr>
            <a:xfrm>
              <a:off x="1307591" y="3388916"/>
              <a:ext cx="790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chemeClr val="accent4"/>
                  </a:solidFill>
                  <a:latin typeface="Bookman Old Style" panose="02050604050505020204" pitchFamily="18" charset="0"/>
                </a:rPr>
                <a:t>03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C7745D-F54C-D471-9592-8A01921BECE5}"/>
                </a:ext>
              </a:extLst>
            </p:cNvPr>
            <p:cNvSpPr txBox="1"/>
            <p:nvPr/>
          </p:nvSpPr>
          <p:spPr>
            <a:xfrm>
              <a:off x="1307591" y="5300628"/>
              <a:ext cx="790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chemeClr val="accent4"/>
                  </a:solidFill>
                  <a:latin typeface="Bookman Old Style" panose="02050604050505020204" pitchFamily="18" charset="0"/>
                </a:rPr>
                <a:t>07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32CDF5-25D8-9EDA-3277-00CA94DC2BB5}"/>
                </a:ext>
              </a:extLst>
            </p:cNvPr>
            <p:cNvSpPr txBox="1"/>
            <p:nvPr/>
          </p:nvSpPr>
          <p:spPr>
            <a:xfrm>
              <a:off x="1307591" y="4508441"/>
              <a:ext cx="790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chemeClr val="accent4"/>
                  </a:solidFill>
                  <a:latin typeface="Bookman Old Style" panose="02050604050505020204" pitchFamily="18" charset="0"/>
                </a:rPr>
                <a:t>05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9F74634-2905-CC99-8914-A4EEF44EC1F8}"/>
                </a:ext>
              </a:extLst>
            </p:cNvPr>
            <p:cNvSpPr txBox="1"/>
            <p:nvPr/>
          </p:nvSpPr>
          <p:spPr>
            <a:xfrm>
              <a:off x="5827015" y="5300629"/>
              <a:ext cx="790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chemeClr val="accent4"/>
                  </a:solidFill>
                  <a:latin typeface="Bookman Old Style" panose="02050604050505020204" pitchFamily="18" charset="0"/>
                </a:rPr>
                <a:t>08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4E32ADA-8EBD-597A-CF29-D95671C5F7B1}"/>
                </a:ext>
              </a:extLst>
            </p:cNvPr>
            <p:cNvSpPr txBox="1"/>
            <p:nvPr/>
          </p:nvSpPr>
          <p:spPr>
            <a:xfrm>
              <a:off x="5836713" y="4508441"/>
              <a:ext cx="790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chemeClr val="accent4"/>
                  </a:solidFill>
                  <a:latin typeface="Bookman Old Style" panose="02050604050505020204" pitchFamily="18" charset="0"/>
                </a:rPr>
                <a:t>06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D37565D-4DBD-EAB1-7170-F922331F0E83}"/>
                </a:ext>
              </a:extLst>
            </p:cNvPr>
            <p:cNvSpPr txBox="1"/>
            <p:nvPr/>
          </p:nvSpPr>
          <p:spPr>
            <a:xfrm>
              <a:off x="5836714" y="3388916"/>
              <a:ext cx="790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chemeClr val="accent4"/>
                  </a:solidFill>
                  <a:latin typeface="Bookman Old Style" panose="02050604050505020204" pitchFamily="18" charset="0"/>
                </a:rPr>
                <a:t>04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D9F7B88-4A97-95C5-0E56-022FE9A55B6D}"/>
                </a:ext>
              </a:extLst>
            </p:cNvPr>
            <p:cNvSpPr txBox="1"/>
            <p:nvPr/>
          </p:nvSpPr>
          <p:spPr>
            <a:xfrm>
              <a:off x="5836714" y="2287067"/>
              <a:ext cx="7901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>
                  <a:solidFill>
                    <a:schemeClr val="accent4"/>
                  </a:solidFill>
                  <a:latin typeface="Bookman Old Style" panose="02050604050505020204" pitchFamily="18" charset="0"/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4823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3B53-7689-A7EA-122C-A0DB73F32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2E4952-92A7-9E95-5723-BDA774D5B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4EA929-C825-AF7E-8E0B-723DC4A18666}"/>
              </a:ext>
            </a:extLst>
          </p:cNvPr>
          <p:cNvSpPr txBox="1"/>
          <p:nvPr/>
        </p:nvSpPr>
        <p:spPr>
          <a:xfrm>
            <a:off x="6096000" y="2459504"/>
            <a:ext cx="59161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  <a:latin typeface="Bookman Old Style" panose="02050604050505020204" pitchFamily="18" charset="0"/>
              </a:rPr>
              <a:t>Data Source &amp; Description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FF533B4D-1568-EAC4-69A6-8967656B06F7}"/>
              </a:ext>
            </a:extLst>
          </p:cNvPr>
          <p:cNvSpPr/>
          <p:nvPr/>
        </p:nvSpPr>
        <p:spPr>
          <a:xfrm>
            <a:off x="8207764" y="1280401"/>
            <a:ext cx="1080000" cy="1080000"/>
          </a:xfrm>
          <a:prstGeom prst="flowChartConnector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accent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</a:rPr>
              <a:t>01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31A25B-DFD9-A54C-1FC6-A1F7466FB5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37" y="934146"/>
            <a:ext cx="4989708" cy="498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497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E7AAC-F85C-ED65-57FA-40E2D1F93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6D5147-C421-F000-8FDB-B0714E880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AE44CD-3726-E2AB-8AB1-CE57A691D8B9}"/>
              </a:ext>
            </a:extLst>
          </p:cNvPr>
          <p:cNvSpPr txBox="1"/>
          <p:nvPr/>
        </p:nvSpPr>
        <p:spPr>
          <a:xfrm>
            <a:off x="469392" y="920620"/>
            <a:ext cx="5626608" cy="5016758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The dataset used for this project is a Retail Sales (Amazon Orders) dataset.</a:t>
            </a:r>
          </a:p>
          <a:p>
            <a:pPr>
              <a:buClr>
                <a:srgbClr val="00B050"/>
              </a:buClr>
            </a:pPr>
            <a:endParaRPr lang="en-US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It contains detailed information about customer orders, products, fulfilment types, cities, quantities, prices, and delivery status.</a:t>
            </a:r>
          </a:p>
          <a:p>
            <a:pPr>
              <a:buClr>
                <a:srgbClr val="00B050"/>
              </a:buClr>
            </a:pPr>
            <a:endParaRPr lang="en-US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The data was provided in CSV/Excel format and imported directly into Power BI Desktop.</a:t>
            </a:r>
          </a:p>
          <a:p>
            <a:pPr>
              <a:buClr>
                <a:srgbClr val="00B050"/>
              </a:buClr>
            </a:pPr>
            <a:endParaRPr lang="en-US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Each record represents a single order item with attributes like Order ID, Date, Category, Size, Qty, Total Amount, City, and Status.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07A0F9-5A69-3E14-BAED-A57C9907F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52" r="26147"/>
          <a:stretch>
            <a:fillRect/>
          </a:stretch>
        </p:blipFill>
        <p:spPr>
          <a:xfrm>
            <a:off x="7068312" y="1473707"/>
            <a:ext cx="3622179" cy="39105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58403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74E86-DBDB-127A-0BCE-B036AED9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D27382-C293-AF6B-97F1-7C9E4FFBE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3BB38B-68D9-AAF3-6DBC-5454B031426F}"/>
              </a:ext>
            </a:extLst>
          </p:cNvPr>
          <p:cNvSpPr txBox="1"/>
          <p:nvPr/>
        </p:nvSpPr>
        <p:spPr>
          <a:xfrm>
            <a:off x="5286447" y="2459504"/>
            <a:ext cx="66190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  <a:latin typeface="Bookman Old Style" panose="02050604050505020204" pitchFamily="18" charset="0"/>
              </a:rPr>
              <a:t>Data Cleaning &amp; Transformation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2780D173-A3D4-9BAF-8B9F-36656E12F418}"/>
              </a:ext>
            </a:extLst>
          </p:cNvPr>
          <p:cNvSpPr/>
          <p:nvPr/>
        </p:nvSpPr>
        <p:spPr>
          <a:xfrm>
            <a:off x="7777996" y="1224792"/>
            <a:ext cx="1080000" cy="1080000"/>
          </a:xfrm>
          <a:prstGeom prst="flowChartConnector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accent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</a:rPr>
              <a:t>02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8161A4-DC5E-14EA-69C5-80ACA57E7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133" y="2189527"/>
            <a:ext cx="3719747" cy="247894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chemeClr val="bg1">
                <a:lumMod val="95000"/>
              </a:schemeClr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64719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E2B8DF-5074-C0AA-0770-79D8A6711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67478F-4CFE-ED12-CB18-53805324BB7B}"/>
              </a:ext>
            </a:extLst>
          </p:cNvPr>
          <p:cNvSpPr txBox="1"/>
          <p:nvPr/>
        </p:nvSpPr>
        <p:spPr>
          <a:xfrm>
            <a:off x="498348" y="751011"/>
            <a:ext cx="1119530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The raw Amazon sales dataset underwent multiple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cleaning and transformation steps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 in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Power Query Editor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 to ensure data accuracy, consistency, and readiness for analysis.</a:t>
            </a:r>
            <a:b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Each step was carefully applied to remove unnecessary data, fix quality issues, and enhance analytical usability.</a:t>
            </a:r>
            <a:endParaRPr lang="en-IN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777C2-E910-F809-26CF-DF6A0F7FB250}"/>
              </a:ext>
            </a:extLst>
          </p:cNvPr>
          <p:cNvSpPr txBox="1"/>
          <p:nvPr/>
        </p:nvSpPr>
        <p:spPr>
          <a:xfrm>
            <a:off x="498348" y="2670298"/>
            <a:ext cx="3662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Key Cleaning Steps: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3E613-BB1C-B99D-0131-9C9AD2D9EE0E}"/>
              </a:ext>
            </a:extLst>
          </p:cNvPr>
          <p:cNvSpPr txBox="1"/>
          <p:nvPr/>
        </p:nvSpPr>
        <p:spPr>
          <a:xfrm>
            <a:off x="1520190" y="3282696"/>
            <a:ext cx="57858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Loaded Raw Data:</a:t>
            </a:r>
          </a:p>
          <a:p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Imported the CSV file containing 1,28,975 rows and 24 columns.</a:t>
            </a:r>
            <a:endParaRPr lang="en-IN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65F09-B4B6-D396-59AC-F3501250DA37}"/>
              </a:ext>
            </a:extLst>
          </p:cNvPr>
          <p:cNvSpPr txBox="1"/>
          <p:nvPr/>
        </p:nvSpPr>
        <p:spPr>
          <a:xfrm>
            <a:off x="1520190" y="4468082"/>
            <a:ext cx="609447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Removed Unnecessary Columns:</a:t>
            </a:r>
            <a:br>
              <a:rPr lang="en-US" sz="2000" dirty="0">
                <a:solidFill>
                  <a:srgbClr val="E89D06"/>
                </a:solidFill>
                <a:latin typeface="Bookman Old Style" panose="020506040505050202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Dropped irrelevant fields such as index, Style, ASIN, ship-postal-code, Unnamed: 22, Sales Channel, Currency, and Country to keep only relevant business attributes.</a:t>
            </a:r>
            <a:endParaRPr lang="en-IN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9C0A64-CF67-F558-A1AB-B8600F77826B}"/>
              </a:ext>
            </a:extLst>
          </p:cNvPr>
          <p:cNvSpPr txBox="1"/>
          <p:nvPr/>
        </p:nvSpPr>
        <p:spPr>
          <a:xfrm>
            <a:off x="905256" y="3279542"/>
            <a:ext cx="593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CF6001-64FF-A88E-FF5E-C4A4945EAA96}"/>
              </a:ext>
            </a:extLst>
          </p:cNvPr>
          <p:cNvSpPr txBox="1"/>
          <p:nvPr/>
        </p:nvSpPr>
        <p:spPr>
          <a:xfrm>
            <a:off x="905256" y="4473184"/>
            <a:ext cx="593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02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996FF04-35C5-B818-A24A-E69F2F519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087" y="3279542"/>
            <a:ext cx="3723882" cy="250426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24174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000A30-AB3E-923D-1E99-3866455C6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B6B05D3-91C1-4BAA-937A-DF1256F8E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813" y="2921227"/>
            <a:ext cx="5041392" cy="3603859"/>
          </a:xfrm>
          <a:prstGeom prst="rect">
            <a:avLst/>
          </a:prstGeom>
          <a:effectLst>
            <a:softEdge rad="635000"/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5FFCDB9-90CD-E141-7FE6-1C3890937AC7}"/>
              </a:ext>
            </a:extLst>
          </p:cNvPr>
          <p:cNvGrpSpPr/>
          <p:nvPr/>
        </p:nvGrpSpPr>
        <p:grpSpPr>
          <a:xfrm>
            <a:off x="763643" y="1987387"/>
            <a:ext cx="5059261" cy="1938992"/>
            <a:chOff x="931651" y="3429000"/>
            <a:chExt cx="5501704" cy="193899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607A2C-BE22-4DEB-29B7-A56FB7F1AF80}"/>
                </a:ext>
              </a:extLst>
            </p:cNvPr>
            <p:cNvSpPr txBox="1"/>
            <p:nvPr/>
          </p:nvSpPr>
          <p:spPr>
            <a:xfrm>
              <a:off x="1575054" y="3429000"/>
              <a:ext cx="4858301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rgbClr val="FFC000"/>
                  </a:solidFill>
                  <a:latin typeface="Bookman Old Style" panose="02050604050505020204" pitchFamily="18" charset="0"/>
                </a:rPr>
                <a:t>Quantity &amp; Amount Handling:</a:t>
              </a:r>
            </a:p>
            <a:p>
              <a:pPr marL="342900" indent="-342900">
                <a:buClr>
                  <a:schemeClr val="accent4"/>
                </a:buClr>
                <a:buFont typeface="Bookman Old Style" panose="02050604050505020204" pitchFamily="18" charset="0"/>
                <a:buChar char="→"/>
              </a:pP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Managed rows with missing or zero Qty values and recalculated totals.</a:t>
              </a:r>
            </a:p>
            <a:p>
              <a:pPr marL="342900" indent="-342900">
                <a:buClr>
                  <a:schemeClr val="accent4"/>
                </a:buClr>
                <a:buFont typeface="Bookman Old Style" panose="02050604050505020204" pitchFamily="18" charset="0"/>
                <a:buChar char="→"/>
              </a:pP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Added a new calculated column </a:t>
              </a:r>
              <a:r>
                <a:rPr lang="en-US" sz="16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Total Amount</a:t>
              </a: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 (Qty * Item Price).</a:t>
              </a:r>
            </a:p>
            <a:p>
              <a:pPr marL="342900" indent="-342900">
                <a:buClr>
                  <a:schemeClr val="accent4"/>
                </a:buClr>
                <a:buFont typeface="Bookman Old Style" panose="02050604050505020204" pitchFamily="18" charset="0"/>
                <a:buChar char="→"/>
              </a:pP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Removed null and zero-value errors, resulting in </a:t>
              </a:r>
              <a:r>
                <a:rPr lang="en-US" sz="16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1,13,698 clean records.</a:t>
              </a:r>
              <a:endParaRPr lang="en-US" sz="1600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23DDF9-FE5F-6731-F9FB-8EE3DDB5B00D}"/>
                </a:ext>
              </a:extLst>
            </p:cNvPr>
            <p:cNvSpPr txBox="1"/>
            <p:nvPr/>
          </p:nvSpPr>
          <p:spPr>
            <a:xfrm>
              <a:off x="931651" y="3474157"/>
              <a:ext cx="5932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rgbClr val="FFC000"/>
                  </a:solidFill>
                  <a:latin typeface="Bookman Old Style" panose="02050604050505020204" pitchFamily="18" charset="0"/>
                </a:rPr>
                <a:t>04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EFDFC8-DBE4-1283-D1E1-E3DA3D1258C6}"/>
              </a:ext>
            </a:extLst>
          </p:cNvPr>
          <p:cNvGrpSpPr/>
          <p:nvPr/>
        </p:nvGrpSpPr>
        <p:grpSpPr>
          <a:xfrm>
            <a:off x="763643" y="491889"/>
            <a:ext cx="4913376" cy="1384995"/>
            <a:chOff x="929640" y="490425"/>
            <a:chExt cx="4913376" cy="138499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476F605-90EB-BEF4-186C-1108530E20B0}"/>
                </a:ext>
              </a:extLst>
            </p:cNvPr>
            <p:cNvSpPr txBox="1"/>
            <p:nvPr/>
          </p:nvSpPr>
          <p:spPr>
            <a:xfrm>
              <a:off x="1374763" y="490425"/>
              <a:ext cx="446825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sz="2000" b="1" dirty="0">
                  <a:solidFill>
                    <a:srgbClr val="FFC000"/>
                  </a:solidFill>
                  <a:latin typeface="Bookman Old Style" panose="02050604050505020204" pitchFamily="18" charset="0"/>
                </a:rPr>
                <a:t>Error &amp; Blank Handling:</a:t>
              </a:r>
            </a:p>
            <a:p>
              <a:pPr marL="342900" indent="-342900">
                <a:buClr>
                  <a:schemeClr val="accent4"/>
                </a:buClr>
                <a:buFont typeface="Bookman Old Style" panose="02050604050505020204" pitchFamily="18" charset="0"/>
                <a:buChar char="→"/>
              </a:pP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Removed error values, blank rows, and duplicates to ensure data quality.</a:t>
              </a:r>
            </a:p>
            <a:p>
              <a:pPr marL="342900" indent="-342900">
                <a:buClr>
                  <a:schemeClr val="accent4"/>
                </a:buClr>
                <a:buFont typeface="Bookman Old Style" panose="02050604050505020204" pitchFamily="18" charset="0"/>
                <a:buChar char="→"/>
              </a:pP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Duplicates removed: </a:t>
              </a:r>
              <a:r>
                <a:rPr lang="en-US" sz="16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6 rows</a:t>
              </a:r>
              <a:endParaRPr lang="en-US" sz="1600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  <a:p>
              <a:pPr marL="342900" indent="-342900">
                <a:buClr>
                  <a:schemeClr val="accent4"/>
                </a:buClr>
                <a:buFont typeface="Bookman Old Style" panose="02050604050505020204" pitchFamily="18" charset="0"/>
                <a:buChar char="→"/>
              </a:pP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Total rows after cleanup: </a:t>
              </a:r>
              <a:r>
                <a:rPr lang="en-US" sz="16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1,16,165</a:t>
              </a:r>
              <a:endParaRPr lang="en-US" sz="1600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4ED2F7-D443-F17E-7238-927F451B0850}"/>
                </a:ext>
              </a:extLst>
            </p:cNvPr>
            <p:cNvSpPr txBox="1"/>
            <p:nvPr/>
          </p:nvSpPr>
          <p:spPr>
            <a:xfrm>
              <a:off x="929640" y="490425"/>
              <a:ext cx="5932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rgbClr val="FFC000"/>
                  </a:solidFill>
                  <a:latin typeface="Bookman Old Style" panose="02050604050505020204" pitchFamily="18" charset="0"/>
                </a:rPr>
                <a:t>03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28E106C-45C0-897C-FBFB-97615813DCB9}"/>
              </a:ext>
            </a:extLst>
          </p:cNvPr>
          <p:cNvGrpSpPr/>
          <p:nvPr/>
        </p:nvGrpSpPr>
        <p:grpSpPr>
          <a:xfrm>
            <a:off x="6096000" y="492239"/>
            <a:ext cx="5332036" cy="892552"/>
            <a:chOff x="6207929" y="4130868"/>
            <a:chExt cx="6015429" cy="89255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1B53517-3257-FD8F-09CC-0AC5CE75675E}"/>
                </a:ext>
              </a:extLst>
            </p:cNvPr>
            <p:cNvSpPr txBox="1"/>
            <p:nvPr/>
          </p:nvSpPr>
          <p:spPr>
            <a:xfrm>
              <a:off x="6823358" y="4130868"/>
              <a:ext cx="5400000" cy="89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accent4"/>
                  </a:solidFill>
                  <a:latin typeface="Bookman Old Style" panose="02050604050505020204" pitchFamily="18" charset="0"/>
                </a:rPr>
                <a:t>Date-Based Columns Added:</a:t>
              </a:r>
              <a:br>
                <a:rPr lang="en-US" sz="24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</a:b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Extracted </a:t>
              </a:r>
              <a:r>
                <a:rPr lang="en-US" sz="16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Year</a:t>
              </a: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, </a:t>
              </a:r>
              <a:r>
                <a:rPr lang="en-US" sz="16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Month</a:t>
              </a: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, and </a:t>
              </a:r>
              <a:r>
                <a:rPr lang="en-US" sz="16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Week</a:t>
              </a: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 from order date for time-series analysis.</a:t>
              </a:r>
              <a:endParaRPr lang="en-US" sz="2000" dirty="0">
                <a:solidFill>
                  <a:schemeClr val="bg1"/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417BA2-1A6D-176A-F9D1-402324F90DF6}"/>
                </a:ext>
              </a:extLst>
            </p:cNvPr>
            <p:cNvSpPr txBox="1"/>
            <p:nvPr/>
          </p:nvSpPr>
          <p:spPr>
            <a:xfrm>
              <a:off x="6207929" y="4151493"/>
              <a:ext cx="6173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accent4"/>
                  </a:solidFill>
                  <a:latin typeface="Bookman Old Style" panose="02050604050505020204" pitchFamily="18" charset="0"/>
                </a:rPr>
                <a:t>06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32CFC9-8CA4-8E76-CD74-58F444AC93DD}"/>
              </a:ext>
            </a:extLst>
          </p:cNvPr>
          <p:cNvGrpSpPr/>
          <p:nvPr/>
        </p:nvGrpSpPr>
        <p:grpSpPr>
          <a:xfrm>
            <a:off x="763643" y="3960815"/>
            <a:ext cx="4913376" cy="2431435"/>
            <a:chOff x="929640" y="3734917"/>
            <a:chExt cx="4913376" cy="243143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4554DDB-17FD-66D6-01A5-E35185126867}"/>
                </a:ext>
              </a:extLst>
            </p:cNvPr>
            <p:cNvSpPr txBox="1"/>
            <p:nvPr/>
          </p:nvSpPr>
          <p:spPr>
            <a:xfrm>
              <a:off x="929640" y="3734917"/>
              <a:ext cx="5932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dirty="0">
                  <a:solidFill>
                    <a:schemeClr val="accent4"/>
                  </a:solidFill>
                  <a:latin typeface="Bookman Old Style" panose="02050604050505020204" pitchFamily="18" charset="0"/>
                </a:rPr>
                <a:t>05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2ACAD1-E7CD-0D49-AC71-DB806BF10718}"/>
                </a:ext>
              </a:extLst>
            </p:cNvPr>
            <p:cNvSpPr txBox="1"/>
            <p:nvPr/>
          </p:nvSpPr>
          <p:spPr>
            <a:xfrm>
              <a:off x="1374763" y="3734917"/>
              <a:ext cx="4468253" cy="24314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accent4"/>
                  </a:solidFill>
                  <a:latin typeface="Bookman Old Style" panose="02050604050505020204" pitchFamily="18" charset="0"/>
                </a:rPr>
                <a:t>Categorization Columns Created:</a:t>
              </a:r>
            </a:p>
            <a:p>
              <a:pPr marL="285750" indent="-285750">
                <a:buClr>
                  <a:srgbClr val="FFC000"/>
                </a:buClr>
                <a:buFont typeface="Bookman Old Style" panose="02050604050505020204" pitchFamily="18" charset="0"/>
                <a:buChar char="→"/>
              </a:pP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Added </a:t>
              </a:r>
              <a:r>
                <a:rPr lang="en-US" sz="16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Order Type</a:t>
              </a: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 (Amazon vs Merchant) for fulfilment classification.</a:t>
              </a:r>
            </a:p>
            <a:p>
              <a:pPr marL="285750" indent="-285750">
                <a:buClr>
                  <a:srgbClr val="FFC000"/>
                </a:buClr>
                <a:buFont typeface="Bookman Old Style" panose="02050604050505020204" pitchFamily="18" charset="0"/>
                <a:buChar char="→"/>
              </a:pP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Created </a:t>
              </a:r>
              <a:r>
                <a:rPr lang="en-US" sz="16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Order Status Group</a:t>
              </a: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 to group order outcomes (Shipped, Cancelled, Returned).</a:t>
              </a:r>
            </a:p>
            <a:p>
              <a:pPr marL="285750" indent="-285750">
                <a:buClr>
                  <a:srgbClr val="FFC000"/>
                </a:buClr>
                <a:buFont typeface="Bookman Old Style" panose="02050604050505020204" pitchFamily="18" charset="0"/>
                <a:buChar char="→"/>
              </a:pP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Added </a:t>
              </a:r>
              <a:r>
                <a:rPr lang="en-US" sz="1600" b="1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Promotion Type</a:t>
              </a:r>
              <a:r>
                <a:rPr lang="en-US" sz="1600" dirty="0">
                  <a:solidFill>
                    <a:schemeClr val="bg1"/>
                  </a:solidFill>
                  <a:latin typeface="Bookman Old Style" panose="02050604050505020204" pitchFamily="18" charset="0"/>
                </a:rPr>
                <a:t> to differentiate promotional vs non-promotional sales.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A55F5EE-AFEC-FB01-9CB1-8F4C7834A82A}"/>
              </a:ext>
            </a:extLst>
          </p:cNvPr>
          <p:cNvSpPr txBox="1"/>
          <p:nvPr/>
        </p:nvSpPr>
        <p:spPr>
          <a:xfrm>
            <a:off x="6641512" y="1693990"/>
            <a:ext cx="50413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69822"/>
              </a:buClr>
              <a:buFont typeface="Wingdings" panose="05000000000000000000" pitchFamily="2" charset="2"/>
              <a:buChar char="ü"/>
            </a:pPr>
            <a:r>
              <a:rPr lang="en-US" sz="1600" i="1" dirty="0">
                <a:solidFill>
                  <a:schemeClr val="bg1"/>
                </a:solidFill>
                <a:latin typeface="Bookman Old Style" panose="02050604050505020204" pitchFamily="18" charset="0"/>
              </a:rPr>
              <a:t>Final dataset is fully structured, clean, and optimized for Power BI reporting — supporting accurate KPI calculations, visualizations, and forecasting analysis</a:t>
            </a:r>
            <a:r>
              <a:rPr lang="en-US" sz="1600" i="1" dirty="0">
                <a:solidFill>
                  <a:srgbClr val="069822"/>
                </a:solidFill>
                <a:latin typeface="Bookman Old Style" panose="02050604050505020204" pitchFamily="18" charset="0"/>
              </a:rPr>
              <a:t>.</a:t>
            </a:r>
            <a:endParaRPr lang="en-IN" sz="1600" i="1" dirty="0">
              <a:solidFill>
                <a:srgbClr val="069822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620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F9B61-0403-6A12-5DDD-0610BA4CA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D4575D-812C-AB9E-FAC6-B52E60813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F38AD9-1B22-A88A-3377-DCF974FE80C8}"/>
              </a:ext>
            </a:extLst>
          </p:cNvPr>
          <p:cNvSpPr txBox="1"/>
          <p:nvPr/>
        </p:nvSpPr>
        <p:spPr>
          <a:xfrm>
            <a:off x="6096000" y="1929152"/>
            <a:ext cx="59161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  <a:latin typeface="Bookman Old Style" panose="02050604050505020204" pitchFamily="18" charset="0"/>
              </a:rPr>
              <a:t>Exploratory Data Analysis (EDA)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4B65826D-14B7-716A-DE19-0CE800D9F167}"/>
              </a:ext>
            </a:extLst>
          </p:cNvPr>
          <p:cNvSpPr/>
          <p:nvPr/>
        </p:nvSpPr>
        <p:spPr>
          <a:xfrm>
            <a:off x="8207764" y="795769"/>
            <a:ext cx="1080000" cy="1080000"/>
          </a:xfrm>
          <a:prstGeom prst="flowChartConnector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accent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</a:rPr>
              <a:t>03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49623C-80C3-F518-8288-EAFAF3709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0522" y="1247758"/>
            <a:ext cx="4362483" cy="4362483"/>
          </a:xfrm>
          <a:prstGeom prst="roundRect">
            <a:avLst>
              <a:gd name="adj" fmla="val 16667"/>
            </a:avLst>
          </a:prstGeom>
          <a:ln>
            <a:solidFill>
              <a:schemeClr val="accent4"/>
            </a:solidFill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36346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1B5CDD-5DCF-C5FE-2E73-549DC3C49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C6C067-8CE0-A59C-0957-03D1774F2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12"/>
          <a:stretch>
            <a:fillRect/>
          </a:stretch>
        </p:blipFill>
        <p:spPr>
          <a:xfrm>
            <a:off x="5769864" y="155448"/>
            <a:ext cx="6245352" cy="6528816"/>
          </a:xfrm>
          <a:prstGeom prst="rect">
            <a:avLst/>
          </a:prstGeom>
          <a:noFill/>
          <a:effectLst>
            <a:softEdge rad="12700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DF103C-A860-2366-D5E7-19006505EB89}"/>
              </a:ext>
            </a:extLst>
          </p:cNvPr>
          <p:cNvSpPr txBox="1"/>
          <p:nvPr/>
        </p:nvSpPr>
        <p:spPr>
          <a:xfrm>
            <a:off x="348234" y="780961"/>
            <a:ext cx="624535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After cleaning the dataset, Exploratory Data Analysis was performed to understand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sales patterns, customer behavior, and key business insights.</a:t>
            </a:r>
            <a:b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This step helped in identifying the most important trends and performance indicators before visualization.</a:t>
            </a:r>
          </a:p>
          <a:p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Key analysis performed: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43DE3D-EFC0-BE6A-2343-0EF193CC68ED}"/>
              </a:ext>
            </a:extLst>
          </p:cNvPr>
          <p:cNvSpPr txBox="1"/>
          <p:nvPr/>
        </p:nvSpPr>
        <p:spPr>
          <a:xfrm>
            <a:off x="642366" y="3417802"/>
            <a:ext cx="545363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Sales Distribution Analysis:</a:t>
            </a:r>
            <a:r>
              <a:rPr lang="en-US" sz="2000" dirty="0">
                <a:solidFill>
                  <a:schemeClr val="accent4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Checked total sales, average order value, and quantity sold to understand overall business performance.</a:t>
            </a: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Category-Level Analysis:</a:t>
            </a:r>
            <a:r>
              <a:rPr lang="en-US" sz="2000" dirty="0">
                <a:solidFill>
                  <a:schemeClr val="accent4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Examined which product categories drive maximum revenue and orders.</a:t>
            </a:r>
          </a:p>
        </p:txBody>
      </p:sp>
    </p:spTree>
    <p:extLst>
      <p:ext uri="{BB962C8B-B14F-4D97-AF65-F5344CB8AC3E}">
        <p14:creationId xmlns:p14="http://schemas.microsoft.com/office/powerpoint/2010/main" val="2837048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8D9DD3-9AD0-7ABD-4166-B64AF6065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38E35C-6E79-35DA-E71D-5BE4419B1A39}"/>
              </a:ext>
            </a:extLst>
          </p:cNvPr>
          <p:cNvSpPr txBox="1"/>
          <p:nvPr/>
        </p:nvSpPr>
        <p:spPr>
          <a:xfrm>
            <a:off x="5895012" y="612842"/>
            <a:ext cx="575194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Fulfilment Comparison:</a:t>
            </a:r>
            <a:r>
              <a:rPr lang="en-US" sz="2000" dirty="0">
                <a:solidFill>
                  <a:schemeClr val="accent4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Compared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Amazon (FBA)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 vs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Merchant (FBM)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 fulfilment to find which performs better.</a:t>
            </a: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Regional Insights: 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Explored state-wise and city-wise sales to identify top and low-performing regions.</a:t>
            </a: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Time Trend Analysis: 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Studied month-wise and seasonal patterns to detect high-demand periods.</a:t>
            </a: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Customer Segment Study: 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Analyzed B2B vs B2C contribution to total revenue.</a:t>
            </a:r>
          </a:p>
          <a:p>
            <a:pPr>
              <a:buClr>
                <a:schemeClr val="bg1"/>
              </a:buClr>
            </a:pPr>
            <a:endParaRPr lang="en-US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342900" indent="-342900"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These findings laid the foundation for creating meaningful and insight-driven Power BI dashboards.</a:t>
            </a:r>
            <a:endParaRPr lang="en-IN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D1A66-ECF6-81C6-2ECC-C85194A99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81"/>
          <a:stretch>
            <a:fillRect/>
          </a:stretch>
        </p:blipFill>
        <p:spPr>
          <a:xfrm>
            <a:off x="771525" y="1404936"/>
            <a:ext cx="4578446" cy="40481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03265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B7336-B8EC-0FEC-C582-4102CBC47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B8E0D5-7B93-9963-C55F-30E1129E1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23CBEA-A11C-95DF-09DB-92A97F6AD91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519" y="119062"/>
            <a:ext cx="11943656" cy="66198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933D58-6360-F66B-A3B3-A6F2B7E2BD23}"/>
              </a:ext>
            </a:extLst>
          </p:cNvPr>
          <p:cNvSpPr txBox="1"/>
          <p:nvPr/>
        </p:nvSpPr>
        <p:spPr>
          <a:xfrm>
            <a:off x="5962650" y="2459504"/>
            <a:ext cx="59428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Dashboard Design &amp; Visualization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63B5D596-1F52-6A34-9D12-CE45CEECF4C2}"/>
              </a:ext>
            </a:extLst>
          </p:cNvPr>
          <p:cNvSpPr/>
          <p:nvPr/>
        </p:nvSpPr>
        <p:spPr>
          <a:xfrm>
            <a:off x="7777996" y="1224792"/>
            <a:ext cx="1080000" cy="1080000"/>
          </a:xfrm>
          <a:prstGeom prst="flowChartConnector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accent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</a:rPr>
              <a:t>04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5E852D-9581-E0D1-E702-C5E497E3C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12" y="2411074"/>
            <a:ext cx="5219461" cy="29591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57404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298FB-2435-9F69-547E-9353217C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D417F4-12C8-F30D-5C6B-15215B9BE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9AD370-FA41-F895-9BEA-1A25EE3814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" y="152401"/>
            <a:ext cx="11887200" cy="6553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C4680B-57BD-4336-9C20-B10034FA6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694" y="2658503"/>
            <a:ext cx="5396555" cy="30590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175F66-299D-7255-73D6-61406E8F6659}"/>
              </a:ext>
            </a:extLst>
          </p:cNvPr>
          <p:cNvSpPr txBox="1"/>
          <p:nvPr/>
        </p:nvSpPr>
        <p:spPr>
          <a:xfrm>
            <a:off x="468788" y="637312"/>
            <a:ext cx="112544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Overview:</a:t>
            </a:r>
            <a:b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The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Overview Page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 provides a complete summary of overall Amazon sales performance.</a:t>
            </a:r>
            <a:b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It helps stakeholders quickly identify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key business trends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, monitor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sales performance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, and find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growth opportunities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 at a glance.</a:t>
            </a:r>
            <a:endParaRPr lang="en-IN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458EFA-946A-3F5D-589D-598F51E95632}"/>
              </a:ext>
            </a:extLst>
          </p:cNvPr>
          <p:cNvSpPr txBox="1"/>
          <p:nvPr/>
        </p:nvSpPr>
        <p:spPr>
          <a:xfrm>
            <a:off x="857257" y="2141727"/>
            <a:ext cx="575721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Key Visuals:</a:t>
            </a:r>
            <a:endParaRPr lang="en-US" dirty="0">
              <a:solidFill>
                <a:schemeClr val="accent4"/>
              </a:solidFill>
              <a:latin typeface="Bookman Old Style" panose="02050604050505020204" pitchFamily="18" charset="0"/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Top 5 Category by Total Sales</a:t>
            </a:r>
            <a:r>
              <a:rPr lang="en-US" sz="1600" dirty="0">
                <a:solidFill>
                  <a:schemeClr val="accent4"/>
                </a:solidFill>
                <a:latin typeface="Bookman Old Style" panose="02050604050505020204" pitchFamily="18" charset="0"/>
              </a:rPr>
              <a:t> → </a:t>
            </a:r>
            <a:r>
              <a:rPr lang="en-US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Displays best-performing categories based on revenue.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Fulfilment by Total Sales</a:t>
            </a:r>
            <a:r>
              <a:rPr lang="en-US" sz="1600" dirty="0">
                <a:solidFill>
                  <a:schemeClr val="accent4"/>
                </a:solidFill>
                <a:latin typeface="Bookman Old Style" panose="02050604050505020204" pitchFamily="18" charset="0"/>
              </a:rPr>
              <a:t> → </a:t>
            </a:r>
            <a:r>
              <a:rPr lang="en-US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Compares Amazon (FBA) vs Merchant (FBM) contribution.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State Wise Total Sales</a:t>
            </a:r>
            <a:r>
              <a:rPr lang="en-US" sz="1600" dirty="0">
                <a:solidFill>
                  <a:schemeClr val="accent4"/>
                </a:solidFill>
                <a:latin typeface="Bookman Old Style" panose="02050604050505020204" pitchFamily="18" charset="0"/>
              </a:rPr>
              <a:t> → </a:t>
            </a:r>
            <a:r>
              <a:rPr lang="en-US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Geographical map showing regional sales performance.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Promotion Type by Total Sales</a:t>
            </a:r>
            <a:r>
              <a:rPr lang="en-US" sz="1600" dirty="0">
                <a:solidFill>
                  <a:schemeClr val="accent4"/>
                </a:solidFill>
                <a:latin typeface="Bookman Old Style" panose="02050604050505020204" pitchFamily="18" charset="0"/>
              </a:rPr>
              <a:t> → </a:t>
            </a:r>
            <a:r>
              <a:rPr lang="en-US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Shows how promotions impact total revenue.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bg1"/>
              </a:solidFill>
              <a:latin typeface="Bookman Old Style" panose="02050604050505020204" pitchFamily="18" charset="0"/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Monthly Sales Trend</a:t>
            </a:r>
            <a:r>
              <a:rPr lang="en-US" sz="1600" dirty="0">
                <a:solidFill>
                  <a:schemeClr val="accent4"/>
                </a:solidFill>
                <a:latin typeface="Bookman Old Style" panose="02050604050505020204" pitchFamily="18" charset="0"/>
              </a:rPr>
              <a:t> → </a:t>
            </a:r>
            <a:r>
              <a:rPr lang="en-US" sz="1600" dirty="0">
                <a:solidFill>
                  <a:schemeClr val="bg1"/>
                </a:solidFill>
                <a:latin typeface="Bookman Old Style" panose="02050604050505020204" pitchFamily="18" charset="0"/>
              </a:rPr>
              <a:t>Tracks month-wise sales growth and seasonality.</a:t>
            </a:r>
          </a:p>
        </p:txBody>
      </p:sp>
    </p:spTree>
    <p:extLst>
      <p:ext uri="{BB962C8B-B14F-4D97-AF65-F5344CB8AC3E}">
        <p14:creationId xmlns:p14="http://schemas.microsoft.com/office/powerpoint/2010/main" val="1837159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178A5-3354-C6C9-19A9-E2F6A86E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FD868-0538-E569-19D9-44E4F6369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A25742-140E-123B-42B7-86E4E4C789F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55" y="145648"/>
            <a:ext cx="11852290" cy="65504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50C573-020C-451A-E056-A3F60FAFFE1F}"/>
              </a:ext>
            </a:extLst>
          </p:cNvPr>
          <p:cNvSpPr txBox="1"/>
          <p:nvPr/>
        </p:nvSpPr>
        <p:spPr>
          <a:xfrm>
            <a:off x="528637" y="627787"/>
            <a:ext cx="111347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4"/>
                </a:solidFill>
                <a:latin typeface="Bookman Old Style" panose="02050604050505020204" pitchFamily="18" charset="0"/>
              </a:rPr>
              <a:t>Product:</a:t>
            </a:r>
            <a:b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The Product Page provides a detailed view of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product-level performance and demand trends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.</a:t>
            </a:r>
            <a:b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It helps stakeholders identify top-selling categories, SKUs, and sizes — enabling smarter decisions in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inventory planning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,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marketing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, and </a:t>
            </a:r>
            <a:r>
              <a:rPr lang="en-US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sales strategy</a:t>
            </a:r>
            <a:r>
              <a:rPr lang="en-US" sz="2000" dirty="0">
                <a:solidFill>
                  <a:schemeClr val="bg1"/>
                </a:solidFill>
                <a:latin typeface="Bookman Old Style" panose="02050604050505020204" pitchFamily="18" charset="0"/>
              </a:rPr>
              <a:t>.</a:t>
            </a:r>
            <a:endParaRPr lang="en-IN" sz="2000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F963D1-4CC3-DF1E-C29C-8C0C26C7C99A}"/>
              </a:ext>
            </a:extLst>
          </p:cNvPr>
          <p:cNvSpPr txBox="1"/>
          <p:nvPr/>
        </p:nvSpPr>
        <p:spPr>
          <a:xfrm>
            <a:off x="942975" y="2379192"/>
            <a:ext cx="5724525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b="1">
                <a:solidFill>
                  <a:schemeClr val="accent4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Key Visuals: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600" dirty="0"/>
              <a:t>Top 3 SKU by Total Sales → </a:t>
            </a:r>
            <a:r>
              <a:rPr lang="en-US" sz="1600" dirty="0">
                <a:solidFill>
                  <a:schemeClr val="bg1"/>
                </a:solidFill>
              </a:rPr>
              <a:t>Displays SKUs generating the highest revenue.</a:t>
            </a:r>
          </a:p>
          <a:p>
            <a:pPr>
              <a:buClr>
                <a:schemeClr val="accent4"/>
              </a:buClr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600" dirty="0"/>
              <a:t>Top 3 SKU by Total Quantity → </a:t>
            </a:r>
            <a:r>
              <a:rPr lang="en-US" sz="1600" dirty="0">
                <a:solidFill>
                  <a:schemeClr val="bg1"/>
                </a:solidFill>
              </a:rPr>
              <a:t>Highlights most sold SKUs by volume.</a:t>
            </a:r>
          </a:p>
          <a:p>
            <a:pPr>
              <a:buClr>
                <a:schemeClr val="accent4"/>
              </a:buClr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600" dirty="0"/>
              <a:t>Total Sales by Size → </a:t>
            </a:r>
            <a:r>
              <a:rPr lang="en-US" sz="1600" dirty="0">
                <a:solidFill>
                  <a:schemeClr val="bg1"/>
                </a:solidFill>
              </a:rPr>
              <a:t>Shows which size variants contribute most to total sales.</a:t>
            </a:r>
          </a:p>
          <a:p>
            <a:pPr>
              <a:buClr>
                <a:schemeClr val="accent4"/>
              </a:buClr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600" dirty="0"/>
              <a:t>Quantity by Month &amp; Category → </a:t>
            </a:r>
            <a:r>
              <a:rPr lang="en-US" sz="1600" dirty="0">
                <a:solidFill>
                  <a:schemeClr val="bg1"/>
                </a:solidFill>
              </a:rPr>
              <a:t>Tracks monthly demand fluctuations across categories.</a:t>
            </a:r>
          </a:p>
          <a:p>
            <a:pPr>
              <a:buClr>
                <a:schemeClr val="accent4"/>
              </a:buClr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600" dirty="0"/>
              <a:t>Total Sales by Category → </a:t>
            </a:r>
            <a:r>
              <a:rPr lang="en-US" sz="1600" dirty="0">
                <a:solidFill>
                  <a:schemeClr val="bg1"/>
                </a:solidFill>
              </a:rPr>
              <a:t>Compares category-wise revenue performance to find top contributors.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018B0D-DEE1-0BBB-3531-1D916A9DD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107" y="2951802"/>
            <a:ext cx="5151431" cy="29174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30331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FC0AB-144D-BA5A-E91C-897BCC1E1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8942E7-F9D5-E172-6FDA-B98CD4E60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959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4FF13-A281-2D32-6962-A7D066308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61AB8-4F67-AA2F-E9A2-FDAA0EA80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F10DCE-971B-BC1C-1DA8-B04641021FC1}"/>
              </a:ext>
            </a:extLst>
          </p:cNvPr>
          <p:cNvSpPr txBox="1"/>
          <p:nvPr/>
        </p:nvSpPr>
        <p:spPr>
          <a:xfrm>
            <a:off x="5286447" y="2459504"/>
            <a:ext cx="66190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  <a:latin typeface="Bookman Old Style" panose="02050604050505020204" pitchFamily="18" charset="0"/>
              </a:rPr>
              <a:t>Key Insights &amp; Findings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E9FC07DD-8E27-EBC5-2BC3-8F66E97BD75B}"/>
              </a:ext>
            </a:extLst>
          </p:cNvPr>
          <p:cNvSpPr/>
          <p:nvPr/>
        </p:nvSpPr>
        <p:spPr>
          <a:xfrm>
            <a:off x="7777996" y="1224792"/>
            <a:ext cx="1080000" cy="1080000"/>
          </a:xfrm>
          <a:prstGeom prst="flowChartConnector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accent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803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76B65-3565-5843-5FAA-4DD0549C0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12D6E3-20BE-3532-99A4-F76EBD889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02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880B8-3D42-B523-C0F5-E4DA1A561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0E622A-1412-CB91-236F-6FB894189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4C2F60-C38A-EAD9-54CA-BA822FEE44BA}"/>
              </a:ext>
            </a:extLst>
          </p:cNvPr>
          <p:cNvSpPr txBox="1"/>
          <p:nvPr/>
        </p:nvSpPr>
        <p:spPr>
          <a:xfrm>
            <a:off x="5286447" y="2459504"/>
            <a:ext cx="66190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Tools &amp; Technologies Used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B9EB6B21-BE5D-EC3D-495B-4124D5D990EF}"/>
              </a:ext>
            </a:extLst>
          </p:cNvPr>
          <p:cNvSpPr/>
          <p:nvPr/>
        </p:nvSpPr>
        <p:spPr>
          <a:xfrm>
            <a:off x="7777996" y="1224792"/>
            <a:ext cx="1080000" cy="1080000"/>
          </a:xfrm>
          <a:prstGeom prst="flowChartConnector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accent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6187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47483-F312-7C73-57AC-33D66AF63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5BC302-F552-280C-CF6F-AD15936F3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03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2832F-9831-FF55-3DF3-03FE8C47B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8C83E-899D-D2B2-471C-F2FBB5B65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96ECE1-23B7-1A01-C8D2-720A02607E22}"/>
              </a:ext>
            </a:extLst>
          </p:cNvPr>
          <p:cNvSpPr txBox="1"/>
          <p:nvPr/>
        </p:nvSpPr>
        <p:spPr>
          <a:xfrm>
            <a:off x="6096000" y="2921168"/>
            <a:ext cx="45067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Future Scope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24AB9B5-3243-711F-C3D7-D4F78D8CEB1C}"/>
              </a:ext>
            </a:extLst>
          </p:cNvPr>
          <p:cNvSpPr/>
          <p:nvPr/>
        </p:nvSpPr>
        <p:spPr>
          <a:xfrm>
            <a:off x="7809388" y="1700280"/>
            <a:ext cx="1080000" cy="1080000"/>
          </a:xfrm>
          <a:prstGeom prst="flowChartConnector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accent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7435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DDD13-7266-6749-65BD-F83E56713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2BBC62-B2A2-5678-45FC-B05CF3052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244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D073-6E6F-257F-B9D4-98DB583D1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523D1-D0A1-BCEB-63DE-7E4A361DE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C89C10-75BE-938B-5DA9-AD026AB79BBC}"/>
              </a:ext>
            </a:extLst>
          </p:cNvPr>
          <p:cNvSpPr txBox="1"/>
          <p:nvPr/>
        </p:nvSpPr>
        <p:spPr>
          <a:xfrm>
            <a:off x="6532221" y="2921168"/>
            <a:ext cx="35715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30119855-C3F2-140A-F86D-A3B12B8B0E08}"/>
              </a:ext>
            </a:extLst>
          </p:cNvPr>
          <p:cNvSpPr/>
          <p:nvPr/>
        </p:nvSpPr>
        <p:spPr>
          <a:xfrm>
            <a:off x="7777995" y="1736856"/>
            <a:ext cx="1080000" cy="1080000"/>
          </a:xfrm>
          <a:prstGeom prst="flowChartConnector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>
                <a:solidFill>
                  <a:schemeClr val="accent4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ookman Old Style" panose="02050604050505020204" pitchFamily="18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2779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E4991-7D9B-1741-4130-A4297AD80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7F428B-3A37-7553-AE95-536C07725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94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8008-297D-7E91-057A-6AB959109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39F219-BEC2-A7AC-FBBF-72E0AC79A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37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1160</Words>
  <Application>Microsoft Office PowerPoint</Application>
  <PresentationFormat>Widescreen</PresentationFormat>
  <Paragraphs>127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Book Antiqua</vt:lpstr>
      <vt:lpstr>Bookman Old Style</vt:lpstr>
      <vt:lpstr>Calibri</vt:lpstr>
      <vt:lpstr>Calibri Light</vt:lpstr>
      <vt:lpstr>Wingdings</vt:lpstr>
      <vt:lpstr>Office Theme</vt:lpstr>
      <vt:lpstr>Amazon Sales Dashboard – Power BI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Prafull Wahatule</dc:creator>
  <cp:lastModifiedBy>Prafull Wahatule</cp:lastModifiedBy>
  <cp:revision>116</cp:revision>
  <dcterms:created xsi:type="dcterms:W3CDTF">2025-11-08T08:24:55Z</dcterms:created>
  <dcterms:modified xsi:type="dcterms:W3CDTF">2025-11-09T12:37:05Z</dcterms:modified>
</cp:coreProperties>
</file>