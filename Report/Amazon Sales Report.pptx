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62" r:id="rId5"/>
    <p:sldId id="258" r:id="rId6"/>
    <p:sldId id="260" r:id="rId7"/>
    <p:sldId id="261" r:id="rId8"/>
    <p:sldId id="263" r:id="rId9"/>
    <p:sldId id="265" r:id="rId10"/>
    <p:sldId id="266" r:id="rId11"/>
    <p:sldId id="268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EB5C"/>
    <a:srgbClr val="E2A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5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159D6-14B0-D2D1-DA38-4163A781A8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F47351-5DB0-D206-C0BB-ADC45AC499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4693F-ED5B-0DC7-365A-984670223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571237-E33A-6AD2-0E42-A5DCC4517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E51F75-1AF7-8D3F-034A-0251B4CAA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5505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88DBA-77C6-4E1A-111A-EEF0229D2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A1999-752A-6366-9DAF-83AEB27EA2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6977E4-A3D5-571C-8476-C2F3FCA60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156F02-BCE1-28E2-DCE9-17FCBA044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65A05-759B-02AF-6A58-9D3FC6436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073843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FDB6F-FBCE-5480-1B0D-2D873E998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40AC6B-BCE0-023B-981A-133766E5B4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AB08F-51CA-B3CC-B7FC-31B955B4F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65413A-C881-F6AE-DD17-85902A918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43EFC6-3A3A-FF13-1E46-9C8FBB23B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72398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91919-4DA1-316D-A72C-6795CC307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5E266E-9AC9-BB4A-2AAF-C1AE70CB40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F5CE52-4927-43BE-ABED-230DF95296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2F45B4-C666-74C7-8F93-B0181DF785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1E8727-0A40-A557-D788-7B4DB12C7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67B88D-0486-58EF-B93A-F25A4C578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65845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C579E-A172-F04F-0856-6D6926C3D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93CD8B-DFD2-70BB-89F6-6F6ABD5F27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479B10-76A2-EFF6-5B09-DFF41BA0E1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0FBF68-23E6-C4F9-9885-2505813A7C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E027CD-299A-D7C1-640B-FC28870E3D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31872C-DEFF-6EAE-E971-F0C0E1BC7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16E4334-AA10-AFBF-F597-E5707CDA3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4520A6-326B-2266-0985-54EFFBDF9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61812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8D031-ECDF-1B16-25A7-832532805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789146-56F5-81E3-17CC-0206824166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2C4CB9-61BB-A63D-7997-975CB2FFA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850046-068E-4859-66E0-A60DC22E9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28857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97CD8D6-B147-E63E-D347-C4727578A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711A88-ACBC-9117-69DF-EBF670F3A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22728C-1E71-814B-9575-BA487B431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0820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4341A-886E-E9BC-2C48-885CA562B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052CD-315D-1342-77B8-D4BB5EE696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E3333F-6BBB-1F91-3A2A-597934D76A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33E985-138A-90D1-2291-561203B30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2158A5-C999-185A-A530-1803EB3D6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7447C4-1140-E4CC-D035-1EA816E8B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4101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608EE-5C4F-1164-603D-04C99566F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F4A645-1923-99A1-59CF-BA2B3F041D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495B0E-2E9B-876C-E268-62FD088C06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68BDC9-979F-9E81-8C39-CA16891F2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E2C59C-3B2B-3532-BEE0-DAB1C1537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751753-E947-0BAC-AF85-D43052AAD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38105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A4550-6905-9CE9-B036-A1E1E9D67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378B56-50FA-A50B-AE4B-3EBFB22960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47CC30-4CC5-481E-AE50-AC41EE8C7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D09B4-F16F-AA99-D4F9-C4EB422A2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ABA5F8-F946-396D-C3CA-A7FC92B07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4169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6057A3D-0705-C4C2-57B6-82244938A3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80A7DE-6297-9ACB-A12E-4367021F71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F7BAB2-1B8F-07FC-8D18-217217294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CAA0A9-0067-A13F-64D7-CDC0174DA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A544BF-C2B4-3793-A006-C2CE8AA30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05513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700634-B760-C95F-B92E-32F6A59C90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BAFFAF-D876-2245-653C-F94EF5F502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74B676-5690-746A-772F-4C615F048B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4EA67C-8436-957E-1DCE-3F9BF0A8E4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6487E6-D9C3-718A-0C5C-CFB56B0629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165612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A62D256-577F-FEE6-CCBD-29B936F004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D57F16F-6701-B4FD-B78E-40EED37493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457200"/>
            <a:ext cx="9144000" cy="150876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4"/>
                </a:solidFill>
                <a:latin typeface="Bookman Old Style" panose="02050604050505020204" pitchFamily="18" charset="0"/>
              </a:rPr>
              <a:t>Amazon Sales Dashboard </a:t>
            </a: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– </a:t>
            </a:r>
            <a:r>
              <a:rPr lang="en-US" sz="3600" dirty="0">
                <a:solidFill>
                  <a:schemeClr val="bg1"/>
                </a:solidFill>
                <a:latin typeface="Bookman Old Style" panose="02050604050505020204" pitchFamily="18" charset="0"/>
              </a:rPr>
              <a:t>Power BI Project</a:t>
            </a:r>
            <a:endParaRPr lang="en-IN" sz="3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anose="020506040505050202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B41088-18BE-5D3C-1B7A-ED3D05CCDA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095232" y="6574536"/>
            <a:ext cx="3096768" cy="283464"/>
          </a:xfrm>
        </p:spPr>
        <p:txBody>
          <a:bodyPr>
            <a:normAutofit fontScale="85000" lnSpcReduction="10000"/>
          </a:bodyPr>
          <a:lstStyle/>
          <a:p>
            <a:pPr algn="r"/>
            <a:r>
              <a:rPr lang="en-IN" sz="1800" dirty="0">
                <a:solidFill>
                  <a:schemeClr val="bg1"/>
                </a:solidFill>
                <a:latin typeface="Bookman Old Style" panose="02050604050505020204" pitchFamily="18" charset="0"/>
              </a:rPr>
              <a:t>Guided By: Abhishek </a:t>
            </a:r>
            <a:r>
              <a:rPr lang="en-IN" sz="1800" dirty="0" err="1">
                <a:solidFill>
                  <a:schemeClr val="bg1"/>
                </a:solidFill>
                <a:latin typeface="Bookman Old Style" panose="02050604050505020204" pitchFamily="18" charset="0"/>
              </a:rPr>
              <a:t>Wahaval</a:t>
            </a:r>
            <a:endParaRPr lang="en-IN" sz="18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8706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B86986A-FBEE-87DB-FF12-E5EF9541EA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EE76205-8F05-395F-A74B-C70F58E444C7}"/>
              </a:ext>
            </a:extLst>
          </p:cNvPr>
          <p:cNvSpPr txBox="1"/>
          <p:nvPr/>
        </p:nvSpPr>
        <p:spPr>
          <a:xfrm>
            <a:off x="3706749" y="118872"/>
            <a:ext cx="477850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chemeClr val="bg1"/>
                </a:solidFill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dirty="0">
                <a:solidFill>
                  <a:schemeClr val="accent4"/>
                </a:solidFill>
                <a:latin typeface="Book Antiqua" panose="02040602050305030304" pitchFamily="18" charset="0"/>
              </a:rPr>
              <a:t>Introduction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77F230-8C14-89D3-748C-E57B9B8E29AF}"/>
              </a:ext>
            </a:extLst>
          </p:cNvPr>
          <p:cNvSpPr txBox="1"/>
          <p:nvPr/>
        </p:nvSpPr>
        <p:spPr>
          <a:xfrm>
            <a:off x="1879854" y="2252311"/>
            <a:ext cx="8432292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The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Amazon Sales Dashboard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 is an interactive Power BI project designed to analyze and visualize e-commerce sales data.</a:t>
            </a:r>
            <a:b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It helps businesses monitor key metrics like sales, orders, quantity, fulfilment, and promotions — all in one place.</a:t>
            </a:r>
            <a:b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With real-time insights, this dashboard supports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data-driven decision-making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, improves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operational efficiency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, and helps identify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growth opportunities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 across regions and product categories.</a:t>
            </a:r>
            <a:endParaRPr lang="en-IN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4878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857D8-5D8A-F39E-D08D-8EB371913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B15D1B98-6665-88EA-65E7-B95FDA43C9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B0CE583-AD27-1D54-5948-52801811B9B7}"/>
              </a:ext>
            </a:extLst>
          </p:cNvPr>
          <p:cNvSpPr txBox="1"/>
          <p:nvPr/>
        </p:nvSpPr>
        <p:spPr>
          <a:xfrm>
            <a:off x="4149089" y="137160"/>
            <a:ext cx="389382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chemeClr val="bg1"/>
                </a:solidFill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dirty="0">
                <a:solidFill>
                  <a:schemeClr val="accent4"/>
                </a:solidFill>
                <a:latin typeface="Book Antiqua" panose="02040602050305030304" pitchFamily="18" charset="0"/>
              </a:rPr>
              <a:t>Overview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4C8BF2-63BA-8C06-2A0B-499CFBB6BE04}"/>
              </a:ext>
            </a:extLst>
          </p:cNvPr>
          <p:cNvSpPr txBox="1"/>
          <p:nvPr/>
        </p:nvSpPr>
        <p:spPr>
          <a:xfrm>
            <a:off x="722376" y="2350008"/>
            <a:ext cx="1048816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This project presents an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interactive Power BI dashboard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built to analyze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Amazon sales performance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across multiple dimensions such as product, region, fulfilment, and promotions.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It provides a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centralized view of business metrics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, enabling quick insights into revenue trends, top-performing categories, and operational efficiency.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The dashboard helps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stakeholders make data-driven decisions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through real-time filtering, dynamic visuals, and forecasting analytics.</a:t>
            </a:r>
            <a:endParaRPr lang="en-IN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6454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C0CC2D1-926C-CBA7-65EC-C86CDCFD33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E61EBFC-D4B2-8F05-684E-66DE68B82C43}"/>
              </a:ext>
            </a:extLst>
          </p:cNvPr>
          <p:cNvSpPr txBox="1"/>
          <p:nvPr/>
        </p:nvSpPr>
        <p:spPr>
          <a:xfrm>
            <a:off x="2209800" y="155448"/>
            <a:ext cx="777239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chemeClr val="bg1"/>
                </a:solidFill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dirty="0">
                <a:solidFill>
                  <a:schemeClr val="accent4"/>
                </a:solidFill>
                <a:latin typeface="Book Antiqua" panose="02040602050305030304" pitchFamily="18" charset="0"/>
              </a:rPr>
              <a:t>Problem Statement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616C76-CEBF-5A5C-74AD-2AF7AC921D05}"/>
              </a:ext>
            </a:extLst>
          </p:cNvPr>
          <p:cNvSpPr txBox="1"/>
          <p:nvPr/>
        </p:nvSpPr>
        <p:spPr>
          <a:xfrm>
            <a:off x="1846325" y="2249888"/>
            <a:ext cx="8135874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Businesses often struggle to track and analyze large amounts of sales data across multiple parameters such as products, regions, fulfilment types, and promotions.</a:t>
            </a:r>
            <a:b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Manual reporting methods are slow and prone to errors, making it difficult to gain timely insights.</a:t>
            </a:r>
            <a:b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Due to the lack of an interactive and centralized dashboard, decision-makers face challenges in identifying trends, monitoring KPIs, and making accurate data-driven decisions.</a:t>
            </a:r>
            <a:endParaRPr lang="en-IN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83290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409165B-81E1-AF53-35CE-F1467128FC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3BDF596-8189-6BB0-CF7A-05546A79FBA7}"/>
              </a:ext>
            </a:extLst>
          </p:cNvPr>
          <p:cNvSpPr txBox="1"/>
          <p:nvPr/>
        </p:nvSpPr>
        <p:spPr>
          <a:xfrm>
            <a:off x="4149089" y="140187"/>
            <a:ext cx="389382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chemeClr val="bg1"/>
                </a:solidFill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dirty="0">
                <a:solidFill>
                  <a:schemeClr val="accent4"/>
                </a:solidFill>
                <a:latin typeface="Book Antiqua" panose="02040602050305030304" pitchFamily="18" charset="0"/>
              </a:rPr>
              <a:t>Objective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C5655D1-F7B0-7941-9929-135E8F632F75}"/>
              </a:ext>
            </a:extLst>
          </p:cNvPr>
          <p:cNvGrpSpPr/>
          <p:nvPr/>
        </p:nvGrpSpPr>
        <p:grpSpPr>
          <a:xfrm>
            <a:off x="1714118" y="2406054"/>
            <a:ext cx="8763762" cy="3374674"/>
            <a:chOff x="1657350" y="2314614"/>
            <a:chExt cx="8763762" cy="337467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17AB53-626F-6485-DAD7-A4ACB1CBF20E}"/>
                </a:ext>
              </a:extLst>
            </p:cNvPr>
            <p:cNvSpPr txBox="1"/>
            <p:nvPr/>
          </p:nvSpPr>
          <p:spPr>
            <a:xfrm>
              <a:off x="1657350" y="2314614"/>
              <a:ext cx="3792474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Analyze Amazon sales data</a:t>
              </a:r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across products, regions, fulfilment, and promotions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7400DAE-8B4C-A83A-3D5C-DBF6FD29769A}"/>
                </a:ext>
              </a:extLst>
            </p:cNvPr>
            <p:cNvSpPr txBox="1"/>
            <p:nvPr/>
          </p:nvSpPr>
          <p:spPr>
            <a:xfrm>
              <a:off x="6628638" y="2314614"/>
              <a:ext cx="3792474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</a:rPr>
                <a:t>Analyze Amazon sales data</a:t>
              </a:r>
              <a:r>
                <a:rPr lang="en-US" sz="2000" dirty="0">
                  <a:solidFill>
                    <a:schemeClr val="bg1"/>
                  </a:solidFill>
                </a:rPr>
                <a:t> across products, regions, fulfilment, and promotions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762F4E8-F958-4185-289C-2FA1168D55DC}"/>
                </a:ext>
              </a:extLst>
            </p:cNvPr>
            <p:cNvSpPr txBox="1"/>
            <p:nvPr/>
          </p:nvSpPr>
          <p:spPr>
            <a:xfrm>
              <a:off x="1657350" y="3648008"/>
              <a:ext cx="3792474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</a:rPr>
                <a:t>Track key KPIs</a:t>
              </a:r>
              <a:r>
                <a:rPr lang="en-US" sz="2000" dirty="0">
                  <a:solidFill>
                    <a:schemeClr val="bg1"/>
                  </a:solidFill>
                </a:rPr>
                <a:t> like Total Sales, Orders, Quantity Sold, and AOV.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96F758-BD79-FDE4-C3D2-AEC846746A93}"/>
                </a:ext>
              </a:extLst>
            </p:cNvPr>
            <p:cNvSpPr txBox="1"/>
            <p:nvPr/>
          </p:nvSpPr>
          <p:spPr>
            <a:xfrm>
              <a:off x="6628638" y="4673625"/>
              <a:ext cx="3792474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</a:rPr>
                <a:t>Identify top-performing products &amp; regions</a:t>
              </a:r>
              <a:r>
                <a:rPr lang="en-US" sz="2000" dirty="0">
                  <a:solidFill>
                    <a:schemeClr val="bg1"/>
                  </a:solidFill>
                </a:rPr>
                <a:t> for better business planning.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0459573-9842-614A-1B47-65FE85BF7256}"/>
                </a:ext>
              </a:extLst>
            </p:cNvPr>
            <p:cNvSpPr txBox="1"/>
            <p:nvPr/>
          </p:nvSpPr>
          <p:spPr>
            <a:xfrm>
              <a:off x="1657350" y="4673625"/>
              <a:ext cx="3792474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</a:rPr>
                <a:t>Evaluate fulfilment &amp; promotions</a:t>
              </a:r>
              <a:r>
                <a:rPr lang="en-US" sz="2000" dirty="0">
                  <a:solidFill>
                    <a:schemeClr val="bg1"/>
                  </a:solidFill>
                </a:rPr>
                <a:t> to measure operational efficiency.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6126485-444F-9EB0-9BBB-B2ADD2506B7F}"/>
                </a:ext>
              </a:extLst>
            </p:cNvPr>
            <p:cNvSpPr txBox="1"/>
            <p:nvPr/>
          </p:nvSpPr>
          <p:spPr>
            <a:xfrm>
              <a:off x="6628638" y="3648008"/>
              <a:ext cx="3792474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</a:rPr>
                <a:t>Forecast future sales trends</a:t>
              </a:r>
              <a:r>
                <a:rPr lang="en-US" sz="2000" dirty="0">
                  <a:solidFill>
                    <a:schemeClr val="bg1"/>
                  </a:solidFill>
                </a:rPr>
                <a:t> for data-driven decision making.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267048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FD4DAF-BE0A-E43B-0B0C-07A75B68F9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6A4E4F-190F-F3FC-8516-6FA52CEDDDBB}"/>
              </a:ext>
            </a:extLst>
          </p:cNvPr>
          <p:cNvSpPr txBox="1"/>
          <p:nvPr/>
        </p:nvSpPr>
        <p:spPr>
          <a:xfrm>
            <a:off x="4149089" y="140187"/>
            <a:ext cx="389382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chemeClr val="bg1"/>
                </a:solidFill>
                <a:latin typeface="Bookman Old Style" panose="02050604050505020204" pitchFamily="18" charset="0"/>
              </a:rPr>
              <a:t>Project</a:t>
            </a:r>
          </a:p>
          <a:p>
            <a:pPr algn="ctr"/>
            <a:r>
              <a:rPr lang="en-IN" sz="60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Outcome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C111DBB-F4AF-4D24-B110-A0101C250F7A}"/>
              </a:ext>
            </a:extLst>
          </p:cNvPr>
          <p:cNvGrpSpPr/>
          <p:nvPr/>
        </p:nvGrpSpPr>
        <p:grpSpPr>
          <a:xfrm>
            <a:off x="1302638" y="2326067"/>
            <a:ext cx="9586722" cy="2894787"/>
            <a:chOff x="1533525" y="2079179"/>
            <a:chExt cx="9586722" cy="2894787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BF51A9-3173-FC7C-75BC-8A10B9D4BB1A}"/>
                </a:ext>
              </a:extLst>
            </p:cNvPr>
            <p:cNvSpPr txBox="1"/>
            <p:nvPr/>
          </p:nvSpPr>
          <p:spPr>
            <a:xfrm>
              <a:off x="1533525" y="2079180"/>
              <a:ext cx="4121658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Gained </a:t>
              </a:r>
              <a:r>
                <a:rPr lang="en-US" sz="20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clear visibility</a:t>
              </a:r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into overall Amazon sales performance across multiple dimensions.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78725D3-5426-8D7C-53D3-374C1C49F71A}"/>
                </a:ext>
              </a:extLst>
            </p:cNvPr>
            <p:cNvSpPr txBox="1"/>
            <p:nvPr/>
          </p:nvSpPr>
          <p:spPr>
            <a:xfrm>
              <a:off x="1533525" y="3650527"/>
              <a:ext cx="4121658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Improved </a:t>
              </a:r>
              <a:r>
                <a:rPr lang="en-US" sz="20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marketing and inventory strategies</a:t>
              </a:r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using promotional and category insights.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02977D3-C131-3DB8-8EFF-D760B5071197}"/>
                </a:ext>
              </a:extLst>
            </p:cNvPr>
            <p:cNvSpPr txBox="1"/>
            <p:nvPr/>
          </p:nvSpPr>
          <p:spPr>
            <a:xfrm>
              <a:off x="6998589" y="2079179"/>
              <a:ext cx="4121658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Identified </a:t>
              </a:r>
              <a:r>
                <a:rPr lang="en-US" sz="20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top-performing products, regions, and fulfilment types</a:t>
              </a:r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for better business planning.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C8D7BAD-326F-875E-1AF1-41FD155FEF09}"/>
                </a:ext>
              </a:extLst>
            </p:cNvPr>
            <p:cNvSpPr txBox="1"/>
            <p:nvPr/>
          </p:nvSpPr>
          <p:spPr>
            <a:xfrm>
              <a:off x="6998589" y="3650527"/>
              <a:ext cx="4121658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Delivered a </a:t>
              </a:r>
              <a:r>
                <a:rPr lang="en-US" sz="20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fully interactive Power BI dashboard</a:t>
              </a:r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for faster and smarter decision-making.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48624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466A6-672B-EA6E-8976-458EC5E35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4C17C16-9A53-4B89-9470-8C555EC1C5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C6A3CF1-BD11-356F-D360-056F93DC9C88}"/>
              </a:ext>
            </a:extLst>
          </p:cNvPr>
          <p:cNvSpPr txBox="1"/>
          <p:nvPr/>
        </p:nvSpPr>
        <p:spPr>
          <a:xfrm>
            <a:off x="4149089" y="140187"/>
            <a:ext cx="389382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chemeClr val="bg1"/>
                </a:solidFill>
                <a:latin typeface="Bookman Old Style" panose="02050604050505020204" pitchFamily="18" charset="0"/>
              </a:rPr>
              <a:t>Content</a:t>
            </a:r>
          </a:p>
          <a:p>
            <a:pPr algn="ctr"/>
            <a:r>
              <a:rPr lang="en-IN" sz="60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Table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8697BA6-D058-D1B0-4A07-60347AF34083}"/>
              </a:ext>
            </a:extLst>
          </p:cNvPr>
          <p:cNvGrpSpPr/>
          <p:nvPr/>
        </p:nvGrpSpPr>
        <p:grpSpPr>
          <a:xfrm>
            <a:off x="1702688" y="2207195"/>
            <a:ext cx="8786622" cy="3775449"/>
            <a:chOff x="1307591" y="2079179"/>
            <a:chExt cx="8786622" cy="3775449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B27D6A9-E03D-B90F-7AEE-BD64AD1E60DB}"/>
                </a:ext>
              </a:extLst>
            </p:cNvPr>
            <p:cNvGrpSpPr/>
            <p:nvPr/>
          </p:nvGrpSpPr>
          <p:grpSpPr>
            <a:xfrm>
              <a:off x="2097785" y="2079179"/>
              <a:ext cx="7996428" cy="3775449"/>
              <a:chOff x="1577340" y="2181955"/>
              <a:chExt cx="9027333" cy="3775449"/>
            </a:xfrm>
          </p:grpSpPr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737DEA2-BDD9-AC11-172A-07A054154BDE}"/>
                  </a:ext>
                </a:extLst>
              </p:cNvPr>
              <p:cNvSpPr txBox="1"/>
              <p:nvPr/>
            </p:nvSpPr>
            <p:spPr>
              <a:xfrm>
                <a:off x="1577340" y="2183686"/>
                <a:ext cx="2715768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2400" dirty="0">
                    <a:solidFill>
                      <a:schemeClr val="bg1"/>
                    </a:solidFill>
                    <a:latin typeface="Bookman Old Style" panose="02050604050505020204" pitchFamily="18" charset="0"/>
                  </a:rPr>
                  <a:t>Data Source &amp; Description</a:t>
                </a:r>
              </a:p>
            </p:txBody>
          </p:sp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20BDB78-464A-21D0-6257-CE317B571ABE}"/>
                  </a:ext>
                </a:extLst>
              </p:cNvPr>
              <p:cNvSpPr txBox="1"/>
              <p:nvPr/>
            </p:nvSpPr>
            <p:spPr>
              <a:xfrm>
                <a:off x="1577340" y="4402248"/>
                <a:ext cx="251460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2400" dirty="0">
                    <a:solidFill>
                      <a:schemeClr val="bg1"/>
                    </a:solidFill>
                    <a:latin typeface="Bookman Old Style" panose="02050604050505020204" pitchFamily="18" charset="0"/>
                  </a:rPr>
                  <a:t>Key Insights &amp; Findings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71DD1AA-C8CA-6090-C0B2-A43397EFFA98}"/>
                  </a:ext>
                </a:extLst>
              </p:cNvPr>
              <p:cNvSpPr txBox="1"/>
              <p:nvPr/>
            </p:nvSpPr>
            <p:spPr>
              <a:xfrm>
                <a:off x="6690360" y="3307027"/>
                <a:ext cx="3914313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dirty="0"/>
                  <a:t>Dashboard Design &amp; Visualization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6C77E13-B460-465C-AB06-9A79A590C518}"/>
                  </a:ext>
                </a:extLst>
              </p:cNvPr>
              <p:cNvSpPr txBox="1"/>
              <p:nvPr/>
            </p:nvSpPr>
            <p:spPr>
              <a:xfrm>
                <a:off x="6690360" y="2181955"/>
                <a:ext cx="355092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dirty="0"/>
                  <a:t>Exploratory Data Analysis (EDA)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0037660-0769-F723-553E-E084539B4D6B}"/>
                  </a:ext>
                </a:extLst>
              </p:cNvPr>
              <p:cNvSpPr txBox="1"/>
              <p:nvPr/>
            </p:nvSpPr>
            <p:spPr>
              <a:xfrm>
                <a:off x="1577340" y="3308758"/>
                <a:ext cx="3289132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dirty="0"/>
                  <a:t>Data Cleaning &amp; Transformation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93EED0B-172D-0B52-11FA-671738C19475}"/>
                  </a:ext>
                </a:extLst>
              </p:cNvPr>
              <p:cNvSpPr txBox="1"/>
              <p:nvPr/>
            </p:nvSpPr>
            <p:spPr>
              <a:xfrm>
                <a:off x="6690360" y="4401383"/>
                <a:ext cx="355092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dirty="0"/>
                  <a:t>Tools &amp; Technologies Used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8D6B1B7-2601-9E4F-0C43-FBB88CD76FDA}"/>
                  </a:ext>
                </a:extLst>
              </p:cNvPr>
              <p:cNvSpPr txBox="1"/>
              <p:nvPr/>
            </p:nvSpPr>
            <p:spPr>
              <a:xfrm>
                <a:off x="1577340" y="5495739"/>
                <a:ext cx="25146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dirty="0"/>
                  <a:t>Future Scope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493B2B9-BED8-DC61-A72F-B53B8B2A5E7C}"/>
                  </a:ext>
                </a:extLst>
              </p:cNvPr>
              <p:cNvSpPr txBox="1"/>
              <p:nvPr/>
            </p:nvSpPr>
            <p:spPr>
              <a:xfrm>
                <a:off x="6690360" y="5495739"/>
                <a:ext cx="25146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dirty="0"/>
                  <a:t>Conclusion</a:t>
                </a:r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4F15FAF-3F37-9305-6AB8-7A9CE2E02C94}"/>
                </a:ext>
              </a:extLst>
            </p:cNvPr>
            <p:cNvSpPr txBox="1"/>
            <p:nvPr/>
          </p:nvSpPr>
          <p:spPr>
            <a:xfrm>
              <a:off x="1307592" y="2171511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01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C020218-BE27-2699-0E7D-569866C3D149}"/>
                </a:ext>
              </a:extLst>
            </p:cNvPr>
            <p:cNvSpPr txBox="1"/>
            <p:nvPr/>
          </p:nvSpPr>
          <p:spPr>
            <a:xfrm>
              <a:off x="1307591" y="3296100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03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5C7745D-F54C-D471-9592-8A01921BECE5}"/>
                </a:ext>
              </a:extLst>
            </p:cNvPr>
            <p:cNvSpPr txBox="1"/>
            <p:nvPr/>
          </p:nvSpPr>
          <p:spPr>
            <a:xfrm>
              <a:off x="1307591" y="5300628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07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032CDF5-25D8-9EDA-3277-00CA94DC2BB5}"/>
                </a:ext>
              </a:extLst>
            </p:cNvPr>
            <p:cNvSpPr txBox="1"/>
            <p:nvPr/>
          </p:nvSpPr>
          <p:spPr>
            <a:xfrm>
              <a:off x="1307591" y="4389591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05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9F74634-2905-CC99-8914-A4EEF44EC1F8}"/>
                </a:ext>
              </a:extLst>
            </p:cNvPr>
            <p:cNvSpPr txBox="1"/>
            <p:nvPr/>
          </p:nvSpPr>
          <p:spPr>
            <a:xfrm>
              <a:off x="5827015" y="5300629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08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4E32ADA-8EBD-597A-CF29-D95671C5F7B1}"/>
                </a:ext>
              </a:extLst>
            </p:cNvPr>
            <p:cNvSpPr txBox="1"/>
            <p:nvPr/>
          </p:nvSpPr>
          <p:spPr>
            <a:xfrm>
              <a:off x="5827015" y="4389591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06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D37565D-4DBD-EAB1-7170-F922331F0E83}"/>
                </a:ext>
              </a:extLst>
            </p:cNvPr>
            <p:cNvSpPr txBox="1"/>
            <p:nvPr/>
          </p:nvSpPr>
          <p:spPr>
            <a:xfrm>
              <a:off x="5827015" y="3301494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04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D9F7B88-4A97-95C5-0E56-022FE9A55B6D}"/>
                </a:ext>
              </a:extLst>
            </p:cNvPr>
            <p:cNvSpPr txBox="1"/>
            <p:nvPr/>
          </p:nvSpPr>
          <p:spPr>
            <a:xfrm>
              <a:off x="5827015" y="2166218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348238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B3B53-7689-A7EA-122C-A0DB73F32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02E4952-92A7-9E95-5723-BDA774D5B7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D4EA929-C825-AF7E-8E0B-723DC4A18666}"/>
              </a:ext>
            </a:extLst>
          </p:cNvPr>
          <p:cNvSpPr txBox="1"/>
          <p:nvPr/>
        </p:nvSpPr>
        <p:spPr>
          <a:xfrm>
            <a:off x="6096000" y="2459504"/>
            <a:ext cx="591616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dirty="0">
                <a:solidFill>
                  <a:schemeClr val="bg1"/>
                </a:solidFill>
                <a:latin typeface="Bookman Old Style" panose="02050604050505020204" pitchFamily="18" charset="0"/>
              </a:rPr>
              <a:t>Data Source &amp; Description</a:t>
            </a:r>
          </a:p>
        </p:txBody>
      </p:sp>
      <p:sp>
        <p:nvSpPr>
          <p:cNvPr id="7" name="Flowchart: Connector 6">
            <a:extLst>
              <a:ext uri="{FF2B5EF4-FFF2-40B4-BE49-F238E27FC236}">
                <a16:creationId xmlns:a16="http://schemas.microsoft.com/office/drawing/2014/main" id="{FF533B4D-1568-EAC4-69A6-8967656B06F7}"/>
              </a:ext>
            </a:extLst>
          </p:cNvPr>
          <p:cNvSpPr/>
          <p:nvPr/>
        </p:nvSpPr>
        <p:spPr>
          <a:xfrm>
            <a:off x="8207764" y="1280401"/>
            <a:ext cx="1080000" cy="1080000"/>
          </a:xfrm>
          <a:prstGeom prst="flowChartConnector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man Old Style" panose="02050604050505020204" pitchFamily="18" charset="0"/>
              </a:rPr>
              <a:t>01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631A25B-DFD9-A54C-1FC6-A1F7466FB5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837" y="934146"/>
            <a:ext cx="4989708" cy="4989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24976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E7AAC-F85C-ED65-57FA-40E2D1F93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E6D5147-C421-F000-8FDB-B0714E8805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BAE44CD-3726-E2AB-8AB1-CE57A691D8B9}"/>
              </a:ext>
            </a:extLst>
          </p:cNvPr>
          <p:cNvSpPr txBox="1"/>
          <p:nvPr/>
        </p:nvSpPr>
        <p:spPr>
          <a:xfrm>
            <a:off x="469392" y="920620"/>
            <a:ext cx="5626608" cy="501675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The dataset used for this project is a Retail Sales (Amazon Orders) dataset.</a:t>
            </a:r>
          </a:p>
          <a:p>
            <a:pPr>
              <a:buClr>
                <a:srgbClr val="00B050"/>
              </a:buClr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It contains detailed information about customer orders, products, fulfilment types, cities, quantities, prices, and delivery status.</a:t>
            </a:r>
          </a:p>
          <a:p>
            <a:pPr>
              <a:buClr>
                <a:srgbClr val="00B050"/>
              </a:buClr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The data was provided in CSV/Excel format and imported directly into Power BI Desktop.</a:t>
            </a:r>
          </a:p>
          <a:p>
            <a:pPr>
              <a:buClr>
                <a:srgbClr val="00B050"/>
              </a:buClr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Each record represents a single order item with attributes like Order ID, Date, Category, Size, Qty, Total Amount, City, and Status.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07A0F9-5A69-3E14-BAED-A57C9907F8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52" r="26147"/>
          <a:stretch>
            <a:fillRect/>
          </a:stretch>
        </p:blipFill>
        <p:spPr>
          <a:xfrm>
            <a:off x="7068312" y="1473707"/>
            <a:ext cx="3622179" cy="39105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584033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F9B61-0403-6A12-5DDD-0610BA4CA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D4575D-812C-AB9E-FAC6-B52E608134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9F38AD9-1B22-A88A-3377-DCF974FE80C8}"/>
              </a:ext>
            </a:extLst>
          </p:cNvPr>
          <p:cNvSpPr txBox="1"/>
          <p:nvPr/>
        </p:nvSpPr>
        <p:spPr>
          <a:xfrm>
            <a:off x="6096000" y="1929152"/>
            <a:ext cx="591616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dirty="0">
                <a:solidFill>
                  <a:schemeClr val="bg1"/>
                </a:solidFill>
                <a:latin typeface="Bookman Old Style" panose="02050604050505020204" pitchFamily="18" charset="0"/>
              </a:rPr>
              <a:t>Exploratory Data Analysis (EDA)</a:t>
            </a:r>
          </a:p>
        </p:txBody>
      </p:sp>
      <p:sp>
        <p:nvSpPr>
          <p:cNvPr id="7" name="Flowchart: Connector 6">
            <a:extLst>
              <a:ext uri="{FF2B5EF4-FFF2-40B4-BE49-F238E27FC236}">
                <a16:creationId xmlns:a16="http://schemas.microsoft.com/office/drawing/2014/main" id="{4B65826D-14B7-716A-DE19-0CE800D9F167}"/>
              </a:ext>
            </a:extLst>
          </p:cNvPr>
          <p:cNvSpPr/>
          <p:nvPr/>
        </p:nvSpPr>
        <p:spPr>
          <a:xfrm>
            <a:off x="8207764" y="795769"/>
            <a:ext cx="1080000" cy="1080000"/>
          </a:xfrm>
          <a:prstGeom prst="flowChartConnector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man Old Style" panose="02050604050505020204" pitchFamily="18" charset="0"/>
              </a:rPr>
              <a:t>02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D49623C-80C3-F518-8288-EAFAF3709D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0522" y="1247758"/>
            <a:ext cx="4362483" cy="4362483"/>
          </a:xfrm>
          <a:prstGeom prst="roundRect">
            <a:avLst>
              <a:gd name="adj" fmla="val 16667"/>
            </a:avLst>
          </a:prstGeom>
          <a:ln>
            <a:solidFill>
              <a:schemeClr val="accent4"/>
            </a:solidFill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0363468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1B5CDD-5DCF-C5FE-2E73-549DC3C49B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7C6C067-8CE0-A59C-0957-03D1774F26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112"/>
          <a:stretch>
            <a:fillRect/>
          </a:stretch>
        </p:blipFill>
        <p:spPr>
          <a:xfrm>
            <a:off x="5769864" y="155448"/>
            <a:ext cx="6245352" cy="6528816"/>
          </a:xfrm>
          <a:prstGeom prst="rect">
            <a:avLst/>
          </a:prstGeom>
          <a:noFill/>
          <a:effectLst>
            <a:softEdge rad="127000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FDF103C-A860-2366-D5E7-19006505EB89}"/>
              </a:ext>
            </a:extLst>
          </p:cNvPr>
          <p:cNvSpPr txBox="1"/>
          <p:nvPr/>
        </p:nvSpPr>
        <p:spPr>
          <a:xfrm>
            <a:off x="348234" y="780961"/>
            <a:ext cx="624535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The EDA phase focused on understanding, cleaning, and preparing the Amazon sales data for visualization and insights.</a:t>
            </a:r>
            <a:b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Key steps performed: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43DE3D-EFC0-BE6A-2343-0EF193CC68ED}"/>
              </a:ext>
            </a:extLst>
          </p:cNvPr>
          <p:cNvSpPr txBox="1"/>
          <p:nvPr/>
        </p:nvSpPr>
        <p:spPr>
          <a:xfrm>
            <a:off x="422910" y="2259848"/>
            <a:ext cx="609600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Data Profiling: Checked data types, null values, duplicates, and inconsistent entries.</a:t>
            </a:r>
          </a:p>
          <a:p>
            <a:pPr>
              <a:buClr>
                <a:schemeClr val="bg1"/>
              </a:buClr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Column Standardization: Renamed and formatted columns for better readability (e.g., Order Date, Total Amount, Fulfilment Type).</a:t>
            </a:r>
          </a:p>
          <a:p>
            <a:pPr>
              <a:buClr>
                <a:schemeClr val="bg1"/>
              </a:buClr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Missing Value Handling: Cleaned or replaced missing and invalid entries (like blank cities or order statuses).</a:t>
            </a:r>
          </a:p>
        </p:txBody>
      </p:sp>
    </p:spTree>
    <p:extLst>
      <p:ext uri="{BB962C8B-B14F-4D97-AF65-F5344CB8AC3E}">
        <p14:creationId xmlns:p14="http://schemas.microsoft.com/office/powerpoint/2010/main" val="28370480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8D9DD3-9AD0-7ABD-4166-B64AF60650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038E35C-6E79-35DA-E71D-5BE4419B1A39}"/>
              </a:ext>
            </a:extLst>
          </p:cNvPr>
          <p:cNvSpPr txBox="1"/>
          <p:nvPr/>
        </p:nvSpPr>
        <p:spPr>
          <a:xfrm>
            <a:off x="5953125" y="766732"/>
            <a:ext cx="5751946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bg1"/>
              </a:buClr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Outlier Detection: Identified unusual sales values or quantities to ensure accurate analysis.</a:t>
            </a:r>
          </a:p>
          <a:p>
            <a:pPr>
              <a:buClr>
                <a:schemeClr val="bg1"/>
              </a:buClr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Derived Columns Creation: Added new columns such as Month, Year, Category Group, Order Status Group, and B2B flag for trend analysis.</a:t>
            </a:r>
          </a:p>
          <a:p>
            <a:pPr>
              <a:buClr>
                <a:schemeClr val="bg1"/>
              </a:buClr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Data Validation: Verified total order counts, total sales, and category totals to ensure data consistency.</a:t>
            </a:r>
          </a:p>
          <a:p>
            <a:pPr>
              <a:buClr>
                <a:schemeClr val="bg1"/>
              </a:buClr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342900" indent="-342900">
              <a:buClr>
                <a:schemeClr val="accent6"/>
              </a:buClr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All transformations were performed within Power Query Editor before loading data into Power BI for reporting.</a:t>
            </a:r>
            <a:endParaRPr lang="en-IN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6D1A66-ECF6-81C6-2ECC-C85194A991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381"/>
          <a:stretch>
            <a:fillRect/>
          </a:stretch>
        </p:blipFill>
        <p:spPr>
          <a:xfrm>
            <a:off x="771525" y="1404936"/>
            <a:ext cx="4578446" cy="404812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032652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412</TotalTime>
  <Words>653</Words>
  <Application>Microsoft Office PowerPoint</Application>
  <PresentationFormat>Widescreen</PresentationFormat>
  <Paragraphs>68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Arial</vt:lpstr>
      <vt:lpstr>Book Antiqua</vt:lpstr>
      <vt:lpstr>Bookman Old Style</vt:lpstr>
      <vt:lpstr>Calibri</vt:lpstr>
      <vt:lpstr>Calibri Light</vt:lpstr>
      <vt:lpstr>Wingdings</vt:lpstr>
      <vt:lpstr>Office Theme</vt:lpstr>
      <vt:lpstr>Amazon Sales Dashboard – Power BI Project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Prafull Wahatule</dc:creator>
  <cp:lastModifiedBy>Prafull Wahatule</cp:lastModifiedBy>
  <cp:revision>81</cp:revision>
  <dcterms:created xsi:type="dcterms:W3CDTF">2025-11-08T08:24:55Z</dcterms:created>
  <dcterms:modified xsi:type="dcterms:W3CDTF">2025-11-09T06:48:29Z</dcterms:modified>
</cp:coreProperties>
</file>