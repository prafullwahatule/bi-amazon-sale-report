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9" r:id="rId11"/>
    <p:sldId id="270" r:id="rId12"/>
    <p:sldId id="282" r:id="rId13"/>
    <p:sldId id="266" r:id="rId14"/>
    <p:sldId id="268" r:id="rId15"/>
    <p:sldId id="267" r:id="rId16"/>
    <p:sldId id="271" r:id="rId17"/>
    <p:sldId id="284" r:id="rId18"/>
    <p:sldId id="283" r:id="rId19"/>
    <p:sldId id="272" r:id="rId20"/>
    <p:sldId id="285" r:id="rId21"/>
    <p:sldId id="287" r:id="rId22"/>
    <p:sldId id="286" r:id="rId23"/>
    <p:sldId id="273" r:id="rId24"/>
    <p:sldId id="274" r:id="rId25"/>
    <p:sldId id="288" r:id="rId26"/>
    <p:sldId id="275" r:id="rId27"/>
    <p:sldId id="276" r:id="rId28"/>
    <p:sldId id="279" r:id="rId29"/>
    <p:sldId id="280" r:id="rId30"/>
    <p:sldId id="278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115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Amazon Sales Dashboard –</a:t>
            </a:r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A0EC709-1221-AE8A-ADA8-1CEBE3BF03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9EE47E0-7729-EF83-6C2B-F6CFE7D0A1E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2818019-B3B2-BFFA-D97C-DCDEF5763EA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35C98D-5A83-F3DE-8B09-141B779055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0" y="-7283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F1D91E-7135-FBEA-ACEA-65D56E5751F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accent4"/>
                </a:buClr>
                <a:buFont typeface="Wingdings" panose="05000000000000000000" pitchFamily="2" charset="2"/>
                <a:buChar char="v"/>
              </a:pP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6FCED-5FFC-E9B4-1F3D-9EC85BE6CA0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Content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4"/>
            <a:chOff x="1307591" y="2079179"/>
            <a:chExt cx="8786622" cy="3683114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5" y="2079179"/>
              <a:ext cx="7996428" cy="3051290"/>
              <a:chOff x="1577340" y="2181955"/>
              <a:chExt cx="9027333" cy="3051290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Book Antiqua" panose="02040602050305030304" pitchFamily="18" charset="0"/>
                  </a:rPr>
                  <a:t>Tools &amp; Technologies Used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b="1" dirty="0">
                  <a:solidFill>
                    <a:schemeClr val="accent4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ook Antiqua" panose="02040602050305030304" pitchFamily="18" charset="0"/>
                </a:rPr>
                <a:t>02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493B2B9-BED8-DC61-A72F-B53B8B2A5E7C}"/>
              </a:ext>
            </a:extLst>
          </p:cNvPr>
          <p:cNvSpPr txBox="1"/>
          <p:nvPr/>
        </p:nvSpPr>
        <p:spPr>
          <a:xfrm>
            <a:off x="2492882" y="5465787"/>
            <a:ext cx="2227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solidFill>
                  <a:schemeClr val="bg1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IN" sz="2400" dirty="0">
                <a:latin typeface="Book Antiqua" panose="0204060205030503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7D5C37-F7A2-6753-D409-ADA39DA18C9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4E6C2B6-A293-07B5-5B1A-08CA80817E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1382285"/>
            <a:ext cx="5626608" cy="409342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86973" y="1473706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2C6BD2-C928-D173-D07D-D87C2E44E21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68852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9EA7E3-556F-4EEB-D6D0-449460FB80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C45F6BC-6BB6-5593-1DD0-5B30C16666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1877437"/>
            <a:chOff x="929640" y="3734917"/>
            <a:chExt cx="4913376" cy="187743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18774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 Antiqua" panose="020406020503050303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 Antiqua" panose="020406020503050303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6A382B-3C1E-26A6-0287-F5494296BB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49687C-F6B2-1548-31F2-F6157E2242B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Examined which product categories drive maximum revenue and orders.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CDB1DB-191F-F97A-823C-8BAD48CACA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chemeClr val="bg1"/>
                </a:solidFill>
                <a:latin typeface="Book Antiqua" panose="02040602050305030304" pitchFamily="18" charset="0"/>
              </a:rPr>
              <a:t>These findings laid the foundation for creating meaningful and insight-driven Power BI dashboards.</a:t>
            </a:r>
            <a:endParaRPr lang="en-IN" sz="2000" i="1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23CBEA-A11C-95DF-09DB-92A97F6AD9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519" y="119062"/>
            <a:ext cx="11943656" cy="6619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962650" y="2459504"/>
            <a:ext cx="5942838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E852D-9581-E0D1-E702-C5E497E3C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2" y="2411074"/>
            <a:ext cx="5219461" cy="2959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98FB-2435-9F69-547E-9353217C2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D417F4-12C8-F30D-5C6B-15215B9B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9AD370-FA41-F895-9BEA-1A25EE38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52401"/>
            <a:ext cx="11887200" cy="655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C4680B-57BD-4336-9C20-B10034FA6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2658503"/>
            <a:ext cx="5400000" cy="3061025"/>
          </a:xfrm>
          <a:prstGeom prst="roundRect">
            <a:avLst>
              <a:gd name="adj" fmla="val 6088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175F66-299D-7255-73D6-61406E8F6659}"/>
              </a:ext>
            </a:extLst>
          </p:cNvPr>
          <p:cNvSpPr txBox="1"/>
          <p:nvPr/>
        </p:nvSpPr>
        <p:spPr>
          <a:xfrm>
            <a:off x="468788" y="665887"/>
            <a:ext cx="1125442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Overview Page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provides a complete summary of overall Amazon sales performance.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quickly identify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business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monitor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find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at a glance.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58EFA-946A-3F5D-589D-598F51E95632}"/>
              </a:ext>
            </a:extLst>
          </p:cNvPr>
          <p:cNvSpPr txBox="1"/>
          <p:nvPr/>
        </p:nvSpPr>
        <p:spPr>
          <a:xfrm>
            <a:off x="2017984" y="5273252"/>
            <a:ext cx="297754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Sales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month-wise sales growth and seasonality.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A0644-896F-65D7-00C4-020B8E08B579}"/>
              </a:ext>
            </a:extLst>
          </p:cNvPr>
          <p:cNvSpPr txBox="1"/>
          <p:nvPr/>
        </p:nvSpPr>
        <p:spPr>
          <a:xfrm>
            <a:off x="4148745" y="2002282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Category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best-performing categories based on revenue.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FACC4-1617-4E93-DDB6-B237FCF2FACA}"/>
              </a:ext>
            </a:extLst>
          </p:cNvPr>
          <p:cNvSpPr txBox="1"/>
          <p:nvPr/>
        </p:nvSpPr>
        <p:spPr>
          <a:xfrm>
            <a:off x="835900" y="2051840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Amazon (FBA) vs Merchant (FBM)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ECE93-877A-212B-671A-7CA162372AE4}"/>
              </a:ext>
            </a:extLst>
          </p:cNvPr>
          <p:cNvSpPr txBox="1"/>
          <p:nvPr/>
        </p:nvSpPr>
        <p:spPr>
          <a:xfrm>
            <a:off x="835900" y="3655445"/>
            <a:ext cx="215187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State Wise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Geographical map showing regional sales performance.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CA8386-B8D5-A4C9-11A3-954F3C63D735}"/>
              </a:ext>
            </a:extLst>
          </p:cNvPr>
          <p:cNvSpPr txBox="1"/>
          <p:nvPr/>
        </p:nvSpPr>
        <p:spPr>
          <a:xfrm>
            <a:off x="4148745" y="3625903"/>
            <a:ext cx="24598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how promotions impact total revenue.</a:t>
            </a:r>
          </a:p>
        </p:txBody>
      </p:sp>
    </p:spTree>
    <p:extLst>
      <p:ext uri="{BB962C8B-B14F-4D97-AF65-F5344CB8AC3E}">
        <p14:creationId xmlns:p14="http://schemas.microsoft.com/office/powerpoint/2010/main" val="1837159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25742-140E-123B-42B7-86E4E4C789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55" y="145648"/>
            <a:ext cx="11852290" cy="6550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0C573-020C-451A-E056-A3F60FAFFE1F}"/>
              </a:ext>
            </a:extLst>
          </p:cNvPr>
          <p:cNvSpPr txBox="1"/>
          <p:nvPr/>
        </p:nvSpPr>
        <p:spPr>
          <a:xfrm>
            <a:off x="528637" y="694462"/>
            <a:ext cx="11134726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Product: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Product Page provides a detailed view of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product-level performance and demand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identify top-selling categories, SKUs, and sizes — enabling smarter decisions in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inventory planning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marketing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strategy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018B0D-DEE1-0BBB-3531-1D916A9DD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431" y="2383209"/>
            <a:ext cx="5400000" cy="3058202"/>
          </a:xfrm>
          <a:prstGeom prst="roundRect">
            <a:avLst>
              <a:gd name="adj" fmla="val 5143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529C7E-9E32-81C7-9DAD-241B612D95A1}"/>
              </a:ext>
            </a:extLst>
          </p:cNvPr>
          <p:cNvSpPr txBox="1"/>
          <p:nvPr/>
        </p:nvSpPr>
        <p:spPr>
          <a:xfrm>
            <a:off x="760669" y="3324860"/>
            <a:ext cx="242470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Sales 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SKUs generating the highest revenue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3372E8-0A96-1AE4-B673-663CCDD9E576}"/>
              </a:ext>
            </a:extLst>
          </p:cNvPr>
          <p:cNvSpPr txBox="1"/>
          <p:nvPr/>
        </p:nvSpPr>
        <p:spPr>
          <a:xfrm>
            <a:off x="760669" y="1978883"/>
            <a:ext cx="23987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Quantity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most sold SKUs by volume.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373E0-5D11-1CEA-10ED-35AEAAB7ACAC}"/>
              </a:ext>
            </a:extLst>
          </p:cNvPr>
          <p:cNvSpPr txBox="1"/>
          <p:nvPr/>
        </p:nvSpPr>
        <p:spPr>
          <a:xfrm>
            <a:off x="760669" y="4947836"/>
            <a:ext cx="23987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Size 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size variants contribute most to total sales.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38E53-BD18-1D5F-99A6-36AEB5B50544}"/>
              </a:ext>
            </a:extLst>
          </p:cNvPr>
          <p:cNvSpPr txBox="1"/>
          <p:nvPr/>
        </p:nvSpPr>
        <p:spPr>
          <a:xfrm>
            <a:off x="3905636" y="1982450"/>
            <a:ext cx="265975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Month &amp; Category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demand fluctuations across categories.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F963D1-4CC3-DF1E-C29C-8C0C26C7C99A}"/>
              </a:ext>
            </a:extLst>
          </p:cNvPr>
          <p:cNvSpPr txBox="1"/>
          <p:nvPr/>
        </p:nvSpPr>
        <p:spPr>
          <a:xfrm>
            <a:off x="3905635" y="3574648"/>
            <a:ext cx="265975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b="1">
                <a:solidFill>
                  <a:schemeClr val="accent4"/>
                </a:solidFill>
                <a:latin typeface="Bookman Old Style" panose="02050604050505020204" pitchFamily="18" charset="0"/>
              </a:defRPr>
            </a:lvl1pPr>
          </a:lstStyle>
          <a:p>
            <a:pPr>
              <a:buClr>
                <a:schemeClr val="accent4"/>
              </a:buClr>
            </a:pPr>
            <a:r>
              <a:rPr lang="en-US" sz="2000" dirty="0">
                <a:latin typeface="Book Antiqua" panose="02040602050305030304" pitchFamily="18" charset="0"/>
              </a:rPr>
              <a:t>Total Sales by Category  </a:t>
            </a:r>
            <a:r>
              <a:rPr lang="en-US" sz="1600" b="0" dirty="0">
                <a:solidFill>
                  <a:schemeClr val="bg1"/>
                </a:solidFill>
                <a:latin typeface="Book Antiqua" panose="02040602050305030304" pitchFamily="18" charset="0"/>
              </a:rPr>
              <a:t>Compares category-wise revenue performance to find top contributors.</a:t>
            </a:r>
            <a:endParaRPr lang="en-US" sz="1400" b="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AD5032-4F16-FD25-339D-166F6142EA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" y="0"/>
            <a:ext cx="12081094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DB34D-D682-4F9A-E591-D913EFEA6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963" y="2523176"/>
            <a:ext cx="5400000" cy="3065385"/>
          </a:xfrm>
          <a:prstGeom prst="roundRect">
            <a:avLst>
              <a:gd name="adj" fmla="val 435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F0317E-6992-4984-C53C-10DD21F88331}"/>
              </a:ext>
            </a:extLst>
          </p:cNvPr>
          <p:cNvSpPr txBox="1"/>
          <p:nvPr/>
        </p:nvSpPr>
        <p:spPr>
          <a:xfrm>
            <a:off x="666749" y="646035"/>
            <a:ext cx="10858501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Fulfilment:</a:t>
            </a:r>
            <a:br>
              <a:rPr lang="en-IN" dirty="0"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Fulfilment Page provides insights into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delivery performance and operational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models to identify performance gaps, monitor delivery success, and improve logistics strategy.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37389-6736-431E-43B1-5E95920FF097}"/>
              </a:ext>
            </a:extLst>
          </p:cNvPr>
          <p:cNvSpPr txBox="1"/>
          <p:nvPr/>
        </p:nvSpPr>
        <p:spPr>
          <a:xfrm>
            <a:off x="6125424" y="2101511"/>
            <a:ext cx="25209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FBA &amp; FBM Share %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Amazon’s &amp; Merchant contribution to total sales.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2DF5-8875-BC9D-63AB-30CDBFAEE983}"/>
              </a:ext>
            </a:extLst>
          </p:cNvPr>
          <p:cNvSpPr txBox="1"/>
          <p:nvPr/>
        </p:nvSpPr>
        <p:spPr>
          <a:xfrm>
            <a:off x="9262828" y="3735735"/>
            <a:ext cx="24323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Fulfilment</a:t>
            </a:r>
            <a:r>
              <a:rPr lang="en-IN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quantity handled by FBA and FBM.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3780F-217F-7F27-7CFE-278EC948C379}"/>
              </a:ext>
            </a:extLst>
          </p:cNvPr>
          <p:cNvSpPr txBox="1"/>
          <p:nvPr/>
        </p:nvSpPr>
        <p:spPr>
          <a:xfrm>
            <a:off x="6859009" y="5410853"/>
            <a:ext cx="433893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Average Delivery by Fulfilment 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fulfilment model achieves higher average order value.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60D7EC-89E6-D016-AE2E-FBFBAD034613}"/>
              </a:ext>
            </a:extLst>
          </p:cNvPr>
          <p:cNvSpPr txBox="1"/>
          <p:nvPr/>
        </p:nvSpPr>
        <p:spPr>
          <a:xfrm>
            <a:off x="6125424" y="3735735"/>
            <a:ext cx="253136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Delivered Orders % by Month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delivery success rates and efficiency trends.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BCC064-1A4E-58CE-CFAE-BFDC4D52FDB6}"/>
              </a:ext>
            </a:extLst>
          </p:cNvPr>
          <p:cNvSpPr txBox="1"/>
          <p:nvPr/>
        </p:nvSpPr>
        <p:spPr>
          <a:xfrm>
            <a:off x="9262829" y="2073890"/>
            <a:ext cx="24323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City &amp; Fulfilment</a:t>
            </a:r>
            <a:r>
              <a:rPr lang="en-IN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city-wise fulfilment volume for operational planning.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03832-DBC8-1FA4-FDBF-EA909FB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8DD4C-5159-8C20-431C-537F6931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5CE38D-4C72-545E-8C27-3B77DD5343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1" y="95250"/>
            <a:ext cx="12059437" cy="66675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B151D4-A9A6-F35F-C0D5-45662AAE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14" y="2431587"/>
            <a:ext cx="5400000" cy="3070899"/>
          </a:xfrm>
          <a:prstGeom prst="roundRect">
            <a:avLst>
              <a:gd name="adj" fmla="val 6802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7C8B0-15DE-05EA-8C8D-9187698FD5FC}"/>
              </a:ext>
            </a:extLst>
          </p:cNvPr>
          <p:cNvSpPr txBox="1"/>
          <p:nvPr/>
        </p:nvSpPr>
        <p:spPr>
          <a:xfrm>
            <a:off x="481011" y="340937"/>
            <a:ext cx="1122997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Regional:</a:t>
            </a:r>
            <a:br>
              <a:rPr lang="en-IN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Delivery page focuses on </a:t>
            </a:r>
            <a:r>
              <a:rPr lang="en-IN" sz="1600" dirty="0" err="1">
                <a:solidFill>
                  <a:schemeClr val="bg1"/>
                </a:solidFill>
                <a:latin typeface="Book Antiqua" panose="02040602050305030304" pitchFamily="18" charset="0"/>
              </a:rPr>
              <a:t>analyzing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shipment performance and fulfilment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67FC9-80C1-D323-EE56-89A7F231E650}"/>
              </a:ext>
            </a:extLst>
          </p:cNvPr>
          <p:cNvSpPr txBox="1"/>
          <p:nvPr/>
        </p:nvSpPr>
        <p:spPr>
          <a:xfrm>
            <a:off x="950121" y="1203434"/>
            <a:ext cx="100111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delivery effectiveness</a:t>
            </a: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bottlenecks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improve customer experience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E38D0-023F-4F1A-7D28-4A722927632F}"/>
              </a:ext>
            </a:extLst>
          </p:cNvPr>
          <p:cNvSpPr txBox="1"/>
          <p:nvPr/>
        </p:nvSpPr>
        <p:spPr>
          <a:xfrm>
            <a:off x="6097519" y="1959226"/>
            <a:ext cx="268388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Efficiency Table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order-wise delivery details for performance monitoring.</a:t>
            </a:r>
            <a:endParaRPr lang="en-US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C9D4F-3D71-E3E9-ABB3-CFEE42D07719}"/>
              </a:ext>
            </a:extLst>
          </p:cNvPr>
          <p:cNvSpPr txBox="1"/>
          <p:nvPr/>
        </p:nvSpPr>
        <p:spPr>
          <a:xfrm>
            <a:off x="6095998" y="3747246"/>
            <a:ext cx="268540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Status Overview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proportion of delivered, returned, and pending orders.</a:t>
            </a:r>
            <a:endParaRPr lang="en-US" sz="1600" dirty="0">
              <a:solidFill>
                <a:schemeClr val="accent4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F31128-9E0C-F65B-A207-F57AB8B758CE}"/>
              </a:ext>
            </a:extLst>
          </p:cNvPr>
          <p:cNvSpPr txBox="1"/>
          <p:nvPr/>
        </p:nvSpPr>
        <p:spPr>
          <a:xfrm>
            <a:off x="9287334" y="1957767"/>
            <a:ext cx="25015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Delivery Trend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delivery performance and timeliness over time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0AB82-7C38-C710-E2E1-2E7E5964A9D0}"/>
              </a:ext>
            </a:extLst>
          </p:cNvPr>
          <p:cNvSpPr txBox="1"/>
          <p:nvPr/>
        </p:nvSpPr>
        <p:spPr>
          <a:xfrm>
            <a:off x="6751560" y="5531997"/>
            <a:ext cx="463854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Avg Delivery Time by Fulfilment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average delivery duration between FBA and FBM.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1C782D-DDD1-5673-5641-CE41334D7DD7}"/>
              </a:ext>
            </a:extLst>
          </p:cNvPr>
          <p:cNvSpPr txBox="1"/>
          <p:nvPr/>
        </p:nvSpPr>
        <p:spPr>
          <a:xfrm>
            <a:off x="9287334" y="3747246"/>
            <a:ext cx="250155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States by Delivery Count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states with the highest delivery volumes.</a:t>
            </a:r>
          </a:p>
        </p:txBody>
      </p:sp>
    </p:spTree>
    <p:extLst>
      <p:ext uri="{BB962C8B-B14F-4D97-AF65-F5344CB8AC3E}">
        <p14:creationId xmlns:p14="http://schemas.microsoft.com/office/powerpoint/2010/main" val="1501584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2A5-6713-58DD-D123-E7F7AA1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01443-4248-5D90-2EC2-8273C08F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5AFAA0-11A8-835D-4467-9FA58A243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8" y="57150"/>
            <a:ext cx="12076604" cy="67246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D8ECFA-BC20-322D-6C83-0F18B6533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235" y="2765868"/>
            <a:ext cx="5400000" cy="3066534"/>
          </a:xfrm>
          <a:prstGeom prst="roundRect">
            <a:avLst>
              <a:gd name="adj" fmla="val 764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A8B703-015E-4E11-1B5E-9CD05BEB163D}"/>
              </a:ext>
            </a:extLst>
          </p:cNvPr>
          <p:cNvSpPr txBox="1"/>
          <p:nvPr/>
        </p:nvSpPr>
        <p:spPr>
          <a:xfrm>
            <a:off x="640552" y="495211"/>
            <a:ext cx="1126979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Promotion: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Promotion page focuses on evaluating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 influenced by promotional offers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4846A-CFAA-F9DF-87DC-06B5215F4688}"/>
              </a:ext>
            </a:extLst>
          </p:cNvPr>
          <p:cNvSpPr txBox="1"/>
          <p:nvPr/>
        </p:nvSpPr>
        <p:spPr>
          <a:xfrm>
            <a:off x="1035922" y="1405833"/>
            <a:ext cx="89993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top-performing promotions and their contribution to revenue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organic vs promotional sales to assess marketing effectiveness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4CAB0-F6ED-6D27-DEB4-36B95E2CDCCD}"/>
              </a:ext>
            </a:extLst>
          </p:cNvPr>
          <p:cNvSpPr txBox="1"/>
          <p:nvPr/>
        </p:nvSpPr>
        <p:spPr>
          <a:xfrm>
            <a:off x="640552" y="2129108"/>
            <a:ext cx="24204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%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share of orders made with and without promotions.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D1E5D-2B4F-1E76-AF66-8CEA0225FA83}"/>
              </a:ext>
            </a:extLst>
          </p:cNvPr>
          <p:cNvSpPr txBox="1"/>
          <p:nvPr/>
        </p:nvSpPr>
        <p:spPr>
          <a:xfrm>
            <a:off x="1428375" y="5635905"/>
            <a:ext cx="441439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revenue generated under each promotion type.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FB202-6E87-E9B0-8682-61067AFB086A}"/>
              </a:ext>
            </a:extLst>
          </p:cNvPr>
          <p:cNvSpPr txBox="1"/>
          <p:nvPr/>
        </p:nvSpPr>
        <p:spPr>
          <a:xfrm>
            <a:off x="3952562" y="3754112"/>
            <a:ext cx="25507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Promotion IDs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the best-performing promotions by order volume.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51B65-3581-A8DE-AEBA-2C9FF04A8E5D}"/>
              </a:ext>
            </a:extLst>
          </p:cNvPr>
          <p:cNvSpPr txBox="1"/>
          <p:nvPr/>
        </p:nvSpPr>
        <p:spPr>
          <a:xfrm>
            <a:off x="703444" y="3759396"/>
            <a:ext cx="242049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Size &amp;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how sales vary across product sizes during promotional periods.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598DD3-39DE-AD05-328A-E46E2D8B2909}"/>
              </a:ext>
            </a:extLst>
          </p:cNvPr>
          <p:cNvSpPr txBox="1"/>
          <p:nvPr/>
        </p:nvSpPr>
        <p:spPr>
          <a:xfrm>
            <a:off x="3958359" y="2129108"/>
            <a:ext cx="24999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Month &amp;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trends for promotional vs non-promotional sales.</a:t>
            </a:r>
          </a:p>
        </p:txBody>
      </p:sp>
    </p:spTree>
    <p:extLst>
      <p:ext uri="{BB962C8B-B14F-4D97-AF65-F5344CB8AC3E}">
        <p14:creationId xmlns:p14="http://schemas.microsoft.com/office/powerpoint/2010/main" val="4174210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B06F7-474E-50F2-0B22-5A8CBFD1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39C7B-AA3E-E731-5236-85E9399BD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BEF7A6-C689-5EE2-356E-8497802F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6" y="231647"/>
            <a:ext cx="12106908" cy="67341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70507-C8C5-77BC-A049-A04E96CA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57" y="2726503"/>
            <a:ext cx="5400000" cy="3058848"/>
          </a:xfrm>
          <a:prstGeom prst="roundRect">
            <a:avLst>
              <a:gd name="adj" fmla="val 7585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B6C8FA-8187-EE5D-1330-66DBEDB8F465}"/>
              </a:ext>
            </a:extLst>
          </p:cNvPr>
          <p:cNvSpPr txBox="1"/>
          <p:nvPr/>
        </p:nvSpPr>
        <p:spPr>
          <a:xfrm>
            <a:off x="651558" y="401046"/>
            <a:ext cx="108888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Purpose:</a:t>
            </a:r>
            <a:br>
              <a:rPr lang="en-US" sz="1600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Forecasting page focuses on analyzing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historical sales trends and predicting future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00E26-E61B-CFDD-802B-543FCDF2C8E6}"/>
              </a:ext>
            </a:extLst>
          </p:cNvPr>
          <p:cNvSpPr txBox="1"/>
          <p:nvPr/>
        </p:nvSpPr>
        <p:spPr>
          <a:xfrm>
            <a:off x="912519" y="1267501"/>
            <a:ext cx="6311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Understand past sales patterns and seasonality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peak and low-demand months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Plan inventory, marketing, and operational strategies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CEEA5-EC95-CC33-983D-ED77CE531C64}"/>
              </a:ext>
            </a:extLst>
          </p:cNvPr>
          <p:cNvSpPr txBox="1"/>
          <p:nvPr/>
        </p:nvSpPr>
        <p:spPr>
          <a:xfrm>
            <a:off x="651558" y="2423891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Shipping Type &amp; Month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monthly sales distribution by shipping type to optimize delivery.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4533B-65A7-07F8-B5E9-814D51281B96}"/>
              </a:ext>
            </a:extLst>
          </p:cNvPr>
          <p:cNvSpPr txBox="1"/>
          <p:nvPr/>
        </p:nvSpPr>
        <p:spPr>
          <a:xfrm>
            <a:off x="3897384" y="2418078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 Wise Monthly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monthly sales of each product category to spot seasonal demand.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2D0B7A-7B83-27C7-3711-22B1412F9622}"/>
              </a:ext>
            </a:extLst>
          </p:cNvPr>
          <p:cNvSpPr txBox="1"/>
          <p:nvPr/>
        </p:nvSpPr>
        <p:spPr>
          <a:xfrm>
            <a:off x="3897385" y="4235389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Type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FBA vs FBM sales per month to assess operational efficiency.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DE8F78-5A85-52A7-DD9B-8FFDDE046483}"/>
              </a:ext>
            </a:extLst>
          </p:cNvPr>
          <p:cNvSpPr txBox="1"/>
          <p:nvPr/>
        </p:nvSpPr>
        <p:spPr>
          <a:xfrm>
            <a:off x="651559" y="4239622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Business To Business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revenue contribution from B2B vs B2C orders for segment planning.</a:t>
            </a:r>
          </a:p>
        </p:txBody>
      </p:sp>
    </p:spTree>
    <p:extLst>
      <p:ext uri="{BB962C8B-B14F-4D97-AF65-F5344CB8AC3E}">
        <p14:creationId xmlns:p14="http://schemas.microsoft.com/office/powerpoint/2010/main" val="183742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C81E38-7A16-6A09-6AFC-2A23E1946F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6975697" y="2459503"/>
            <a:ext cx="480548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8838437" y="1161953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EE89FA-130D-AE05-FF97-65B3419157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03" y="1161954"/>
            <a:ext cx="6803794" cy="4534091"/>
          </a:xfrm>
          <a:prstGeom prst="rect">
            <a:avLst/>
          </a:prstGeom>
          <a:ln>
            <a:noFill/>
          </a:ln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C0617A1-B11D-D78A-2E61-05C77661AB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-9144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907C41-1CAA-87CA-5FF4-BDEE4C8DDC8E}"/>
              </a:ext>
            </a:extLst>
          </p:cNvPr>
          <p:cNvSpPr txBox="1"/>
          <p:nvPr/>
        </p:nvSpPr>
        <p:spPr>
          <a:xfrm>
            <a:off x="523494" y="1536173"/>
            <a:ext cx="539267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Overall Performance: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Quick access to total sales, orders, quantity sold, and average order value for a complete business snapshot. (Home Page)</a:t>
            </a:r>
          </a:p>
          <a:p>
            <a:pPr>
              <a:buClr>
                <a:schemeClr val="accent4"/>
              </a:buClr>
            </a:pPr>
            <a:endParaRPr lang="en-IN" sz="1600" b="1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Top Product Categories &amp; SKUs: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best-selling categories and SKUs to focus on revenue-driving products. (Overview &amp; Product Pages)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Fulfilment Efficiency: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Understand FBA vs FBM contribution, delivered order percentages, and city-wise fulfilment distribution. (Fulfilment Page)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Detect high-performing and underperforming states/cities for targeted marketing, inventory, and logistics planning. (Region Page)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435B40-42F8-7BAF-E095-CD5BEB9B79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562"/>
          <a:stretch>
            <a:fillRect/>
          </a:stretch>
        </p:blipFill>
        <p:spPr>
          <a:xfrm>
            <a:off x="5562600" y="686597"/>
            <a:ext cx="6629400" cy="5484805"/>
          </a:xfrm>
          <a:prstGeom prst="rect">
            <a:avLst/>
          </a:prstGeom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7BA6-FEEA-01C2-26AD-C03BBA65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87DAE1-FED0-4111-15D5-DECC38A8F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A3E53B-5C97-BBBB-AA7F-E1B3C592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6EA25-5CA3-94DB-AC5C-F3EDDBD7632D}"/>
              </a:ext>
            </a:extLst>
          </p:cNvPr>
          <p:cNvSpPr txBox="1"/>
          <p:nvPr/>
        </p:nvSpPr>
        <p:spPr>
          <a:xfrm>
            <a:off x="625737" y="4165857"/>
            <a:ext cx="54658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  <a:defRPr sz="1600">
                <a:solidFill>
                  <a:schemeClr val="bg1"/>
                </a:solidFill>
                <a:latin typeface="Book Antiqua" panose="02040602050305030304" pitchFamily="18" charset="0"/>
              </a:defRPr>
            </a:lvl1pPr>
          </a:lstStyle>
          <a:p>
            <a:r>
              <a:rPr lang="en-US" b="1" dirty="0"/>
              <a:t>Promotion Impact: </a:t>
            </a:r>
            <a:r>
              <a:rPr lang="en-US" dirty="0"/>
              <a:t>Evaluate organic vs promotional sales and determine top-performing promotions. (Promotion Page)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Sales Trends &amp; Seasonality: </a:t>
            </a:r>
            <a:r>
              <a:rPr lang="en-US" dirty="0"/>
              <a:t>Track monthly sales growth, peaks, and dips to anticipate demand. (Overview &amp; Forecasting Pages)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467193-0077-8AD0-774E-B894303FEF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00" b="14134"/>
          <a:stretch>
            <a:fillRect/>
          </a:stretch>
        </p:blipFill>
        <p:spPr>
          <a:xfrm>
            <a:off x="113047" y="118872"/>
            <a:ext cx="11957033" cy="36941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1C638D-54FC-7562-1913-447506669C86}"/>
              </a:ext>
            </a:extLst>
          </p:cNvPr>
          <p:cNvSpPr txBox="1"/>
          <p:nvPr/>
        </p:nvSpPr>
        <p:spPr>
          <a:xfrm>
            <a:off x="6285873" y="3931920"/>
            <a:ext cx="478002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endParaRPr lang="en-US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Category &amp; Size Trends: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Analyze size-specific and category-specific demand patterns to optimize production and inventory. (Product &amp; Promotion Pages)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endParaRPr lang="en-US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Forecasting &amp; Planning: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Leverage historical trends and predicted sales to plan marketing, stock, logistics, and operational strategies. (Forecasting Page)</a:t>
            </a:r>
          </a:p>
        </p:txBody>
      </p:sp>
    </p:spTree>
    <p:extLst>
      <p:ext uri="{BB962C8B-B14F-4D97-AF65-F5344CB8AC3E}">
        <p14:creationId xmlns:p14="http://schemas.microsoft.com/office/powerpoint/2010/main" val="351556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49561C-54B7-7348-E5A6-A6B943F65A0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166361" y="4315736"/>
            <a:ext cx="689457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8073649" y="3017016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A36F60-CBAA-5DFC-ACD3-FDDE4F038F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505" y="670042"/>
            <a:ext cx="5259799" cy="357892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-9144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B745573-95A6-D067-A9BF-4C140990AD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5385A5-6169-4D84-F4EE-5325C3A19509}"/>
              </a:ext>
            </a:extLst>
          </p:cNvPr>
          <p:cNvSpPr txBox="1"/>
          <p:nvPr/>
        </p:nvSpPr>
        <p:spPr>
          <a:xfrm>
            <a:off x="6013704" y="741963"/>
            <a:ext cx="27188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Data Analysis Expressions – </a:t>
            </a:r>
            <a:r>
              <a:rPr lang="en-IN" dirty="0">
                <a:solidFill>
                  <a:schemeClr val="bg1"/>
                </a:solidFill>
              </a:rPr>
              <a:t>To calculate KPIs, percentages, and trends for insightful visualizations.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855523-EC43-25DC-FE87-B399D7BDA1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34" b="15999"/>
          <a:stretch>
            <a:fillRect/>
          </a:stretch>
        </p:blipFill>
        <p:spPr>
          <a:xfrm>
            <a:off x="1075944" y="2674682"/>
            <a:ext cx="10040112" cy="38102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FB0DB6-DA9C-5A32-1B26-1D60861DC861}"/>
              </a:ext>
            </a:extLst>
          </p:cNvPr>
          <p:cNvSpPr txBox="1"/>
          <p:nvPr/>
        </p:nvSpPr>
        <p:spPr>
          <a:xfrm>
            <a:off x="8752332" y="793007"/>
            <a:ext cx="22814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Microsoft Power BI Desktop – </a:t>
            </a:r>
            <a:r>
              <a:rPr lang="en-IN" dirty="0">
                <a:solidFill>
                  <a:schemeClr val="bg1"/>
                </a:solidFill>
              </a:rPr>
              <a:t>To design and build interactive reports and dashboards.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9AC2C-569E-2A98-C780-BCC525E0D4B2}"/>
              </a:ext>
            </a:extLst>
          </p:cNvPr>
          <p:cNvSpPr txBox="1"/>
          <p:nvPr/>
        </p:nvSpPr>
        <p:spPr>
          <a:xfrm>
            <a:off x="3441955" y="741963"/>
            <a:ext cx="25161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Power Query Editor – </a:t>
            </a:r>
            <a:r>
              <a:rPr lang="en-IN" dirty="0">
                <a:solidFill>
                  <a:schemeClr val="bg1"/>
                </a:solidFill>
              </a:rPr>
              <a:t>For data cleaning, transformation, and shaping before analysis.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9DF003-04D8-D882-F42D-839FD0F7282F}"/>
              </a:ext>
            </a:extLst>
          </p:cNvPr>
          <p:cNvSpPr txBox="1"/>
          <p:nvPr/>
        </p:nvSpPr>
        <p:spPr>
          <a:xfrm>
            <a:off x="1160528" y="793007"/>
            <a:ext cx="22814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Excel / CSV Dataset – </a:t>
            </a:r>
            <a:r>
              <a:rPr lang="en-IN" dirty="0">
                <a:solidFill>
                  <a:schemeClr val="bg1"/>
                </a:solidFill>
              </a:rPr>
              <a:t>Source of Amazon sales data for analysis and reporting.</a:t>
            </a:r>
          </a:p>
        </p:txBody>
      </p:sp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FAA49B-C082-DBBC-1370-4BE152656F6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7534657" y="5541089"/>
            <a:ext cx="4269898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9129606" y="4260600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806536-E854-7D5C-7911-8A2ACC2FB1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572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22F6B8-9829-4BC5-1E41-97FEA86825B7}"/>
              </a:ext>
            </a:extLst>
          </p:cNvPr>
          <p:cNvSpPr txBox="1"/>
          <p:nvPr/>
        </p:nvSpPr>
        <p:spPr>
          <a:xfrm>
            <a:off x="493776" y="746772"/>
            <a:ext cx="488457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Dashboard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is a simple and interactive tool to understand sales performance easily. It helps stakeholders: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View key business metrics and monthly sales trends at a glance.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Find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top-selling categories, SKUs, and sizes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to plan inventory and marketing better.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Compare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performance.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Track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state and city-wise sales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to identify strong and weak regions.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Measure the impact of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promotions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 on total sales.</a:t>
            </a:r>
          </a:p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Forecast future sales using past trends for better planning.</a:t>
            </a:r>
          </a:p>
          <a:p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Overall, this dashboard supports </a:t>
            </a:r>
            <a:r>
              <a:rPr lang="en-US" b="1" dirty="0">
                <a:solidFill>
                  <a:schemeClr val="bg1"/>
                </a:solidFill>
                <a:latin typeface="Book Antiqua" panose="02040602050305030304" pitchFamily="18" charset="0"/>
              </a:rPr>
              <a:t>data-driven decisions</a:t>
            </a:r>
            <a:r>
              <a:rPr lang="en-US" dirty="0">
                <a:solidFill>
                  <a:schemeClr val="bg1"/>
                </a:solidFill>
                <a:latin typeface="Book Antiqua" panose="02040602050305030304" pitchFamily="18" charset="0"/>
              </a:rPr>
              <a:t>, improves efficiency, and helps grow business performance.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72D8C9-8C09-DD0A-9D40-1522E51E3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856" y="109728"/>
            <a:ext cx="6359804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EDBE54-DC70-4F76-9ECF-99C770CC7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5F9E49-B294-00C1-39E6-8C8A3C8F581B}"/>
              </a:ext>
            </a:extLst>
          </p:cNvPr>
          <p:cNvSpPr/>
          <p:nvPr/>
        </p:nvSpPr>
        <p:spPr>
          <a:xfrm>
            <a:off x="7249886" y="4152122"/>
            <a:ext cx="3741575" cy="391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885</TotalTime>
  <Words>1922</Words>
  <Application>Microsoft Office PowerPoint</Application>
  <PresentationFormat>Widescreen</PresentationFormat>
  <Paragraphs>193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189</cp:revision>
  <dcterms:created xsi:type="dcterms:W3CDTF">2025-11-08T08:24:55Z</dcterms:created>
  <dcterms:modified xsi:type="dcterms:W3CDTF">2025-11-10T06:43:19Z</dcterms:modified>
</cp:coreProperties>
</file>